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250e7a5-5bfd-fc22-a156-30ffc3ce8fac}">
          <p14:sldIdLst>
            <p14:sldId id="256"/>
            <p14:sldId id="257"/>
            <p14:sldId id="258"/>
            <p14:sldId id="259"/>
          </p14:sldIdLst>
        </p14:section>
        <p14:section name="Landing page" id="{cba85b7c-bc3b-dbc1-e384-48e28ad8b95d}">
          <p14:sldIdLst>
            <p14:sldId id="260"/>
            <p14:sldId id="261"/>
            <p14:sldId id="262"/>
            <p14:sldId id="263"/>
            <p14:sldId id="264"/>
          </p14:sldIdLst>
        </p14:section>
        <p14:section name="Console" id="{43f00611-a6f1-18f5-77eb-d9ce2ca506bb}">
          <p14:sldIdLst>
            <p14:sldId id="265"/>
            <p14:sldId id="266"/>
            <p14:sldId id="267"/>
            <p14:sldId id="268"/>
            <p14:sldId id="269"/>
            <p14:sldId id="270"/>
            <p14:sldId id="271"/>
            <p14:sldId id="272"/>
          </p14:sldIdLst>
        </p14:section>
        <p14:section name="Memory &amp; terrain" id="{72af5437-a30a-caee-9693-25d3d76c45ba}">
          <p14:sldIdLst>
            <p14:sldId id="273"/>
            <p14:sldId id="274"/>
            <p14:sldId id="275"/>
            <p14:sldId id="276"/>
            <p14:sldId id="277"/>
            <p14:sldId id="278"/>
          </p14:sldIdLst>
        </p14:section>
        <p14:section name="Retrieval lab" id="{bcb85b8e-0920-b245-138f-6452cac2f769}">
          <p14:sldIdLst>
            <p14:sldId id="279"/>
            <p14:sldId id="280"/>
            <p14:sldId id="281"/>
          </p14:sldIdLst>
        </p14:section>
        <p14:section name="Knowledge base" id="{ba904aef-14f9-4b2c-fb1f-2c6114db37fa}">
          <p14:sldIdLst>
            <p14:sldId id="282"/>
          </p14:sldIdLst>
        </p14:section>
        <p14:section name="Under the hood" id="{31a8b151-e38c-9fb1-f9b7-aa150646ddef}">
          <p14:sldIdLst>
            <p14:sldId id="283"/>
            <p14:sldId id="284"/>
            <p14:sldId id="285"/>
            <p14:sldId id="286"/>
            <p14:sldId id="287"/>
          </p14:sldIdLst>
        </p14:section>
        <p14:section name="Close" id="{614ff33d-7b88-4932-54a8-aa5aa7aa5d15}">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F2EE"/>
                </a:solidFill>
                <a:latin typeface="+mn-lt"/>
              </a:defRPr>
            </a:pPr>
            <a:r>
              <a:rPr sz="1400" b="0" i="0" u="none" strike="noStrike">
                <a:solidFill>
                  <a:srgbClr val="E6F2EE"/>
                </a:solidFill>
                <a:latin typeface="+mn-lt"/>
              </a:rPr>
              <a:t>Strength left after N days without use</a:t>
            </a:r>
          </a:p>
        </c:rich>
      </c:tx>
      <c:layout/>
      <c:overlay val="0"/>
    </c:title>
    <c:autoTitleDeleted val="0"/>
    <c:plotArea>
      <c:layout/>
      <c:lineChart>
        <c:varyColors val="0"/>
        <c:ser>
          <c:idx val="0"/>
          <c:order val="0"/>
          <c:tx>
            <c:strRef>
              <c:f>Sheet1!$B$1</c:f>
              <c:strCache>
                <c:ptCount val="1"/>
                <c:pt idx="0">
                  <c:v>Correction (τ = 90 d)</c:v>
                </c:pt>
              </c:strCache>
            </c:strRef>
          </c:tx>
          <c:spPr>
            <a:solidFill>
              <a:srgbClr val="8FCBFF"/>
            </a:solidFill>
            <a:ln w="31750" cap="flat">
              <a:solidFill>
                <a:srgbClr val="8FCB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FCBFF"/>
              </a:solidFill>
              <a:ln w="9525" cap="flat">
                <a:solidFill>
                  <a:srgbClr val="8FCBFF"/>
                </a:solidFill>
                <a:prstDash val="solid"/>
                <a:round/>
              </a:ln>
              <a:effectLst/>
            </c:spPr>
          </c:marker>
          <c:cat>
            <c:multiLvlStrRef>
              <c:f>Sheet1!$A$2:$A$14</c:f>
              <c:multiLvlStrCache>
                <c:ptCount val="13"/>
                <c:lvl>
                  <c:pt idx="0">
                    <c:v>0</c:v>
                  </c:pt>
                  <c:pt idx="1">
                    <c:v>5</c:v>
                  </c:pt>
                  <c:pt idx="2">
                    <c:v>10</c:v>
                  </c:pt>
                  <c:pt idx="3">
                    <c:v>15</c:v>
                  </c:pt>
                  <c:pt idx="4">
                    <c:v>20</c:v>
                  </c:pt>
                  <c:pt idx="5">
                    <c:v>25</c:v>
                  </c:pt>
                  <c:pt idx="6">
                    <c:v>30</c:v>
                  </c:pt>
                  <c:pt idx="7">
                    <c:v>35</c:v>
                  </c:pt>
                  <c:pt idx="8">
                    <c:v>40</c:v>
                  </c:pt>
                  <c:pt idx="9">
                    <c:v>45</c:v>
                  </c:pt>
                  <c:pt idx="10">
                    <c:v>50</c:v>
                  </c:pt>
                  <c:pt idx="11">
                    <c:v>55</c:v>
                  </c:pt>
                  <c:pt idx="12">
                    <c:v>60</c:v>
                  </c:pt>
                </c:lvl>
              </c:multiLvlStrCache>
            </c:multiLvlStrRef>
          </c:cat>
          <c:val>
            <c:numRef>
              <c:f>Sheet1!$B$2:$B$14</c:f>
              <c:numCache>
                <c:formatCode>General</c:formatCode>
                <c:ptCount val="13"/>
                <c:pt idx="0">
                  <c:v>1</c:v>
                </c:pt>
                <c:pt idx="1">
                  <c:v>0.946</c:v>
                </c:pt>
                <c:pt idx="2">
                  <c:v>0.895</c:v>
                </c:pt>
                <c:pt idx="3">
                  <c:v>0.846</c:v>
                </c:pt>
                <c:pt idx="4">
                  <c:v>0.801</c:v>
                </c:pt>
                <c:pt idx="5">
                  <c:v>0.757</c:v>
                </c:pt>
                <c:pt idx="6">
                  <c:v>0.717</c:v>
                </c:pt>
                <c:pt idx="7">
                  <c:v>0.678</c:v>
                </c:pt>
                <c:pt idx="8">
                  <c:v>0.641</c:v>
                </c:pt>
                <c:pt idx="9">
                  <c:v>0.607</c:v>
                </c:pt>
                <c:pt idx="10">
                  <c:v>0.574</c:v>
                </c:pt>
                <c:pt idx="11">
                  <c:v>0.543</c:v>
                </c:pt>
                <c:pt idx="12">
                  <c:v>0.513</c:v>
                </c:pt>
              </c:numCache>
            </c:numRef>
          </c:val>
          <c:smooth val="0"/>
        </c:ser>
        <c:ser>
          <c:idx val="1"/>
          <c:order val="1"/>
          <c:tx>
            <c:strRef>
              <c:f>Sheet1!$C$1</c:f>
              <c:strCache>
                <c:ptCount val="1"/>
                <c:pt idx="0">
                  <c:v>Persistent (τ = 60 d)</c:v>
                </c:pt>
              </c:strCache>
            </c:strRef>
          </c:tx>
          <c:spPr>
            <a:solidFill>
              <a:srgbClr val="FF6B93"/>
            </a:solidFill>
            <a:ln w="31750" cap="flat">
              <a:solidFill>
                <a:srgbClr val="FF6B9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6B93"/>
              </a:solidFill>
              <a:ln w="9525" cap="flat">
                <a:solidFill>
                  <a:srgbClr val="FF6B93"/>
                </a:solidFill>
                <a:prstDash val="solid"/>
                <a:round/>
              </a:ln>
              <a:effectLst/>
            </c:spPr>
          </c:marker>
          <c:cat>
            <c:multiLvlStrRef>
              <c:f>Sheet1!$A$2:$A$14</c:f>
              <c:multiLvlStrCache>
                <c:ptCount val="13"/>
                <c:lvl>
                  <c:pt idx="0">
                    <c:v>0</c:v>
                  </c:pt>
                  <c:pt idx="1">
                    <c:v>5</c:v>
                  </c:pt>
                  <c:pt idx="2">
                    <c:v>10</c:v>
                  </c:pt>
                  <c:pt idx="3">
                    <c:v>15</c:v>
                  </c:pt>
                  <c:pt idx="4">
                    <c:v>20</c:v>
                  </c:pt>
                  <c:pt idx="5">
                    <c:v>25</c:v>
                  </c:pt>
                  <c:pt idx="6">
                    <c:v>30</c:v>
                  </c:pt>
                  <c:pt idx="7">
                    <c:v>35</c:v>
                  </c:pt>
                  <c:pt idx="8">
                    <c:v>40</c:v>
                  </c:pt>
                  <c:pt idx="9">
                    <c:v>45</c:v>
                  </c:pt>
                  <c:pt idx="10">
                    <c:v>50</c:v>
                  </c:pt>
                  <c:pt idx="11">
                    <c:v>55</c:v>
                  </c:pt>
                  <c:pt idx="12">
                    <c:v>60</c:v>
                  </c:pt>
                </c:lvl>
              </c:multiLvlStrCache>
            </c:multiLvlStrRef>
          </c:cat>
          <c:val>
            <c:numRef>
              <c:f>Sheet1!$C$2:$C$14</c:f>
              <c:numCache>
                <c:formatCode>General</c:formatCode>
                <c:ptCount val="13"/>
                <c:pt idx="0">
                  <c:v>1</c:v>
                </c:pt>
                <c:pt idx="1">
                  <c:v>0.92</c:v>
                </c:pt>
                <c:pt idx="2">
                  <c:v>0.846</c:v>
                </c:pt>
                <c:pt idx="3">
                  <c:v>0.779</c:v>
                </c:pt>
                <c:pt idx="4">
                  <c:v>0.717</c:v>
                </c:pt>
                <c:pt idx="5">
                  <c:v>0.659</c:v>
                </c:pt>
                <c:pt idx="6">
                  <c:v>0.607</c:v>
                </c:pt>
                <c:pt idx="7">
                  <c:v>0.558</c:v>
                </c:pt>
                <c:pt idx="8">
                  <c:v>0.513</c:v>
                </c:pt>
                <c:pt idx="9">
                  <c:v>0.472</c:v>
                </c:pt>
                <c:pt idx="10">
                  <c:v>0.435</c:v>
                </c:pt>
                <c:pt idx="11">
                  <c:v>0.4</c:v>
                </c:pt>
                <c:pt idx="12">
                  <c:v>0.368</c:v>
                </c:pt>
              </c:numCache>
            </c:numRef>
          </c:val>
          <c:smooth val="0"/>
        </c:ser>
        <c:ser>
          <c:idx val="2"/>
          <c:order val="2"/>
          <c:tx>
            <c:strRef>
              <c:f>Sheet1!$D$1</c:f>
              <c:strCache>
                <c:ptCount val="1"/>
                <c:pt idx="0">
                  <c:v>Important (τ = 45 d)</c:v>
                </c:pt>
              </c:strCache>
            </c:strRef>
          </c:tx>
          <c:spPr>
            <a:solidFill>
              <a:srgbClr val="FFC14D"/>
            </a:solidFill>
            <a:ln w="31750" cap="flat">
              <a:solidFill>
                <a:srgbClr val="FFC14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C14D"/>
              </a:solidFill>
              <a:ln w="9525" cap="flat">
                <a:solidFill>
                  <a:srgbClr val="FFC14D"/>
                </a:solidFill>
                <a:prstDash val="solid"/>
                <a:round/>
              </a:ln>
              <a:effectLst/>
            </c:spPr>
          </c:marker>
          <c:cat>
            <c:multiLvlStrRef>
              <c:f>Sheet1!$A$2:$A$14</c:f>
              <c:multiLvlStrCache>
                <c:ptCount val="13"/>
                <c:lvl>
                  <c:pt idx="0">
                    <c:v>0</c:v>
                  </c:pt>
                  <c:pt idx="1">
                    <c:v>5</c:v>
                  </c:pt>
                  <c:pt idx="2">
                    <c:v>10</c:v>
                  </c:pt>
                  <c:pt idx="3">
                    <c:v>15</c:v>
                  </c:pt>
                  <c:pt idx="4">
                    <c:v>20</c:v>
                  </c:pt>
                  <c:pt idx="5">
                    <c:v>25</c:v>
                  </c:pt>
                  <c:pt idx="6">
                    <c:v>30</c:v>
                  </c:pt>
                  <c:pt idx="7">
                    <c:v>35</c:v>
                  </c:pt>
                  <c:pt idx="8">
                    <c:v>40</c:v>
                  </c:pt>
                  <c:pt idx="9">
                    <c:v>45</c:v>
                  </c:pt>
                  <c:pt idx="10">
                    <c:v>50</c:v>
                  </c:pt>
                  <c:pt idx="11">
                    <c:v>55</c:v>
                  </c:pt>
                  <c:pt idx="12">
                    <c:v>60</c:v>
                  </c:pt>
                </c:lvl>
              </c:multiLvlStrCache>
            </c:multiLvlStrRef>
          </c:cat>
          <c:val>
            <c:numRef>
              <c:f>Sheet1!$D$2:$D$14</c:f>
              <c:numCache>
                <c:formatCode>General</c:formatCode>
                <c:ptCount val="13"/>
                <c:pt idx="0">
                  <c:v>1</c:v>
                </c:pt>
                <c:pt idx="1">
                  <c:v>0.895</c:v>
                </c:pt>
                <c:pt idx="2">
                  <c:v>0.801</c:v>
                </c:pt>
                <c:pt idx="3">
                  <c:v>0.717</c:v>
                </c:pt>
                <c:pt idx="4">
                  <c:v>0.641</c:v>
                </c:pt>
                <c:pt idx="5">
                  <c:v>0.574</c:v>
                </c:pt>
                <c:pt idx="6">
                  <c:v>0.513</c:v>
                </c:pt>
                <c:pt idx="7">
                  <c:v>0.459</c:v>
                </c:pt>
                <c:pt idx="8">
                  <c:v>0.411</c:v>
                </c:pt>
                <c:pt idx="9">
                  <c:v>0.368</c:v>
                </c:pt>
                <c:pt idx="10">
                  <c:v>0.329</c:v>
                </c:pt>
                <c:pt idx="11">
                  <c:v>0.295</c:v>
                </c:pt>
                <c:pt idx="12">
                  <c:v>0.264</c:v>
                </c:pt>
              </c:numCache>
            </c:numRef>
          </c:val>
          <c:smooth val="0"/>
        </c:ser>
        <c:ser>
          <c:idx val="3"/>
          <c:order val="3"/>
          <c:tx>
            <c:strRef>
              <c:f>Sheet1!$E$1</c:f>
              <c:strCache>
                <c:ptCount val="1"/>
                <c:pt idx="0">
                  <c:v>Temporary (τ = 1.2 d)</c:v>
                </c:pt>
              </c:strCache>
            </c:strRef>
          </c:tx>
          <c:spPr>
            <a:solidFill>
              <a:srgbClr val="2FA284"/>
            </a:solidFill>
            <a:ln w="31750" cap="flat">
              <a:solidFill>
                <a:srgbClr val="2FA28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A284"/>
              </a:solidFill>
              <a:ln w="9525" cap="flat">
                <a:solidFill>
                  <a:srgbClr val="2FA284"/>
                </a:solidFill>
                <a:prstDash val="solid"/>
                <a:round/>
              </a:ln>
              <a:effectLst/>
            </c:spPr>
          </c:marker>
          <c:cat>
            <c:multiLvlStrRef>
              <c:f>Sheet1!$A$2:$A$14</c:f>
              <c:multiLvlStrCache>
                <c:ptCount val="13"/>
                <c:lvl>
                  <c:pt idx="0">
                    <c:v>0</c:v>
                  </c:pt>
                  <c:pt idx="1">
                    <c:v>5</c:v>
                  </c:pt>
                  <c:pt idx="2">
                    <c:v>10</c:v>
                  </c:pt>
                  <c:pt idx="3">
                    <c:v>15</c:v>
                  </c:pt>
                  <c:pt idx="4">
                    <c:v>20</c:v>
                  </c:pt>
                  <c:pt idx="5">
                    <c:v>25</c:v>
                  </c:pt>
                  <c:pt idx="6">
                    <c:v>30</c:v>
                  </c:pt>
                  <c:pt idx="7">
                    <c:v>35</c:v>
                  </c:pt>
                  <c:pt idx="8">
                    <c:v>40</c:v>
                  </c:pt>
                  <c:pt idx="9">
                    <c:v>45</c:v>
                  </c:pt>
                  <c:pt idx="10">
                    <c:v>50</c:v>
                  </c:pt>
                  <c:pt idx="11">
                    <c:v>55</c:v>
                  </c:pt>
                  <c:pt idx="12">
                    <c:v>60</c:v>
                  </c:pt>
                </c:lvl>
              </c:multiLvlStrCache>
            </c:multiLvlStrRef>
          </c:cat>
          <c:val>
            <c:numRef>
              <c:f>Sheet1!$E$2:$E$14</c:f>
              <c:numCache>
                <c:formatCode>General</c:formatCode>
                <c:ptCount val="13"/>
                <c:pt idx="0">
                  <c:v>1</c:v>
                </c:pt>
                <c:pt idx="1">
                  <c:v>0.016</c:v>
                </c:pt>
                <c:pt idx="2">
                  <c:v>0</c:v>
                </c:pt>
                <c:pt idx="3">
                  <c:v>0</c:v>
                </c:pt>
                <c:pt idx="4">
                  <c:v>0</c:v>
                </c:pt>
                <c:pt idx="5">
                  <c:v>0</c:v>
                </c:pt>
                <c:pt idx="6">
                  <c:v>0</c:v>
                </c:pt>
                <c:pt idx="7">
                  <c:v>0</c:v>
                </c:pt>
                <c:pt idx="8">
                  <c:v>0</c:v>
                </c:pt>
                <c:pt idx="9">
                  <c:v>0</c:v>
                </c:pt>
                <c:pt idx="10">
                  <c:v>0</c:v>
                </c:pt>
                <c:pt idx="11">
                  <c:v>0</c:v>
                </c:pt>
                <c:pt idx="12">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86A9A4"/>
                    </a:solidFill>
                    <a:latin typeface="+mn-lt"/>
                  </a:defRPr>
                </a:pPr>
                <a:r>
                  <a:rPr sz="1100" b="0" i="0" u="none" strike="noStrike">
                    <a:solidFill>
                      <a:srgbClr val="86A9A4"/>
                    </a:solidFill>
                    <a:latin typeface="+mn-lt"/>
                  </a:rPr>
                  <a:t>days since last use</a:t>
                </a:r>
              </a:p>
            </c:rich>
          </c:tx>
          <c:layout/>
          <c:overlay val="0"/>
        </c:title>
        <c:numFmt formatCode="General" sourceLinked="1"/>
        <c:majorTickMark val="out"/>
        <c:minorTickMark val="none"/>
        <c:tickLblPos val="low"/>
        <c:spPr>
          <a:ln w="12700" cap="flat">
            <a:solidFill>
              <a:srgbClr val="1F4B51"/>
            </a:solidFill>
            <a:prstDash val="solid"/>
            <a:round/>
          </a:ln>
        </c:spPr>
        <c:txPr>
          <a:bodyPr/>
          <a:lstStyle/>
          <a:p>
            <a:pPr>
              <a:defRPr sz="1100" b="0" i="0" u="none" strike="noStrike">
                <a:solidFill>
                  <a:srgbClr val="86A9A4"/>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1F4B51"/>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86A9A4"/>
                </a:solidFill>
                <a:latin typeface="+mn-lt"/>
              </a:defRPr>
            </a:pPr>
            <a:endParaRPr lang="en-US"/>
          </a:p>
        </c:txPr>
        <c:crossAx val="2094734554"/>
        <c:crosses val="autoZero"/>
        <c:crossBetween val="between"/>
        <c:majorUnit val="0.25"/>
      </c:valAx>
      <c:spPr>
        <a:solidFill>
          <a:srgbClr val="0F2E33"/>
        </a:solidFill>
        <a:ln>
          <a:noFill/>
        </a:ln>
        <a:effectLst/>
      </c:spPr>
    </c:plotArea>
    <c:legend>
      <c:legendPos val="b"/>
      <c:overlay val="0"/>
      <c:txPr>
        <a:bodyPr/>
        <a:lstStyle/>
        <a:p>
          <a:pPr>
            <a:defRPr sz="1100">
              <a:solidFill>
                <a:srgbClr val="E6F2E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Adaptive RAG is a study assistant that answers from university documents and from what the student tells it. The headline says the whole idea — if you correct it once, it remembers, and the old fact is retired instead of quoted again. The key point for the rest of the talk: the language model itself is never retrained. Everything that learns sits around it. In this presentation I walk through every page of the website and show each feature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Retrieval-augmented generation looks up passages in your documents and hands them to a language model. That works until a rule changes. In the screenshot the student tells a plain RAG system that the department raised attendance to 80 percent — and the next answer still quotes the 75 percent in the PDF, because nothing in the pipeline was listening. Three gaps: corrections are lost, every source is trusted the same forever, and ranking is by similarity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message goes through five steps. First a classifier decides whether it's worth remembering and how. Then the memory manager adds, replaces, reinforces, expires or discards. Then retrieval finds the closest passages and memories and re-ranks them on four signals. Only then does the language model write the answer, citing numbered sources. Finally, feedback moves the ranking weights and each source's trust. The model in the middle never changes — all the learning is in the database and four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has five pages. The landing page tells the story as you scroll over a live 3-D map. The console is where you chat, and it shows every step of the pipeline as it happens. The memory page shows everything the assistant has learned, as cards and as a 3-D terrain you can rewind. The retrieval lab exposes the ranking formula, the learned weights and the memory classifier's accuracy. The knowledge page shows the documents it answers from and lets you add new ones. Every app page also has the demo clock for time travel, a Ctrl K command palette, toasts announcing each memory change, and a badge showing which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page explains the project as one long scroll. Point 1 is the headline. Point 2 is a small live demo that plays by itself: the student asks about the attendance requirement, gets 75 percent, corrects it to 80, and the card updates. Point 3 is the 3-D knowledge terrain behind the page — the same map the app uses. As each section reaches the middle of the screen, the camera moves and the map changes to match what the text is describing.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scroll-driven: each scroll step classifies one example sentence and the chip flies into its lane. 'My name is Harsh' and 'I prefer concise answers' are persistent, a changed deadline is important, 'your previous answer was wrong' is a correction, 'I have an exam tomorrow' is temporary, and 'What's 2+2' is irrelevant — so it's not stored. These are the same five classes the real classifier uses in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Storing both 75 and 80 percent would leave the assistant guessing. So when new information collides with something it believes, it checks the source, marks the old value as outdated and keeps it as history, and makes the new value current. The 'Stored as' record on the right shows exactly what gets saved: the knowledge, its source, a confidence, its status, the previous value and a timestamp. Behind the cards, the terrain zooms in on the attendance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candidate passage or memory gets four signals: similarity, recency, confidence and importance. The score is a weighted sum. On the left, with the learned weights, the official regulation wins. On the right I pressed 'Similarity only' — now the source that merely sounds closest wins, even though it's the wrong one for this question. The sliders let you try any weights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learning loop. A question goes to retrieval, the model answers, you give feedback, retrieval is evaluated, and memory and weights are updated — the language model in the centre is unchanged. Right: the interactive architecture diagram. Hovering a block, here the adaptive retriever, highlights its connections: it reads the vector database, long-term memory and documents, and passes context to the LLM. The dashed path shows knowledge evolving through the memory manager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console, the main page. On the left is the conversation: every message shows how it was classified and what was written to memory, and every answer cites its sources. On the right is the inspector for the selected answer: a memory map showing where the question landed, and the ranked list of sources it used with their score bars. At the bottom is the guided demo script — nine chips that run the story from the project brief. At the top are the demo clock, which can jump forward in time, and the badge showing the live backend. On the far left, the navigation rail switches between Console, Memory, Retrieval and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'What is the minimum attendance requirement?' The classifier recognises a question — the small pill says 'Question · not stored', and opening it shows the probabilities: irrelevant 0.74, because asking isn't telling. The answer comes from Academic Regulations section 3.1: 75 percent, with citations. The inspector on the right shows the five sources it ranked, and the map shows where the question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'Our department changed it to 80 percent last semester.' The classifier says correction with 0.99. It highlights the cue word 'changed', the value '80 percent' and the time 'last semester'. It resolves 'it' to minimum attendance from the previous question, finds the conflict with the 75 percent in the regulations, and decides to replace: 80 percent becomes current and 75 percent is kept as history, marked outdated. The memory-write card at the bottom shows what was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'When can I write my FAT?' The answer now says 80 percent — your department's rule, not the university's 75 — and cites both. On the right you can see why: the inspector ranked the 80 percent correction memory third, and the regulation section 3.1 passage carries the note 'Overridden for minimum attendance → 80% (your correction)'. The query was also expanded with context terms like 'minimum attendance' and 'my current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answer cites numbered sources, and the chips are live. Hovering chip 1 in the FAT answer lights up the same source everywhere: the chip itself, the matching row in 'Retrieved for this answer' — here the 80 percent correction memory — and its label on the memory map. Clicking a chip opens the source drawer with the full passage or memory, its reliability, and any override. So the professor can trace any claim back to where it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inspector shows the reasoning behind each answer. Top left: the memory map — the question's ping lands in the attendance cluster and the five used sources are ringed and numbered. Bottom left: the current ranking weights, the same formula used everywhere. Right: hovering a score bar breaks a source's score into its four parts — similarity, recency, confidence and importance — so you can see exactly why something ranked where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four to eight show the other decisions. 'I prefer concise answers' replaces the old step-by-step preference. 'I have a DBMS exam tomorrow' is temporary — kept until the end of tomorrow, then it expires. 'What's 2 plus 2' is answered directly and nothing is stored. 'My attendance is 78 percent' is stored as a fact about you. Finally, 'Am I eligible for FAT?' combines everything: your 78 percent, your department's 80 percent correction and the debarment rule, to answer 'Not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every answer there's 'Was this helpful?'. Helpful nudges the weights towards the signals that ranked the cited sources highly, and raises their trust a little. Not helpful asks what went wrong — wrong source, outdated or incomplete — and which source. In this run I marked the eligibility answer's source as outdated: its reliability dropped from 1.00 to 0.80 — outdated multiplies it by 0.8 — and the four weights moved, shown as small deltas. Each answer accepts feedback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page is the assistant's long-term memory made visible. One: an 'as of' timeline — drag it to rewind, or press play to watch memory evolve. Two: counters for passages indexed, long-term memories, corrections, conflicts resolved and messages processed, each with a 12-day sparkline. Three: the knowledge terrain, in 3-D relief or as a 2-D map. Four: the activity feed, which lists every memory event — added, corrected, expired.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knowledge terrain. Every document passage and every memory is a peak. Blue hills are passages from the official documents; pink peaks are facts the assistant learned in conversation. Things with similar meaning sit close together, so all the attendance rules form one cluster. The height of a peak is how strongly it's held — a memory you haven't used in a while slowly sinks. Outdated facts aren't deleted; they show as dashed rings. You can switch to a flat 2-D map, and clicking a peak opens that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terrain is computed. First every passage and memory is turned into a 384-number vector — an embedding of its meaning. Second, classical multidimensional scaling squeezes those vectors onto a flat x-y plane so that similar items stay close; new items are placed next to their nearest neighbours. Third, each item gets a peak height: for memories it's 0.22 plus 0.85 times its current strength; for passages it depends on importance and reliability. Fourth, the graphics card sums Gaussian bumps over a 260 by 150 grid, normalises it, and draws 14 contour levels, coloured from blue for documents to pink for memories. On the right, the console's version shows the question's ping and the five sources it used, ringed and numbered.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memory has a strength that decays over time like a forgetting curve: importance times confidence times e to the minus time-since-last-use over tau. Tau depends on the class — corrections last longest, 90 days; temporary facts only about a day. Every time a memory is used in an answer, its tau grows by 20 percent, so useful facts last longer — like spaced repetition. Pinned memories don't decay. Temporary memories, like the DBMS exam, also have a hard expiry: in demo step 9, the clock jumps past the exam and the memory expires.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the terrain is the memory bank: one card per memory, with its type — about you, important, correction, preference — its source, its current strength bar and how many times it was used. Filters narrow by type and status, including 'Replaced and expired' to see history. On the right, 'Facts that changed' shows each version chain: the library hours went from 8am to 8pm in the document to 'closes at 10pm' from the student; the answer style went from bullet points to step-by-step. Clicking any card opens its drawer with the full record and its forgetting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at the top of the memory page is a slider over the whole history. Each tick is an event. Drag it back and the whole page — terrain, cards, counters — is recomputed as it was at that moment, so you can show the professor the memory before and after a correction. The play button replays the history as an animation. The counters each have a 12-day sparkline, and the activity feed on the right lists every event: temporary memory kept and expired, new knowledge added, a previous fact corrected, a preference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retrieval lab exposes the ranking. Retrieval has two stages: a vector search finds the 12 nearest passages and memories, then they're re-scored with this formula and the top 5 go to the model. Similarity is how closely the text matches the question. Recency decays with age — 30 days for memories, a year for documents. Confidence is how reliable the source has proven, which is where feedback comes in. Importance comes from the memory class or the document section. At the start of the demo the weights are 0.45, 0.15, 0.25 and 0.15 — already learned from earlier feedback — and every new piece of feedback moves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panels show the learning. The chart is the history of the four weights over ten feedback events, starting from an even split: similarity rose from 0.40 to about 0.48 and confidence to 0.26, while importance fell to about 0.16 and recency from 0.20 to 0.10. Nothing was hand-tuned — every move came from a helpful or not-helpful click. On the right is source reliability: every source whose trust was lowered by feedback, with its current value. 'Current attendance is 78%' is at 0.80 after I marked it as outdated in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bottom of the lab is the memory classifier playground. Type any sentence and see its class probabilities, the topic and value it found, and any conflict — without storing anything. Next to it is a confusion matrix on 40 hand-labelled held-out sentences. The toggle switches between the rule-based baseline and the trained model. The rules get 39 of 40 — they miss 'I'm in the library at the moment', which is temporary, not persistent. The trained TF-IDF and logistic regression model gets 40 of 40. Because 40 is a small test set, the more honest number is the 5-fold cross-validation macro-F1 of 0.88 on 220 training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page lists the documents — four seeded ones with 28 passages: Academic Regulations, Exam Guidelines, the Hostel Handbook and the CSE Handbook. Each passage shows its section, token count, a reliability meter, an embedding fingerprint — a small strip that visualises its vector — and lines like 'Overridden for minimum attendance by your correction'. You can drop in a txt, markdown or PDF file, or add the sample CSE circular. Ingestion animates the stages — add, split, embed, index — and finally reconciles the new document with memory: it either confirms a fact you told it, or resolves a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a Next.js and React app; the terrain is drawn with three.js and custom shaders. It talks to a FastAPI backend over REST, and the chat endpoint streams the pipeline as server-sent events, so each stage appears as it happens. In the backend, the engine runs the five steps: the classifier, the memory manager, the two-stage retriever, the generator, and learning from feedback. Memories, turns and the feedback log live in SQLite; vectors live in Chroma; embeddings come from the MiniLM sentence-transformer. The language model is pluggable: Claude, Gemini, a local model through Ollama, or template answers with no model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generates interactive API documentation at slash docs — this is a screenshot of it. There are 15 endpoints: chat, feedback, state, reset, the demo clock, reading, pinning and deleting memories, retrieval and weights for the lab, classify and classifier evaluation for the playground, document upload and the sample circular, and a health check. The chat endpoint streams Server-Sent Events in a fixed order, which is what lets the console animate each stage as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language model is only used in step four, to write the answer from the numbered context, and optionally to classify messages. It's chosen in the backend's .env file. With an Anthropic key it uses Claude through the official SDK, with a cached system prompt, low effort and server-side refusal fallbacks. Gemini works through its OpenAI-compatible endpoint — I tested it live with gemini-3.8-flash; the free tier allows about 20 requests per model per day. A local model through Ollama also works. With none configured, template answers are built from the same retrieved context, so the whole demo still runs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had several layers. 44 backend tests run on fast hashed embeddings and an in-memory vector store, so they need no downloads or API key. One of them is a parity test: it replays a 14-message script plus feedback, a document upload and a clock jump through both the Python backend and the browser's TypeScript engine, and checks they make exactly the same decisions, rankings and answers. Then a headless browser drove the whole nine-step demo against the real backend: 25 checks passed with zero console errors. The trained classifier scores 40 of 40 on held-out sentences, with a cross-validated macro-F1 of 0.88. And the live Gemini run produced complete, correctly cited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limits. The classifier's test set is only 40 sentences and the training sentences were written for this project, so real student messages may be messier. There's one user and no login. The free Gemini tier limits how many live answers you can show. And reliability only changes through feedback — down when a source is rejected or marked outdated, up a little when an answer is helpful — there's no automatic fact-checking. Next steps: a larger real-world evaluation, multiple users with authentication, letting the LLM classifier and the trained model vote, and measuring answer quality, not just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ideas: corrections replace instead of piling up, ranking uses four signals that are learned from feedback, and the language model is never retrained — everything around it learns. Then invite questions. If there's time, open the console and run the guided demo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1143000"/>
            <a:ext cx="5669280"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02920" y="1508760"/>
            <a:ext cx="5760720" cy="155448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
        <p:nvSpPr>
          <p:cNvPr id="4" name="Text 0"/>
          <p:cNvSpPr/>
          <p:nvPr>
            <p:ph idx="102" type="body" hasCustomPrompt="1"/>
          </p:nvPr>
        </p:nvSpPr>
        <p:spPr>
          <a:xfrm>
            <a:off x="502920" y="3200400"/>
            <a:ext cx="5577840" cy="292608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nvSpPr>
        <p:spPr>
          <a:xfrm>
            <a:off x="502920" y="6446520"/>
            <a:ext cx="4572000" cy="256032"/>
          </a:xfrm>
          <a:prstGeom prst="rect">
            <a:avLst/>
          </a:prstGeom>
          <a:noFill/>
          <a:ln/>
        </p:spPr>
        <p:txBody>
          <a:bodyPr wrap="square" lIns="0" tIns="0" rIns="0" bIns="0" rtlCol="0" anchor="ctr"/>
          <a:lstStyle/>
          <a:p>
            <a:pPr indent="0" marL="0">
              <a:buNone/>
            </a:pPr>
            <a:r>
              <a:rPr lang="en-US" sz="1000" dirty="0">
                <a:solidFill>
                  <a:schemeClr val="tx2"/>
                </a:solidFill>
              </a:rPr>
              <a:t>Adaptive RAG · feature tour</a:t>
            </a:r>
            <a:endParaRPr lang="en-US" sz="10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jp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slideLayout" Target="../slideLayouts/slideLayout3.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3.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3.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3.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02920" y="1143000"/>
            <a:ext cx="5669280" cy="320040"/>
          </a:xfrm>
          <a:prstGeom prst="rect">
            <a:avLst/>
          </a:prstGeom>
          <a:noFill/>
          <a:ln/>
        </p:spPr>
        <p:txBody>
          <a:bodyPr wrap="square" lIns="0" tIns="0" rIns="0" bIns="0" rtlCol="0"/>
          <a:lstStyle/>
          <a:p>
            <a:pPr indent="0" marL="0">
              <a:buNone/>
            </a:pPr>
            <a:r>
              <a:rPr lang="en-US" sz="1200" b="1" spc="300" kern="0" dirty="0">
                <a:solidFill>
                  <a:schemeClr val="accent1"/>
                </a:solidFill>
              </a:rPr>
              <a:t>AI COURSE PROJECT</a:t>
            </a:r>
            <a:endParaRPr lang="en-US" sz="1200" dirty="0"/>
          </a:p>
        </p:txBody>
      </p:sp>
      <p:sp>
        <p:nvSpPr>
          <p:cNvPr id="3" name="Text 0"/>
          <p:cNvSpPr/>
          <p:nvPr>
            <p:ph idx="101" type="title" hasCustomPrompt="1"/>
          </p:nvPr>
        </p:nvSpPr>
        <p:spPr>
          <a:xfrm>
            <a:off x="502920" y="1508760"/>
            <a:ext cx="5760720" cy="1554480"/>
          </a:xfrm>
          <a:prstGeom prst="rect">
            <a:avLst/>
          </a:prstGeom>
          <a:noFill/>
          <a:ln/>
        </p:spPr>
        <p:txBody>
          <a:bodyPr wrap="square" lIns="0" tIns="0" rIns="0" bIns="0" rtlCol="0" anchor="b"/>
          <a:lstStyle/>
          <a:p>
            <a:pPr algn="l" indent="0" marL="0">
              <a:buNone/>
            </a:pPr>
            <a:r>
              <a:rPr lang="en-US" sz="4800" b="1" dirty="0">
                <a:solidFill>
                  <a:schemeClr val="tx1"/>
                </a:solidFill>
              </a:rPr>
              <a:t>Adaptive RAG</a:t>
            </a:r>
            <a:endParaRPr lang="en-US" sz="4800" dirty="0"/>
          </a:p>
        </p:txBody>
      </p:sp>
      <p:sp>
        <p:nvSpPr>
          <p:cNvPr id="4" name="Text 0"/>
          <p:cNvSpPr/>
          <p:nvPr>
            <p:ph idx="102" type="body" hasCustomPrompt="1"/>
          </p:nvPr>
        </p:nvSpPr>
        <p:spPr>
          <a:xfrm>
            <a:off x="502920" y="3200400"/>
            <a:ext cx="5577840" cy="2926080"/>
          </a:xfrm>
          <a:prstGeom prst="rect">
            <a:avLst/>
          </a:prstGeom>
          <a:noFill/>
          <a:ln/>
        </p:spPr>
        <p:txBody>
          <a:bodyPr wrap="square" lIns="0" tIns="0" rIns="0" bIns="0" rtlCol="0" anchor="t"/>
          <a:lstStyle/>
          <a:p>
            <a:pPr indent="0" marL="0">
              <a:buNone/>
            </a:pPr>
            <a:r>
              <a:rPr lang="en-US" sz="2400" b="1" dirty="0">
                <a:solidFill>
                  <a:schemeClr val="accent1"/>
                </a:solidFill>
              </a:rPr>
              <a:t>Correct it once. It remembers.</a:t>
            </a:r>
            <a:endParaRPr lang="en-US" sz="1800" dirty="0"/>
          </a:p>
          <a:p>
            <a:pPr indent="0" marL="0">
              <a:buNone/>
            </a:pPr>
            <a:r>
              <a:rPr lang="en-US" sz="1000" dirty="0">
                <a:solidFill>
                  <a:schemeClr val="tx2"/>
                </a:solidFill>
              </a:rPr>
              <a:t> </a:t>
            </a:r>
            <a:endParaRPr lang="en-US" sz="1800" dirty="0"/>
          </a:p>
          <a:p>
            <a:pPr indent="0" marL="0">
              <a:buNone/>
            </a:pPr>
            <a:r>
              <a:rPr lang="en-US" sz="1800" dirty="0">
                <a:solidFill>
                  <a:schemeClr val="tx2"/>
                </a:solidFill>
              </a:rPr>
              <a:t>A study assistant that learns from what you tell it — corrections, preferences, short-lived facts — and re-ranks what it retrieves, without retraining the language model.</a:t>
            </a:r>
            <a:endParaRPr lang="en-US" sz="1800" dirty="0"/>
          </a:p>
          <a:p>
            <a:pPr indent="0" marL="0">
              <a:buNone/>
            </a:pPr>
            <a:r>
              <a:rPr lang="en-US" sz="1000" dirty="0">
                <a:solidFill>
                  <a:schemeClr val="tx2"/>
                </a:solidFill>
              </a:rPr>
              <a:t> </a:t>
            </a:r>
            <a:endParaRPr lang="en-US" sz="1800" dirty="0"/>
          </a:p>
          <a:p>
            <a:pPr indent="0" marL="0">
              <a:buNone/>
            </a:pPr>
            <a:r>
              <a:rPr lang="en-US" sz="1400" dirty="0">
                <a:solidFill>
                  <a:schemeClr val="tx1"/>
                </a:solidFill>
              </a:rPr>
              <a:t>A tour of every feature of the website, with screenshots</a:t>
            </a:r>
            <a:endParaRPr lang="en-US" sz="1800" dirty="0"/>
          </a:p>
        </p:txBody>
      </p:sp>
      <p:sp>
        <p:nvSpPr>
          <p:cNvPr id="5" name="frame-1"/>
          <p:cNvSpPr/>
          <p:nvPr/>
        </p:nvSpPr>
        <p:spPr>
          <a:xfrm>
            <a:off x="6400800" y="1740217"/>
            <a:ext cx="5349240" cy="3377565"/>
          </a:xfrm>
          <a:prstGeom prst="roundRect">
            <a:avLst>
              <a:gd name="adj" fmla="val 1895"/>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2" descr="The landing page hero: Correct it once. It remembers.">    </p:cNvPr>
          <p:cNvPicPr>
            <a:picLocks noChangeAspect="1"/>
          </p:cNvPicPr>
          <p:nvPr/>
        </p:nvPicPr>
        <p:blipFill>
          <a:blip r:embed="rId1"/>
          <a:stretch>
            <a:fillRect/>
          </a:stretch>
        </p:blipFill>
        <p:spPr>
          <a:xfrm>
            <a:off x="6446520" y="1785937"/>
            <a:ext cx="5257800" cy="32861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THE PROBLEM</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Ordinary RAG answers from a frozen page</a:t>
            </a:r>
            <a:endParaRPr lang="en-US" sz="3200" dirty="0"/>
          </a:p>
        </p:txBody>
      </p:sp>
      <p:sp>
        <p:nvSpPr>
          <p:cNvPr id="5" name="frame-3"/>
          <p:cNvSpPr/>
          <p:nvPr/>
        </p:nvSpPr>
        <p:spPr>
          <a:xfrm>
            <a:off x="457200" y="1325880"/>
            <a:ext cx="7132320" cy="4402183"/>
          </a:xfrm>
          <a:prstGeom prst="roundRect">
            <a:avLst>
              <a:gd name="adj" fmla="val 1454"/>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4" descr="Landing page: the usual pipeline and a stale answer">    </p:cNvPr>
          <p:cNvPicPr>
            <a:picLocks noChangeAspect="1"/>
          </p:cNvPicPr>
          <p:nvPr/>
        </p:nvPicPr>
        <p:blipFill>
          <a:blip r:embed="rId1"/>
          <a:stretch>
            <a:fillRect/>
          </a:stretch>
        </p:blipFill>
        <p:spPr>
          <a:xfrm>
            <a:off x="502920" y="1371600"/>
            <a:ext cx="7040880" cy="4310743"/>
          </a:xfrm>
          <a:prstGeom prst="rect">
            <a:avLst/>
          </a:prstGeom>
        </p:spPr>
      </p:pic>
      <p:sp>
        <p:nvSpPr>
          <p:cNvPr id="7" name="caption-5"/>
          <p:cNvSpPr txBox="1"/>
          <p:nvPr/>
        </p:nvSpPr>
        <p:spPr>
          <a:xfrm>
            <a:off x="502920" y="5846935"/>
            <a:ext cx="7040880" cy="320040"/>
          </a:xfrm>
          <a:prstGeom prst="rect">
            <a:avLst/>
          </a:prstGeom>
          <a:noFill/>
          <a:ln/>
        </p:spPr>
        <p:txBody>
          <a:bodyPr wrap="square" lIns="0" tIns="0" rIns="0" bIns="0" rtlCol="0" anchor="t"/>
          <a:lstStyle/>
          <a:p>
            <a:pPr algn="l" indent="0" marL="0">
              <a:buNone/>
            </a:pPr>
            <a:r>
              <a:rPr lang="en-US" sz="1200" dirty="0">
                <a:solidFill>
                  <a:schemeClr val="tx2"/>
                </a:solidFill>
              </a:rPr>
              <a:t>From the landing page: the student corrects the rule, and the next answer still quotes 75%.</a:t>
            </a:r>
            <a:endParaRPr lang="en-US" sz="1200" dirty="0"/>
          </a:p>
        </p:txBody>
      </p:sp>
      <p:pic>
        <p:nvPicPr>
          <p:cNvPr id="8" name="Image 1" descr="preencoded.png">    </p:cNvPr>
          <p:cNvPicPr>
            <a:picLocks noChangeAspect="1"/>
          </p:cNvPicPr>
          <p:nvPr/>
        </p:nvPicPr>
        <p:blipFill>
          <a:blip r:embed="rId2"/>
          <a:stretch>
            <a:fillRect/>
          </a:stretch>
        </p:blipFill>
        <p:spPr>
          <a:xfrm>
            <a:off x="8001000" y="1417320"/>
            <a:ext cx="384048" cy="384048"/>
          </a:xfrm>
          <a:prstGeom prst="rect">
            <a:avLst/>
          </a:prstGeom>
        </p:spPr>
      </p:pic>
      <p:sp>
        <p:nvSpPr>
          <p:cNvPr id="9" name="Text 4"/>
          <p:cNvSpPr txBox="1"/>
          <p:nvPr/>
        </p:nvSpPr>
        <p:spPr>
          <a:xfrm>
            <a:off x="8503920" y="1417320"/>
            <a:ext cx="3184855" cy="411480"/>
          </a:xfrm>
          <a:prstGeom prst="rect">
            <a:avLst/>
          </a:prstGeom>
          <a:noFill/>
          <a:ln/>
        </p:spPr>
        <p:txBody>
          <a:bodyPr wrap="square" lIns="0" tIns="0" rIns="0" bIns="0" rtlCol="0" anchor="ctr"/>
          <a:lstStyle/>
          <a:p>
            <a:pPr indent="0" marL="0">
              <a:buNone/>
            </a:pPr>
            <a:r>
              <a:rPr lang="en-US" sz="1600" b="1" dirty="0">
                <a:solidFill>
                  <a:schemeClr val="tx1"/>
                </a:solidFill>
              </a:rPr>
              <a:t>Three gaps in a plain RAG pipeline</a:t>
            </a:r>
            <a:endParaRPr lang="en-US" sz="1600" dirty="0"/>
          </a:p>
        </p:txBody>
      </p:sp>
      <p:sp>
        <p:nvSpPr>
          <p:cNvPr id="10" name="callout-6"/>
          <p:cNvSpPr txBox="1"/>
          <p:nvPr/>
        </p:nvSpPr>
        <p:spPr>
          <a:xfrm>
            <a:off x="8001000" y="2057400"/>
            <a:ext cx="3687775"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Corrections go nowhere</a:t>
            </a:r>
            <a:endParaRPr lang="en-US" sz="1400" dirty="0"/>
          </a:p>
          <a:p>
            <a:pPr indent="0" marL="0">
              <a:spcAft>
                <a:spcPts val="200"/>
              </a:spcAft>
              <a:buNone/>
            </a:pPr>
            <a:r>
              <a:rPr lang="en-US" sz="1200" dirty="0">
                <a:solidFill>
                  <a:schemeClr val="tx2"/>
                </a:solidFill>
              </a:rPr>
              <a:t>Tell it the rule changed to 80% and the next answer still quotes 75% from the PDF.</a:t>
            </a:r>
            <a:endParaRPr lang="en-US" sz="1400" dirty="0"/>
          </a:p>
        </p:txBody>
      </p:sp>
      <p:sp>
        <p:nvSpPr>
          <p:cNvPr id="11" name="callout-7"/>
          <p:cNvSpPr txBox="1"/>
          <p:nvPr/>
        </p:nvSpPr>
        <p:spPr>
          <a:xfrm>
            <a:off x="8001000" y="3061228"/>
            <a:ext cx="3687775"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Every source is trusted equally</a:t>
            </a:r>
            <a:endParaRPr lang="en-US" sz="1400" dirty="0"/>
          </a:p>
          <a:p>
            <a:pPr indent="0" marL="0">
              <a:spcAft>
                <a:spcPts val="200"/>
              </a:spcAft>
              <a:buNone/>
            </a:pPr>
            <a:r>
              <a:rPr lang="en-US" sz="1200" dirty="0">
                <a:solidFill>
                  <a:schemeClr val="tx2"/>
                </a:solidFill>
              </a:rPr>
              <a:t>A wrong or outdated passage keeps coming back, forever.</a:t>
            </a:r>
            <a:endParaRPr lang="en-US" sz="1400" dirty="0"/>
          </a:p>
        </p:txBody>
      </p:sp>
      <p:sp>
        <p:nvSpPr>
          <p:cNvPr id="12" name="callout-8"/>
          <p:cNvSpPr txBox="1"/>
          <p:nvPr/>
        </p:nvSpPr>
        <p:spPr>
          <a:xfrm>
            <a:off x="8001000" y="4065057"/>
            <a:ext cx="3687775" cy="87252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Ranked by similarity only</a:t>
            </a:r>
            <a:endParaRPr lang="en-US" sz="1400" dirty="0"/>
          </a:p>
          <a:p>
            <a:pPr indent="0" marL="0">
              <a:spcAft>
                <a:spcPts val="200"/>
              </a:spcAft>
              <a:buNone/>
            </a:pPr>
            <a:r>
              <a:rPr lang="en-US" sz="1200" dirty="0">
                <a:solidFill>
                  <a:schemeClr val="tx2"/>
                </a:solidFill>
              </a:rPr>
              <a:t>The passage that sounds closest wins, even when it's the wrong source for the question.</a:t>
            </a:r>
            <a:endParaRPr lang="en-US" sz="14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THE IDEA</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Learn around the model, not inside it</a:t>
            </a:r>
            <a:endParaRPr lang="en-US" sz="3200" dirty="0"/>
          </a:p>
        </p:txBody>
      </p:sp>
      <p:sp>
        <p:nvSpPr>
          <p:cNvPr id="5" name="card-9"/>
          <p:cNvSpPr/>
          <p:nvPr/>
        </p:nvSpPr>
        <p:spPr>
          <a:xfrm>
            <a:off x="502920" y="1600200"/>
            <a:ext cx="1993392" cy="2514600"/>
          </a:xfrm>
          <a:prstGeom prst="roundRect">
            <a:avLst>
              <a:gd name="adj" fmla="val 4587"/>
            </a:avLst>
          </a:prstGeom>
          <a:solidFill>
            <a:schemeClr val="bg2"/>
          </a:solidFill>
          <a:ln w="12700">
            <a:solidFill>
              <a:schemeClr val="accent6"/>
            </a:solidFill>
            <a:prstDash val="solid"/>
          </a:ln>
        </p:spPr>
      </p:sp>
      <p:sp>
        <p:nvSpPr>
          <p:cNvPr id="6" name="iconbg-10"/>
          <p:cNvSpPr/>
          <p:nvPr/>
        </p:nvSpPr>
        <p:spPr>
          <a:xfrm>
            <a:off x="685800" y="1783080"/>
            <a:ext cx="512064" cy="512064"/>
          </a:xfrm>
          <a:prstGeom prst="ellipse">
            <a:avLst/>
          </a:prstGeom>
          <a:solidFill>
            <a:schemeClr val="bg1"/>
          </a:solidFill>
          <a:ln w="15875">
            <a:solidFill>
              <a:schemeClr val="accent1"/>
            </a:solidFill>
            <a:prstDash val="solid"/>
          </a:ln>
        </p:spPr>
      </p:sp>
      <p:pic>
        <p:nvPicPr>
          <p:cNvPr id="7" name="icon-11" descr="preencoded.png">    </p:cNvPr>
          <p:cNvPicPr>
            <a:picLocks noChangeAspect="1"/>
          </p:cNvPicPr>
          <p:nvPr/>
        </p:nvPicPr>
        <p:blipFill>
          <a:blip r:embed="rId1"/>
          <a:stretch>
            <a:fillRect/>
          </a:stretch>
        </p:blipFill>
        <p:spPr>
          <a:xfrm>
            <a:off x="813816" y="1911096"/>
            <a:ext cx="256032" cy="256032"/>
          </a:xfrm>
          <a:prstGeom prst="rect">
            <a:avLst/>
          </a:prstGeom>
        </p:spPr>
      </p:pic>
      <p:sp>
        <p:nvSpPr>
          <p:cNvPr id="8" name="cardkicker-12"/>
          <p:cNvSpPr txBox="1"/>
          <p:nvPr/>
        </p:nvSpPr>
        <p:spPr>
          <a:xfrm>
            <a:off x="685800" y="2423160"/>
            <a:ext cx="1627632" cy="237744"/>
          </a:xfrm>
          <a:prstGeom prst="rect">
            <a:avLst/>
          </a:prstGeom>
          <a:noFill/>
          <a:ln/>
        </p:spPr>
        <p:txBody>
          <a:bodyPr wrap="square" lIns="0" tIns="0" rIns="0" bIns="0" rtlCol="0" anchor="ctr"/>
          <a:lstStyle/>
          <a:p>
            <a:pPr indent="0" marL="0">
              <a:buNone/>
            </a:pPr>
            <a:r>
              <a:rPr lang="en-US" sz="1000" b="1" spc="200" kern="0" dirty="0">
                <a:solidFill>
                  <a:schemeClr val="accent1"/>
                </a:solidFill>
              </a:rPr>
              <a:t>STEP 1</a:t>
            </a:r>
            <a:endParaRPr lang="en-US" sz="1000" dirty="0"/>
          </a:p>
        </p:txBody>
      </p:sp>
      <p:sp>
        <p:nvSpPr>
          <p:cNvPr id="9" name="cardtitle-13"/>
          <p:cNvSpPr txBox="1"/>
          <p:nvPr/>
        </p:nvSpPr>
        <p:spPr>
          <a:xfrm>
            <a:off x="685800" y="2697480"/>
            <a:ext cx="1627632" cy="329184"/>
          </a:xfrm>
          <a:prstGeom prst="rect">
            <a:avLst/>
          </a:prstGeom>
          <a:noFill/>
          <a:ln/>
        </p:spPr>
        <p:txBody>
          <a:bodyPr wrap="square" lIns="0" tIns="0" rIns="0" bIns="0" rtlCol="0" anchor="t"/>
          <a:lstStyle/>
          <a:p>
            <a:pPr indent="0" marL="0">
              <a:buNone/>
            </a:pPr>
            <a:r>
              <a:rPr lang="en-US" sz="1700" b="1" dirty="0">
                <a:solidFill>
                  <a:schemeClr val="tx1"/>
                </a:solidFill>
              </a:rPr>
              <a:t>Classify</a:t>
            </a:r>
            <a:endParaRPr lang="en-US" sz="1700" dirty="0"/>
          </a:p>
        </p:txBody>
      </p:sp>
      <p:sp>
        <p:nvSpPr>
          <p:cNvPr id="10" name="cardbody-14"/>
          <p:cNvSpPr txBox="1"/>
          <p:nvPr/>
        </p:nvSpPr>
        <p:spPr>
          <a:xfrm>
            <a:off x="685800" y="3081528"/>
            <a:ext cx="1627632" cy="896112"/>
          </a:xfrm>
          <a:prstGeom prst="rect">
            <a:avLst/>
          </a:prstGeom>
          <a:noFill/>
          <a:ln/>
        </p:spPr>
        <p:txBody>
          <a:bodyPr wrap="square" lIns="0" tIns="0" rIns="0" bIns="0" rtlCol="0" anchor="t"/>
          <a:lstStyle/>
          <a:p>
            <a:pPr indent="0" marL="0">
              <a:buNone/>
            </a:pPr>
            <a:r>
              <a:rPr lang="en-US" sz="1300" dirty="0">
                <a:solidFill>
                  <a:schemeClr val="tx2"/>
                </a:solidFill>
              </a:rPr>
              <a:t>Is this worth remembering — and how?</a:t>
            </a:r>
            <a:endParaRPr lang="en-US" sz="1300" dirty="0"/>
          </a:p>
        </p:txBody>
      </p:sp>
      <p:sp>
        <p:nvSpPr>
          <p:cNvPr id="11" name="arrow-15"/>
          <p:cNvSpPr/>
          <p:nvPr/>
        </p:nvSpPr>
        <p:spPr>
          <a:xfrm>
            <a:off x="2532888" y="2857500"/>
            <a:ext cx="228600" cy="914"/>
          </a:xfrm>
          <a:prstGeom prst="line">
            <a:avLst/>
          </a:prstGeom>
          <a:noFill/>
          <a:ln w="19050">
            <a:solidFill>
              <a:schemeClr val="tx2"/>
            </a:solidFill>
            <a:prstDash val="solid"/>
            <a:tailEnd type="triangle"/>
          </a:ln>
        </p:spPr>
      </p:sp>
      <p:sp>
        <p:nvSpPr>
          <p:cNvPr id="12" name="card-16"/>
          <p:cNvSpPr/>
          <p:nvPr/>
        </p:nvSpPr>
        <p:spPr>
          <a:xfrm>
            <a:off x="2798064" y="1600200"/>
            <a:ext cx="1993392" cy="2514600"/>
          </a:xfrm>
          <a:prstGeom prst="roundRect">
            <a:avLst>
              <a:gd name="adj" fmla="val 4587"/>
            </a:avLst>
          </a:prstGeom>
          <a:solidFill>
            <a:schemeClr val="bg2"/>
          </a:solidFill>
          <a:ln w="12700">
            <a:solidFill>
              <a:schemeClr val="accent6"/>
            </a:solidFill>
            <a:prstDash val="solid"/>
          </a:ln>
        </p:spPr>
      </p:sp>
      <p:sp>
        <p:nvSpPr>
          <p:cNvPr id="13" name="iconbg-17"/>
          <p:cNvSpPr/>
          <p:nvPr/>
        </p:nvSpPr>
        <p:spPr>
          <a:xfrm>
            <a:off x="2980944" y="1783080"/>
            <a:ext cx="512064" cy="512064"/>
          </a:xfrm>
          <a:prstGeom prst="ellipse">
            <a:avLst/>
          </a:prstGeom>
          <a:solidFill>
            <a:schemeClr val="bg1"/>
          </a:solidFill>
          <a:ln w="15875">
            <a:solidFill>
              <a:schemeClr val="accent1"/>
            </a:solidFill>
            <a:prstDash val="solid"/>
          </a:ln>
        </p:spPr>
      </p:sp>
      <p:pic>
        <p:nvPicPr>
          <p:cNvPr id="14" name="icon-18" descr="preencoded.png">    </p:cNvPr>
          <p:cNvPicPr>
            <a:picLocks noChangeAspect="1"/>
          </p:cNvPicPr>
          <p:nvPr/>
        </p:nvPicPr>
        <p:blipFill>
          <a:blip r:embed="rId2"/>
          <a:stretch>
            <a:fillRect/>
          </a:stretch>
        </p:blipFill>
        <p:spPr>
          <a:xfrm>
            <a:off x="3108960" y="1911096"/>
            <a:ext cx="256032" cy="256032"/>
          </a:xfrm>
          <a:prstGeom prst="rect">
            <a:avLst/>
          </a:prstGeom>
        </p:spPr>
      </p:pic>
      <p:sp>
        <p:nvSpPr>
          <p:cNvPr id="15" name="cardkicker-19"/>
          <p:cNvSpPr txBox="1"/>
          <p:nvPr/>
        </p:nvSpPr>
        <p:spPr>
          <a:xfrm>
            <a:off x="2980944" y="2423160"/>
            <a:ext cx="1627632" cy="237744"/>
          </a:xfrm>
          <a:prstGeom prst="rect">
            <a:avLst/>
          </a:prstGeom>
          <a:noFill/>
          <a:ln/>
        </p:spPr>
        <p:txBody>
          <a:bodyPr wrap="square" lIns="0" tIns="0" rIns="0" bIns="0" rtlCol="0" anchor="ctr"/>
          <a:lstStyle/>
          <a:p>
            <a:pPr indent="0" marL="0">
              <a:buNone/>
            </a:pPr>
            <a:r>
              <a:rPr lang="en-US" sz="1000" b="1" spc="200" kern="0" dirty="0">
                <a:solidFill>
                  <a:schemeClr val="accent1"/>
                </a:solidFill>
              </a:rPr>
              <a:t>STEP 2</a:t>
            </a:r>
            <a:endParaRPr lang="en-US" sz="1000" dirty="0"/>
          </a:p>
        </p:txBody>
      </p:sp>
      <p:sp>
        <p:nvSpPr>
          <p:cNvPr id="16" name="cardtitle-20"/>
          <p:cNvSpPr txBox="1"/>
          <p:nvPr/>
        </p:nvSpPr>
        <p:spPr>
          <a:xfrm>
            <a:off x="2980944" y="2697480"/>
            <a:ext cx="1627632" cy="329184"/>
          </a:xfrm>
          <a:prstGeom prst="rect">
            <a:avLst/>
          </a:prstGeom>
          <a:noFill/>
          <a:ln/>
        </p:spPr>
        <p:txBody>
          <a:bodyPr wrap="square" lIns="0" tIns="0" rIns="0" bIns="0" rtlCol="0" anchor="t"/>
          <a:lstStyle/>
          <a:p>
            <a:pPr indent="0" marL="0">
              <a:buNone/>
            </a:pPr>
            <a:r>
              <a:rPr lang="en-US" sz="1700" b="1" dirty="0">
                <a:solidFill>
                  <a:schemeClr val="tx1"/>
                </a:solidFill>
              </a:rPr>
              <a:t>Remember</a:t>
            </a:r>
            <a:endParaRPr lang="en-US" sz="1700" dirty="0"/>
          </a:p>
        </p:txBody>
      </p:sp>
      <p:sp>
        <p:nvSpPr>
          <p:cNvPr id="17" name="cardbody-21"/>
          <p:cNvSpPr txBox="1"/>
          <p:nvPr/>
        </p:nvSpPr>
        <p:spPr>
          <a:xfrm>
            <a:off x="2980944" y="3081528"/>
            <a:ext cx="1627632" cy="896112"/>
          </a:xfrm>
          <a:prstGeom prst="rect">
            <a:avLst/>
          </a:prstGeom>
          <a:noFill/>
          <a:ln/>
        </p:spPr>
        <p:txBody>
          <a:bodyPr wrap="square" lIns="0" tIns="0" rIns="0" bIns="0" rtlCol="0" anchor="t"/>
          <a:lstStyle/>
          <a:p>
            <a:pPr indent="0" marL="0">
              <a:buNone/>
            </a:pPr>
            <a:r>
              <a:rPr lang="en-US" sz="1300" dirty="0">
                <a:solidFill>
                  <a:schemeClr val="tx2"/>
                </a:solidFill>
              </a:rPr>
              <a:t>Add, replace, reinforce, expire or discard</a:t>
            </a:r>
            <a:endParaRPr lang="en-US" sz="1300" dirty="0"/>
          </a:p>
        </p:txBody>
      </p:sp>
      <p:sp>
        <p:nvSpPr>
          <p:cNvPr id="18" name="arrow-22"/>
          <p:cNvSpPr/>
          <p:nvPr/>
        </p:nvSpPr>
        <p:spPr>
          <a:xfrm>
            <a:off x="4828032" y="2857500"/>
            <a:ext cx="228600" cy="914"/>
          </a:xfrm>
          <a:prstGeom prst="line">
            <a:avLst/>
          </a:prstGeom>
          <a:noFill/>
          <a:ln w="19050">
            <a:solidFill>
              <a:schemeClr val="tx2"/>
            </a:solidFill>
            <a:prstDash val="solid"/>
            <a:tailEnd type="triangle"/>
          </a:ln>
        </p:spPr>
      </p:sp>
      <p:sp>
        <p:nvSpPr>
          <p:cNvPr id="19" name="card-23"/>
          <p:cNvSpPr/>
          <p:nvPr/>
        </p:nvSpPr>
        <p:spPr>
          <a:xfrm>
            <a:off x="5093208" y="1600200"/>
            <a:ext cx="1993392" cy="2514600"/>
          </a:xfrm>
          <a:prstGeom prst="roundRect">
            <a:avLst>
              <a:gd name="adj" fmla="val 4587"/>
            </a:avLst>
          </a:prstGeom>
          <a:solidFill>
            <a:schemeClr val="bg2"/>
          </a:solidFill>
          <a:ln w="12700">
            <a:solidFill>
              <a:schemeClr val="accent6"/>
            </a:solidFill>
            <a:prstDash val="solid"/>
          </a:ln>
        </p:spPr>
      </p:sp>
      <p:sp>
        <p:nvSpPr>
          <p:cNvPr id="20" name="iconbg-24"/>
          <p:cNvSpPr/>
          <p:nvPr/>
        </p:nvSpPr>
        <p:spPr>
          <a:xfrm>
            <a:off x="5276088" y="1783080"/>
            <a:ext cx="512064" cy="512064"/>
          </a:xfrm>
          <a:prstGeom prst="ellipse">
            <a:avLst/>
          </a:prstGeom>
          <a:solidFill>
            <a:schemeClr val="bg1"/>
          </a:solidFill>
          <a:ln w="15875">
            <a:solidFill>
              <a:schemeClr val="accent1"/>
            </a:solidFill>
            <a:prstDash val="solid"/>
          </a:ln>
        </p:spPr>
      </p:sp>
      <p:pic>
        <p:nvPicPr>
          <p:cNvPr id="21" name="icon-25" descr="preencoded.png">    </p:cNvPr>
          <p:cNvPicPr>
            <a:picLocks noChangeAspect="1"/>
          </p:cNvPicPr>
          <p:nvPr/>
        </p:nvPicPr>
        <p:blipFill>
          <a:blip r:embed="rId3"/>
          <a:stretch>
            <a:fillRect/>
          </a:stretch>
        </p:blipFill>
        <p:spPr>
          <a:xfrm>
            <a:off x="5404104" y="1911096"/>
            <a:ext cx="256032" cy="256032"/>
          </a:xfrm>
          <a:prstGeom prst="rect">
            <a:avLst/>
          </a:prstGeom>
        </p:spPr>
      </p:pic>
      <p:sp>
        <p:nvSpPr>
          <p:cNvPr id="22" name="cardkicker-26"/>
          <p:cNvSpPr txBox="1"/>
          <p:nvPr/>
        </p:nvSpPr>
        <p:spPr>
          <a:xfrm>
            <a:off x="5276088" y="2423160"/>
            <a:ext cx="1627632" cy="237744"/>
          </a:xfrm>
          <a:prstGeom prst="rect">
            <a:avLst/>
          </a:prstGeom>
          <a:noFill/>
          <a:ln/>
        </p:spPr>
        <p:txBody>
          <a:bodyPr wrap="square" lIns="0" tIns="0" rIns="0" bIns="0" rtlCol="0" anchor="ctr"/>
          <a:lstStyle/>
          <a:p>
            <a:pPr indent="0" marL="0">
              <a:buNone/>
            </a:pPr>
            <a:r>
              <a:rPr lang="en-US" sz="1000" b="1" spc="200" kern="0" dirty="0">
                <a:solidFill>
                  <a:schemeClr val="accent1"/>
                </a:solidFill>
              </a:rPr>
              <a:t>STEP 3</a:t>
            </a:r>
            <a:endParaRPr lang="en-US" sz="1000" dirty="0"/>
          </a:p>
        </p:txBody>
      </p:sp>
      <p:sp>
        <p:nvSpPr>
          <p:cNvPr id="23" name="cardtitle-27"/>
          <p:cNvSpPr txBox="1"/>
          <p:nvPr/>
        </p:nvSpPr>
        <p:spPr>
          <a:xfrm>
            <a:off x="5276088" y="2697480"/>
            <a:ext cx="1627632" cy="329184"/>
          </a:xfrm>
          <a:prstGeom prst="rect">
            <a:avLst/>
          </a:prstGeom>
          <a:noFill/>
          <a:ln/>
        </p:spPr>
        <p:txBody>
          <a:bodyPr wrap="square" lIns="0" tIns="0" rIns="0" bIns="0" rtlCol="0" anchor="t"/>
          <a:lstStyle/>
          <a:p>
            <a:pPr indent="0" marL="0">
              <a:buNone/>
            </a:pPr>
            <a:r>
              <a:rPr lang="en-US" sz="1700" b="1" dirty="0">
                <a:solidFill>
                  <a:schemeClr val="tx1"/>
                </a:solidFill>
              </a:rPr>
              <a:t>Retrieve</a:t>
            </a:r>
            <a:endParaRPr lang="en-US" sz="1700" dirty="0"/>
          </a:p>
        </p:txBody>
      </p:sp>
      <p:sp>
        <p:nvSpPr>
          <p:cNvPr id="24" name="cardbody-28"/>
          <p:cNvSpPr txBox="1"/>
          <p:nvPr/>
        </p:nvSpPr>
        <p:spPr>
          <a:xfrm>
            <a:off x="5276088" y="3081528"/>
            <a:ext cx="1627632" cy="896112"/>
          </a:xfrm>
          <a:prstGeom prst="rect">
            <a:avLst/>
          </a:prstGeom>
          <a:noFill/>
          <a:ln/>
        </p:spPr>
        <p:txBody>
          <a:bodyPr wrap="square" lIns="0" tIns="0" rIns="0" bIns="0" rtlCol="0" anchor="t"/>
          <a:lstStyle/>
          <a:p>
            <a:pPr indent="0" marL="0">
              <a:buNone/>
            </a:pPr>
            <a:r>
              <a:rPr lang="en-US" sz="1300" dirty="0">
                <a:solidFill>
                  <a:schemeClr val="tx2"/>
                </a:solidFill>
              </a:rPr>
              <a:t>Vector search, then re-rank on four signals</a:t>
            </a:r>
            <a:endParaRPr lang="en-US" sz="1300" dirty="0"/>
          </a:p>
        </p:txBody>
      </p:sp>
      <p:sp>
        <p:nvSpPr>
          <p:cNvPr id="25" name="arrow-29"/>
          <p:cNvSpPr/>
          <p:nvPr/>
        </p:nvSpPr>
        <p:spPr>
          <a:xfrm>
            <a:off x="7123176" y="2857500"/>
            <a:ext cx="228600" cy="914"/>
          </a:xfrm>
          <a:prstGeom prst="line">
            <a:avLst/>
          </a:prstGeom>
          <a:noFill/>
          <a:ln w="19050">
            <a:solidFill>
              <a:schemeClr val="tx2"/>
            </a:solidFill>
            <a:prstDash val="solid"/>
            <a:tailEnd type="triangle"/>
          </a:ln>
        </p:spPr>
      </p:sp>
      <p:sp>
        <p:nvSpPr>
          <p:cNvPr id="26" name="card-30"/>
          <p:cNvSpPr/>
          <p:nvPr/>
        </p:nvSpPr>
        <p:spPr>
          <a:xfrm>
            <a:off x="7388352" y="1600200"/>
            <a:ext cx="1993392" cy="2514600"/>
          </a:xfrm>
          <a:prstGeom prst="roundRect">
            <a:avLst>
              <a:gd name="adj" fmla="val 4587"/>
            </a:avLst>
          </a:prstGeom>
          <a:solidFill>
            <a:schemeClr val="bg2"/>
          </a:solidFill>
          <a:ln w="12700">
            <a:solidFill>
              <a:schemeClr val="accent6"/>
            </a:solidFill>
            <a:prstDash val="solid"/>
          </a:ln>
        </p:spPr>
      </p:sp>
      <p:sp>
        <p:nvSpPr>
          <p:cNvPr id="27" name="iconbg-31"/>
          <p:cNvSpPr/>
          <p:nvPr/>
        </p:nvSpPr>
        <p:spPr>
          <a:xfrm>
            <a:off x="7571232" y="1783080"/>
            <a:ext cx="512064" cy="512064"/>
          </a:xfrm>
          <a:prstGeom prst="ellipse">
            <a:avLst/>
          </a:prstGeom>
          <a:solidFill>
            <a:schemeClr val="bg1"/>
          </a:solidFill>
          <a:ln w="15875">
            <a:solidFill>
              <a:schemeClr val="accent1"/>
            </a:solidFill>
            <a:prstDash val="solid"/>
          </a:ln>
        </p:spPr>
      </p:sp>
      <p:pic>
        <p:nvPicPr>
          <p:cNvPr id="28" name="icon-32" descr="preencoded.png">    </p:cNvPr>
          <p:cNvPicPr>
            <a:picLocks noChangeAspect="1"/>
          </p:cNvPicPr>
          <p:nvPr/>
        </p:nvPicPr>
        <p:blipFill>
          <a:blip r:embed="rId4"/>
          <a:stretch>
            <a:fillRect/>
          </a:stretch>
        </p:blipFill>
        <p:spPr>
          <a:xfrm>
            <a:off x="7699248" y="1911096"/>
            <a:ext cx="256032" cy="256032"/>
          </a:xfrm>
          <a:prstGeom prst="rect">
            <a:avLst/>
          </a:prstGeom>
        </p:spPr>
      </p:pic>
      <p:sp>
        <p:nvSpPr>
          <p:cNvPr id="29" name="cardkicker-33"/>
          <p:cNvSpPr txBox="1"/>
          <p:nvPr/>
        </p:nvSpPr>
        <p:spPr>
          <a:xfrm>
            <a:off x="7571232" y="2423160"/>
            <a:ext cx="1627632" cy="237744"/>
          </a:xfrm>
          <a:prstGeom prst="rect">
            <a:avLst/>
          </a:prstGeom>
          <a:noFill/>
          <a:ln/>
        </p:spPr>
        <p:txBody>
          <a:bodyPr wrap="square" lIns="0" tIns="0" rIns="0" bIns="0" rtlCol="0" anchor="ctr"/>
          <a:lstStyle/>
          <a:p>
            <a:pPr indent="0" marL="0">
              <a:buNone/>
            </a:pPr>
            <a:r>
              <a:rPr lang="en-US" sz="1000" b="1" spc="200" kern="0" dirty="0">
                <a:solidFill>
                  <a:schemeClr val="accent1"/>
                </a:solidFill>
              </a:rPr>
              <a:t>STEP 4</a:t>
            </a:r>
            <a:endParaRPr lang="en-US" sz="1000" dirty="0"/>
          </a:p>
        </p:txBody>
      </p:sp>
      <p:sp>
        <p:nvSpPr>
          <p:cNvPr id="30" name="cardtitle-34"/>
          <p:cNvSpPr txBox="1"/>
          <p:nvPr/>
        </p:nvSpPr>
        <p:spPr>
          <a:xfrm>
            <a:off x="7571232" y="2697480"/>
            <a:ext cx="1627632" cy="329184"/>
          </a:xfrm>
          <a:prstGeom prst="rect">
            <a:avLst/>
          </a:prstGeom>
          <a:noFill/>
          <a:ln/>
        </p:spPr>
        <p:txBody>
          <a:bodyPr wrap="square" lIns="0" tIns="0" rIns="0" bIns="0" rtlCol="0" anchor="t"/>
          <a:lstStyle/>
          <a:p>
            <a:pPr indent="0" marL="0">
              <a:buNone/>
            </a:pPr>
            <a:r>
              <a:rPr lang="en-US" sz="1700" b="1" dirty="0">
                <a:solidFill>
                  <a:schemeClr val="tx1"/>
                </a:solidFill>
              </a:rPr>
              <a:t>Generate</a:t>
            </a:r>
            <a:endParaRPr lang="en-US" sz="1700" dirty="0"/>
          </a:p>
        </p:txBody>
      </p:sp>
      <p:sp>
        <p:nvSpPr>
          <p:cNvPr id="31" name="cardbody-35"/>
          <p:cNvSpPr txBox="1"/>
          <p:nvPr/>
        </p:nvSpPr>
        <p:spPr>
          <a:xfrm>
            <a:off x="7571232" y="3081528"/>
            <a:ext cx="1627632" cy="896112"/>
          </a:xfrm>
          <a:prstGeom prst="rect">
            <a:avLst/>
          </a:prstGeom>
          <a:noFill/>
          <a:ln/>
        </p:spPr>
        <p:txBody>
          <a:bodyPr wrap="square" lIns="0" tIns="0" rIns="0" bIns="0" rtlCol="0" anchor="t"/>
          <a:lstStyle/>
          <a:p>
            <a:pPr indent="0" marL="0">
              <a:buNone/>
            </a:pPr>
            <a:r>
              <a:rPr lang="en-US" sz="1300" dirty="0">
                <a:solidFill>
                  <a:schemeClr val="tx2"/>
                </a:solidFill>
              </a:rPr>
              <a:t>The LLM answers and cites [n]</a:t>
            </a:r>
            <a:endParaRPr lang="en-US" sz="1300" dirty="0"/>
          </a:p>
        </p:txBody>
      </p:sp>
      <p:sp>
        <p:nvSpPr>
          <p:cNvPr id="32" name="arrow-36"/>
          <p:cNvSpPr/>
          <p:nvPr/>
        </p:nvSpPr>
        <p:spPr>
          <a:xfrm>
            <a:off x="9418320" y="2857500"/>
            <a:ext cx="228600" cy="914"/>
          </a:xfrm>
          <a:prstGeom prst="line">
            <a:avLst/>
          </a:prstGeom>
          <a:noFill/>
          <a:ln w="19050">
            <a:solidFill>
              <a:schemeClr val="tx2"/>
            </a:solidFill>
            <a:prstDash val="solid"/>
            <a:tailEnd type="triangle"/>
          </a:ln>
        </p:spPr>
      </p:sp>
      <p:sp>
        <p:nvSpPr>
          <p:cNvPr id="33" name="card-37"/>
          <p:cNvSpPr/>
          <p:nvPr/>
        </p:nvSpPr>
        <p:spPr>
          <a:xfrm>
            <a:off x="9683496" y="1600200"/>
            <a:ext cx="1993392" cy="2514600"/>
          </a:xfrm>
          <a:prstGeom prst="roundRect">
            <a:avLst>
              <a:gd name="adj" fmla="val 4587"/>
            </a:avLst>
          </a:prstGeom>
          <a:solidFill>
            <a:schemeClr val="bg2"/>
          </a:solidFill>
          <a:ln w="12700">
            <a:solidFill>
              <a:schemeClr val="accent6"/>
            </a:solidFill>
            <a:prstDash val="solid"/>
          </a:ln>
        </p:spPr>
      </p:sp>
      <p:sp>
        <p:nvSpPr>
          <p:cNvPr id="34" name="iconbg-38"/>
          <p:cNvSpPr/>
          <p:nvPr/>
        </p:nvSpPr>
        <p:spPr>
          <a:xfrm>
            <a:off x="9866376" y="1783080"/>
            <a:ext cx="512064" cy="512064"/>
          </a:xfrm>
          <a:prstGeom prst="ellipse">
            <a:avLst/>
          </a:prstGeom>
          <a:solidFill>
            <a:schemeClr val="bg1"/>
          </a:solidFill>
          <a:ln w="15875">
            <a:solidFill>
              <a:schemeClr val="accent1"/>
            </a:solidFill>
            <a:prstDash val="solid"/>
          </a:ln>
        </p:spPr>
      </p:sp>
      <p:pic>
        <p:nvPicPr>
          <p:cNvPr id="35" name="icon-39" descr="preencoded.png">    </p:cNvPr>
          <p:cNvPicPr>
            <a:picLocks noChangeAspect="1"/>
          </p:cNvPicPr>
          <p:nvPr/>
        </p:nvPicPr>
        <p:blipFill>
          <a:blip r:embed="rId5"/>
          <a:stretch>
            <a:fillRect/>
          </a:stretch>
        </p:blipFill>
        <p:spPr>
          <a:xfrm>
            <a:off x="9994392" y="1911096"/>
            <a:ext cx="256032" cy="256032"/>
          </a:xfrm>
          <a:prstGeom prst="rect">
            <a:avLst/>
          </a:prstGeom>
        </p:spPr>
      </p:pic>
      <p:sp>
        <p:nvSpPr>
          <p:cNvPr id="36" name="cardkicker-40"/>
          <p:cNvSpPr txBox="1"/>
          <p:nvPr/>
        </p:nvSpPr>
        <p:spPr>
          <a:xfrm>
            <a:off x="9866376" y="2423160"/>
            <a:ext cx="1627632" cy="237744"/>
          </a:xfrm>
          <a:prstGeom prst="rect">
            <a:avLst/>
          </a:prstGeom>
          <a:noFill/>
          <a:ln/>
        </p:spPr>
        <p:txBody>
          <a:bodyPr wrap="square" lIns="0" tIns="0" rIns="0" bIns="0" rtlCol="0" anchor="ctr"/>
          <a:lstStyle/>
          <a:p>
            <a:pPr indent="0" marL="0">
              <a:buNone/>
            </a:pPr>
            <a:r>
              <a:rPr lang="en-US" sz="1000" b="1" spc="200" kern="0" dirty="0">
                <a:solidFill>
                  <a:schemeClr val="accent1"/>
                </a:solidFill>
              </a:rPr>
              <a:t>STEP 5</a:t>
            </a:r>
            <a:endParaRPr lang="en-US" sz="1000" dirty="0"/>
          </a:p>
        </p:txBody>
      </p:sp>
      <p:sp>
        <p:nvSpPr>
          <p:cNvPr id="37" name="cardtitle-41"/>
          <p:cNvSpPr txBox="1"/>
          <p:nvPr/>
        </p:nvSpPr>
        <p:spPr>
          <a:xfrm>
            <a:off x="9866376" y="2697480"/>
            <a:ext cx="1627632" cy="329184"/>
          </a:xfrm>
          <a:prstGeom prst="rect">
            <a:avLst/>
          </a:prstGeom>
          <a:noFill/>
          <a:ln/>
        </p:spPr>
        <p:txBody>
          <a:bodyPr wrap="square" lIns="0" tIns="0" rIns="0" bIns="0" rtlCol="0" anchor="t"/>
          <a:lstStyle/>
          <a:p>
            <a:pPr indent="0" marL="0">
              <a:buNone/>
            </a:pPr>
            <a:r>
              <a:rPr lang="en-US" sz="1700" b="1" dirty="0">
                <a:solidFill>
                  <a:schemeClr val="tx1"/>
                </a:solidFill>
              </a:rPr>
              <a:t>Learn</a:t>
            </a:r>
            <a:endParaRPr lang="en-US" sz="1700" dirty="0"/>
          </a:p>
        </p:txBody>
      </p:sp>
      <p:sp>
        <p:nvSpPr>
          <p:cNvPr id="38" name="cardbody-42"/>
          <p:cNvSpPr txBox="1"/>
          <p:nvPr/>
        </p:nvSpPr>
        <p:spPr>
          <a:xfrm>
            <a:off x="9866376" y="3081528"/>
            <a:ext cx="1627632" cy="896112"/>
          </a:xfrm>
          <a:prstGeom prst="rect">
            <a:avLst/>
          </a:prstGeom>
          <a:noFill/>
          <a:ln/>
        </p:spPr>
        <p:txBody>
          <a:bodyPr wrap="square" lIns="0" tIns="0" rIns="0" bIns="0" rtlCol="0" anchor="t"/>
          <a:lstStyle/>
          <a:p>
            <a:pPr indent="0" marL="0">
              <a:buNone/>
            </a:pPr>
            <a:r>
              <a:rPr lang="en-US" sz="1300" dirty="0">
                <a:solidFill>
                  <a:schemeClr val="tx2"/>
                </a:solidFill>
              </a:rPr>
              <a:t>Feedback moves weights and source trust</a:t>
            </a:r>
            <a:endParaRPr lang="en-US" sz="1300" dirty="0"/>
          </a:p>
        </p:txBody>
      </p:sp>
      <p:sp>
        <p:nvSpPr>
          <p:cNvPr id="39" name="Shape 31"/>
          <p:cNvSpPr/>
          <p:nvPr/>
        </p:nvSpPr>
        <p:spPr>
          <a:xfrm>
            <a:off x="502920" y="4572000"/>
            <a:ext cx="5440680" cy="1280160"/>
          </a:xfrm>
          <a:prstGeom prst="roundRect">
            <a:avLst>
              <a:gd name="adj" fmla="val 7143"/>
            </a:avLst>
          </a:prstGeom>
          <a:solidFill>
            <a:schemeClr val="bg2"/>
          </a:solidFill>
          <a:ln w="12700">
            <a:solidFill>
              <a:schemeClr val="accent1"/>
            </a:solidFill>
            <a:prstDash val="solid"/>
          </a:ln>
        </p:spPr>
      </p:sp>
      <p:sp>
        <p:nvSpPr>
          <p:cNvPr id="40" name="Text 32"/>
          <p:cNvSpPr txBox="1"/>
          <p:nvPr/>
        </p:nvSpPr>
        <p:spPr>
          <a:xfrm>
            <a:off x="731520" y="4690872"/>
            <a:ext cx="5029200" cy="1097280"/>
          </a:xfrm>
          <a:prstGeom prst="rect">
            <a:avLst/>
          </a:prstGeom>
          <a:noFill/>
          <a:ln/>
        </p:spPr>
        <p:txBody>
          <a:bodyPr wrap="square" lIns="0" tIns="0" rIns="0" bIns="0" rtlCol="0" anchor="t"/>
          <a:lstStyle/>
          <a:p>
            <a:pPr indent="0" marL="0">
              <a:spcAft>
                <a:spcPts val="300"/>
              </a:spcAft>
              <a:buNone/>
            </a:pPr>
            <a:r>
              <a:rPr lang="en-US" sz="1100" b="1" spc="300" kern="0" dirty="0">
                <a:solidFill>
                  <a:schemeClr val="accent1"/>
                </a:solidFill>
              </a:rPr>
              <a:t>LEARNS</a:t>
            </a:r>
            <a:endParaRPr lang="en-US" sz="1100" dirty="0"/>
          </a:p>
          <a:p>
            <a:pPr marL="342900" indent="-342900">
              <a:spcAft>
                <a:spcPts val="300"/>
              </a:spcAft>
              <a:buSzPct val="100000"/>
              <a:buChar char="•"/>
            </a:pPr>
            <a:r>
              <a:rPr lang="en-US" sz="1400" dirty="0">
                <a:solidFill>
                  <a:schemeClr val="tx1"/>
                </a:solidFill>
              </a:rPr>
              <a:t>Memories — added, replaced, expired</a:t>
            </a:r>
            <a:endParaRPr lang="en-US" sz="1100" dirty="0"/>
          </a:p>
          <a:p>
            <a:pPr marL="342900" indent="-342900">
              <a:spcAft>
                <a:spcPts val="300"/>
              </a:spcAft>
              <a:buSzPct val="100000"/>
              <a:buChar char="•"/>
            </a:pPr>
            <a:r>
              <a:rPr lang="en-US" sz="1400" dirty="0">
                <a:solidFill>
                  <a:schemeClr val="tx1"/>
                </a:solidFill>
              </a:rPr>
              <a:t>How much each source is trusted</a:t>
            </a:r>
            <a:endParaRPr lang="en-US" sz="1100" dirty="0"/>
          </a:p>
          <a:p>
            <a:pPr marL="342900" indent="-342900">
              <a:spcAft>
                <a:spcPts val="300"/>
              </a:spcAft>
              <a:buSzPct val="100000"/>
              <a:buChar char="•"/>
            </a:pPr>
            <a:r>
              <a:rPr lang="en-US" sz="1400" dirty="0">
                <a:solidFill>
                  <a:schemeClr val="tx1"/>
                </a:solidFill>
              </a:rPr>
              <a:t>How the four ranking signals are weighed</a:t>
            </a:r>
            <a:endParaRPr lang="en-US" sz="1100" dirty="0"/>
          </a:p>
        </p:txBody>
      </p:sp>
      <p:sp>
        <p:nvSpPr>
          <p:cNvPr id="41" name="Shape 33"/>
          <p:cNvSpPr/>
          <p:nvPr/>
        </p:nvSpPr>
        <p:spPr>
          <a:xfrm>
            <a:off x="6245352" y="4572000"/>
            <a:ext cx="5440680" cy="1280160"/>
          </a:xfrm>
          <a:prstGeom prst="roundRect">
            <a:avLst>
              <a:gd name="adj" fmla="val 7143"/>
            </a:avLst>
          </a:prstGeom>
          <a:solidFill>
            <a:schemeClr val="bg2"/>
          </a:solidFill>
          <a:ln w="12700">
            <a:solidFill>
              <a:schemeClr val="accent3"/>
            </a:solidFill>
            <a:prstDash val="solid"/>
          </a:ln>
        </p:spPr>
      </p:sp>
      <p:sp>
        <p:nvSpPr>
          <p:cNvPr id="42" name="Text 34"/>
          <p:cNvSpPr txBox="1"/>
          <p:nvPr/>
        </p:nvSpPr>
        <p:spPr>
          <a:xfrm>
            <a:off x="6473952" y="4690872"/>
            <a:ext cx="5029200" cy="1097280"/>
          </a:xfrm>
          <a:prstGeom prst="rect">
            <a:avLst/>
          </a:prstGeom>
          <a:noFill/>
          <a:ln/>
        </p:spPr>
        <p:txBody>
          <a:bodyPr wrap="square" lIns="0" tIns="0" rIns="0" bIns="0" rtlCol="0" anchor="t"/>
          <a:lstStyle/>
          <a:p>
            <a:pPr indent="0" marL="0">
              <a:spcAft>
                <a:spcPts val="300"/>
              </a:spcAft>
              <a:buNone/>
            </a:pPr>
            <a:r>
              <a:rPr lang="en-US" sz="1100" b="1" spc="300" kern="0" dirty="0">
                <a:solidFill>
                  <a:schemeClr val="accent3"/>
                </a:solidFill>
              </a:rPr>
              <a:t>STAYS FIXED</a:t>
            </a:r>
            <a:endParaRPr lang="en-US" sz="1100" dirty="0"/>
          </a:p>
          <a:p>
            <a:pPr marL="342900" indent="-342900">
              <a:spcAft>
                <a:spcPts val="300"/>
              </a:spcAft>
              <a:buSzPct val="100000"/>
              <a:buChar char="•"/>
            </a:pPr>
            <a:r>
              <a:rPr lang="en-US" sz="1400" dirty="0">
                <a:solidFill>
                  <a:schemeClr val="tx1"/>
                </a:solidFill>
              </a:rPr>
              <a:t>The language model — never trained or fine-tuned</a:t>
            </a:r>
            <a:endParaRPr lang="en-US" sz="1100" dirty="0"/>
          </a:p>
          <a:p>
            <a:pPr marL="342900" indent="-342900">
              <a:spcAft>
                <a:spcPts val="300"/>
              </a:spcAft>
              <a:buSzPct val="100000"/>
              <a:buChar char="•"/>
            </a:pPr>
            <a:r>
              <a:rPr lang="en-US" sz="1400" dirty="0">
                <a:solidFill>
                  <a:schemeClr val="tx1"/>
                </a:solidFill>
              </a:rPr>
              <a:t>Your original documents</a:t>
            </a:r>
            <a:endParaRPr lang="en-US" sz="1100" dirty="0"/>
          </a:p>
          <a:p>
            <a:pPr marL="342900" indent="-342900">
              <a:spcAft>
                <a:spcPts val="300"/>
              </a:spcAft>
              <a:buSzPct val="100000"/>
              <a:buChar char="•"/>
            </a:pPr>
            <a:r>
              <a:rPr lang="en-US" sz="1400" dirty="0">
                <a:solidFill>
                  <a:schemeClr val="tx1"/>
                </a:solidFill>
              </a:rPr>
              <a:t>Everything is visible and can be undone</a:t>
            </a:r>
            <a:endParaRPr lang="en-US" sz="11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THE WEBSITE</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Five pages, one system</a:t>
            </a:r>
            <a:endParaRPr lang="en-US" sz="3200" dirty="0"/>
          </a:p>
        </p:txBody>
      </p:sp>
      <p:sp>
        <p:nvSpPr>
          <p:cNvPr id="5" name="frame-43"/>
          <p:cNvSpPr/>
          <p:nvPr/>
        </p:nvSpPr>
        <p:spPr>
          <a:xfrm>
            <a:off x="502920" y="1597152"/>
            <a:ext cx="2157984" cy="1469136"/>
          </a:xfrm>
          <a:prstGeom prst="roundRect">
            <a:avLst>
              <a:gd name="adj" fmla="val 4357"/>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44" descr="Landing">    </p:cNvPr>
          <p:cNvPicPr>
            <a:picLocks noChangeAspect="1"/>
          </p:cNvPicPr>
          <p:nvPr/>
        </p:nvPicPr>
        <p:blipFill>
          <a:blip r:embed="rId1"/>
          <a:stretch>
            <a:fillRect/>
          </a:stretch>
        </p:blipFill>
        <p:spPr>
          <a:xfrm>
            <a:off x="548640" y="1642872"/>
            <a:ext cx="2066544" cy="1377696"/>
          </a:xfrm>
          <a:prstGeom prst="rect">
            <a:avLst/>
          </a:prstGeom>
        </p:spPr>
      </p:pic>
      <p:sp>
        <p:nvSpPr>
          <p:cNvPr id="7" name="caption-45"/>
          <p:cNvSpPr txBox="1"/>
          <p:nvPr/>
        </p:nvSpPr>
        <p:spPr>
          <a:xfrm>
            <a:off x="548640" y="3246120"/>
            <a:ext cx="2066544" cy="274320"/>
          </a:xfrm>
          <a:prstGeom prst="rect">
            <a:avLst/>
          </a:prstGeom>
          <a:noFill/>
          <a:ln/>
        </p:spPr>
        <p:txBody>
          <a:bodyPr wrap="square" lIns="0" tIns="0" rIns="0" bIns="0" rtlCol="0" anchor="t"/>
          <a:lstStyle/>
          <a:p>
            <a:pPr algn="l" indent="0" marL="0">
              <a:buNone/>
            </a:pPr>
            <a:r>
              <a:rPr lang="en-US" sz="1400" b="1" dirty="0">
                <a:solidFill>
                  <a:schemeClr val="tx1"/>
                </a:solidFill>
              </a:rPr>
              <a:t>Landing</a:t>
            </a:r>
            <a:endParaRPr lang="en-US" sz="1400" dirty="0"/>
          </a:p>
        </p:txBody>
      </p:sp>
      <p:sp>
        <p:nvSpPr>
          <p:cNvPr id="8" name="caption-46"/>
          <p:cNvSpPr txBox="1"/>
          <p:nvPr/>
        </p:nvSpPr>
        <p:spPr>
          <a:xfrm>
            <a:off x="548640" y="3566160"/>
            <a:ext cx="2066544" cy="640080"/>
          </a:xfrm>
          <a:prstGeom prst="rect">
            <a:avLst/>
          </a:prstGeom>
          <a:noFill/>
          <a:ln/>
        </p:spPr>
        <p:txBody>
          <a:bodyPr wrap="square" lIns="0" tIns="0" rIns="0" bIns="0" rtlCol="0" anchor="t"/>
          <a:lstStyle/>
          <a:p>
            <a:pPr algn="l" indent="0" marL="0">
              <a:buNone/>
            </a:pPr>
            <a:r>
              <a:rPr lang="en-US" sz="1200" dirty="0">
                <a:solidFill>
                  <a:schemeClr val="tx2"/>
                </a:solidFill>
              </a:rPr>
              <a:t>/  ·  The story in one scroll over a live 3-D terrain</a:t>
            </a:r>
            <a:endParaRPr lang="en-US" sz="1200" dirty="0"/>
          </a:p>
        </p:txBody>
      </p:sp>
      <p:sp>
        <p:nvSpPr>
          <p:cNvPr id="9" name="frame-47"/>
          <p:cNvSpPr/>
          <p:nvPr/>
        </p:nvSpPr>
        <p:spPr>
          <a:xfrm>
            <a:off x="2770632" y="1597152"/>
            <a:ext cx="2157984" cy="1469136"/>
          </a:xfrm>
          <a:prstGeom prst="roundRect">
            <a:avLst>
              <a:gd name="adj" fmla="val 4357"/>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10" name="shot-48" descr="Console">    </p:cNvPr>
          <p:cNvPicPr>
            <a:picLocks noChangeAspect="1"/>
          </p:cNvPicPr>
          <p:nvPr/>
        </p:nvPicPr>
        <p:blipFill>
          <a:blip r:embed="rId2"/>
          <a:stretch>
            <a:fillRect/>
          </a:stretch>
        </p:blipFill>
        <p:spPr>
          <a:xfrm>
            <a:off x="2816352" y="1642872"/>
            <a:ext cx="2066544" cy="1377696"/>
          </a:xfrm>
          <a:prstGeom prst="rect">
            <a:avLst/>
          </a:prstGeom>
        </p:spPr>
      </p:pic>
      <p:sp>
        <p:nvSpPr>
          <p:cNvPr id="11" name="caption-49"/>
          <p:cNvSpPr txBox="1"/>
          <p:nvPr/>
        </p:nvSpPr>
        <p:spPr>
          <a:xfrm>
            <a:off x="2816352" y="3246120"/>
            <a:ext cx="2066544" cy="274320"/>
          </a:xfrm>
          <a:prstGeom prst="rect">
            <a:avLst/>
          </a:prstGeom>
          <a:noFill/>
          <a:ln/>
        </p:spPr>
        <p:txBody>
          <a:bodyPr wrap="square" lIns="0" tIns="0" rIns="0" bIns="0" rtlCol="0" anchor="t"/>
          <a:lstStyle/>
          <a:p>
            <a:pPr algn="l" indent="0" marL="0">
              <a:buNone/>
            </a:pPr>
            <a:r>
              <a:rPr lang="en-US" sz="1400" b="1" dirty="0">
                <a:solidFill>
                  <a:schemeClr val="tx1"/>
                </a:solidFill>
              </a:rPr>
              <a:t>Console</a:t>
            </a:r>
            <a:endParaRPr lang="en-US" sz="1400" dirty="0"/>
          </a:p>
        </p:txBody>
      </p:sp>
      <p:sp>
        <p:nvSpPr>
          <p:cNvPr id="12" name="caption-50"/>
          <p:cNvSpPr txBox="1"/>
          <p:nvPr/>
        </p:nvSpPr>
        <p:spPr>
          <a:xfrm>
            <a:off x="2816352" y="3566160"/>
            <a:ext cx="2066544" cy="640080"/>
          </a:xfrm>
          <a:prstGeom prst="rect">
            <a:avLst/>
          </a:prstGeom>
          <a:noFill/>
          <a:ln/>
        </p:spPr>
        <p:txBody>
          <a:bodyPr wrap="square" lIns="0" tIns="0" rIns="0" bIns="0" rtlCol="0" anchor="t"/>
          <a:lstStyle/>
          <a:p>
            <a:pPr algn="l" indent="0" marL="0">
              <a:buNone/>
            </a:pPr>
            <a:r>
              <a:rPr lang="en-US" sz="1200" dirty="0">
                <a:solidFill>
                  <a:schemeClr val="tx2"/>
                </a:solidFill>
              </a:rPr>
              <a:t>/console  ·  Chat with every pipeline step shown as it happens</a:t>
            </a:r>
            <a:endParaRPr lang="en-US" sz="1200" dirty="0"/>
          </a:p>
        </p:txBody>
      </p:sp>
      <p:sp>
        <p:nvSpPr>
          <p:cNvPr id="13" name="frame-51"/>
          <p:cNvSpPr/>
          <p:nvPr/>
        </p:nvSpPr>
        <p:spPr>
          <a:xfrm>
            <a:off x="5038344" y="1597152"/>
            <a:ext cx="2157984" cy="1469136"/>
          </a:xfrm>
          <a:prstGeom prst="roundRect">
            <a:avLst>
              <a:gd name="adj" fmla="val 4357"/>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14" name="shot-52" descr="Memory">    </p:cNvPr>
          <p:cNvPicPr>
            <a:picLocks noChangeAspect="1"/>
          </p:cNvPicPr>
          <p:nvPr/>
        </p:nvPicPr>
        <p:blipFill>
          <a:blip r:embed="rId3"/>
          <a:stretch>
            <a:fillRect/>
          </a:stretch>
        </p:blipFill>
        <p:spPr>
          <a:xfrm>
            <a:off x="5084064" y="1642872"/>
            <a:ext cx="2066544" cy="1377696"/>
          </a:xfrm>
          <a:prstGeom prst="rect">
            <a:avLst/>
          </a:prstGeom>
        </p:spPr>
      </p:pic>
      <p:sp>
        <p:nvSpPr>
          <p:cNvPr id="15" name="caption-53"/>
          <p:cNvSpPr txBox="1"/>
          <p:nvPr/>
        </p:nvSpPr>
        <p:spPr>
          <a:xfrm>
            <a:off x="5084064" y="3246120"/>
            <a:ext cx="2066544" cy="274320"/>
          </a:xfrm>
          <a:prstGeom prst="rect">
            <a:avLst/>
          </a:prstGeom>
          <a:noFill/>
          <a:ln/>
        </p:spPr>
        <p:txBody>
          <a:bodyPr wrap="square" lIns="0" tIns="0" rIns="0" bIns="0" rtlCol="0" anchor="t"/>
          <a:lstStyle/>
          <a:p>
            <a:pPr algn="l" indent="0" marL="0">
              <a:buNone/>
            </a:pPr>
            <a:r>
              <a:rPr lang="en-US" sz="1400" b="1" dirty="0">
                <a:solidFill>
                  <a:schemeClr val="tx1"/>
                </a:solidFill>
              </a:rPr>
              <a:t>Memory</a:t>
            </a:r>
            <a:endParaRPr lang="en-US" sz="1400" dirty="0"/>
          </a:p>
        </p:txBody>
      </p:sp>
      <p:sp>
        <p:nvSpPr>
          <p:cNvPr id="16" name="caption-54"/>
          <p:cNvSpPr txBox="1"/>
          <p:nvPr/>
        </p:nvSpPr>
        <p:spPr>
          <a:xfrm>
            <a:off x="5084064" y="3566160"/>
            <a:ext cx="2066544" cy="640080"/>
          </a:xfrm>
          <a:prstGeom prst="rect">
            <a:avLst/>
          </a:prstGeom>
          <a:noFill/>
          <a:ln/>
        </p:spPr>
        <p:txBody>
          <a:bodyPr wrap="square" lIns="0" tIns="0" rIns="0" bIns="0" rtlCol="0" anchor="t"/>
          <a:lstStyle/>
          <a:p>
            <a:pPr algn="l" indent="0" marL="0">
              <a:buNone/>
            </a:pPr>
            <a:r>
              <a:rPr lang="en-US" sz="1200" dirty="0">
                <a:solidFill>
                  <a:schemeClr val="tx2"/>
                </a:solidFill>
              </a:rPr>
              <a:t>/memory  ·  What it learned: cards, 3-D terrain, timeline</a:t>
            </a:r>
            <a:endParaRPr lang="en-US" sz="1200" dirty="0"/>
          </a:p>
        </p:txBody>
      </p:sp>
      <p:sp>
        <p:nvSpPr>
          <p:cNvPr id="17" name="frame-55"/>
          <p:cNvSpPr/>
          <p:nvPr/>
        </p:nvSpPr>
        <p:spPr>
          <a:xfrm>
            <a:off x="7306056" y="1597152"/>
            <a:ext cx="2157984" cy="1469136"/>
          </a:xfrm>
          <a:prstGeom prst="roundRect">
            <a:avLst>
              <a:gd name="adj" fmla="val 4357"/>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18" name="shot-56" descr="Retrieval lab">    </p:cNvPr>
          <p:cNvPicPr>
            <a:picLocks noChangeAspect="1"/>
          </p:cNvPicPr>
          <p:nvPr/>
        </p:nvPicPr>
        <p:blipFill>
          <a:blip r:embed="rId4"/>
          <a:stretch>
            <a:fillRect/>
          </a:stretch>
        </p:blipFill>
        <p:spPr>
          <a:xfrm>
            <a:off x="7351776" y="1642872"/>
            <a:ext cx="2066544" cy="1377696"/>
          </a:xfrm>
          <a:prstGeom prst="rect">
            <a:avLst/>
          </a:prstGeom>
        </p:spPr>
      </p:pic>
      <p:sp>
        <p:nvSpPr>
          <p:cNvPr id="19" name="caption-57"/>
          <p:cNvSpPr txBox="1"/>
          <p:nvPr/>
        </p:nvSpPr>
        <p:spPr>
          <a:xfrm>
            <a:off x="7351776" y="3246120"/>
            <a:ext cx="2066544" cy="274320"/>
          </a:xfrm>
          <a:prstGeom prst="rect">
            <a:avLst/>
          </a:prstGeom>
          <a:noFill/>
          <a:ln/>
        </p:spPr>
        <p:txBody>
          <a:bodyPr wrap="square" lIns="0" tIns="0" rIns="0" bIns="0" rtlCol="0" anchor="t"/>
          <a:lstStyle/>
          <a:p>
            <a:pPr algn="l" indent="0" marL="0">
              <a:buNone/>
            </a:pPr>
            <a:r>
              <a:rPr lang="en-US" sz="1400" b="1" dirty="0">
                <a:solidFill>
                  <a:schemeClr val="tx1"/>
                </a:solidFill>
              </a:rPr>
              <a:t>Retrieval lab</a:t>
            </a:r>
            <a:endParaRPr lang="en-US" sz="1400" dirty="0"/>
          </a:p>
        </p:txBody>
      </p:sp>
      <p:sp>
        <p:nvSpPr>
          <p:cNvPr id="20" name="caption-58"/>
          <p:cNvSpPr txBox="1"/>
          <p:nvPr/>
        </p:nvSpPr>
        <p:spPr>
          <a:xfrm>
            <a:off x="7351776" y="3566160"/>
            <a:ext cx="2066544" cy="640080"/>
          </a:xfrm>
          <a:prstGeom prst="rect">
            <a:avLst/>
          </a:prstGeom>
          <a:noFill/>
          <a:ln/>
        </p:spPr>
        <p:txBody>
          <a:bodyPr wrap="square" lIns="0" tIns="0" rIns="0" bIns="0" rtlCol="0" anchor="t"/>
          <a:lstStyle/>
          <a:p>
            <a:pPr algn="l" indent="0" marL="0">
              <a:buNone/>
            </a:pPr>
            <a:r>
              <a:rPr lang="en-US" sz="1200" dirty="0">
                <a:solidFill>
                  <a:schemeClr val="tx2"/>
                </a:solidFill>
              </a:rPr>
              <a:t>/retrieval  ·  Ranking formula, learned weights, classifier accuracy</a:t>
            </a:r>
            <a:endParaRPr lang="en-US" sz="1200" dirty="0"/>
          </a:p>
        </p:txBody>
      </p:sp>
      <p:sp>
        <p:nvSpPr>
          <p:cNvPr id="21" name="Shape 14"/>
          <p:cNvSpPr/>
          <p:nvPr/>
        </p:nvSpPr>
        <p:spPr>
          <a:xfrm>
            <a:off x="9573768" y="1554480"/>
            <a:ext cx="2157984" cy="1469136"/>
          </a:xfrm>
          <a:prstGeom prst="roundRect">
            <a:avLst>
              <a:gd name="adj" fmla="val 4357"/>
            </a:avLst>
          </a:prstGeom>
          <a:solidFill>
            <a:schemeClr val="bg2"/>
          </a:solidFill>
          <a:ln w="12700">
            <a:solidFill>
              <a:schemeClr val="accent6"/>
            </a:solidFill>
            <a:prstDash val="solid"/>
          </a:ln>
        </p:spPr>
      </p:sp>
      <p:pic>
        <p:nvPicPr>
          <p:cNvPr id="22" name="Image 4" descr="preencoded.png">    </p:cNvPr>
          <p:cNvPicPr>
            <a:picLocks noChangeAspect="1"/>
          </p:cNvPicPr>
          <p:nvPr/>
        </p:nvPicPr>
        <p:blipFill>
          <a:blip r:embed="rId5"/>
          <a:stretch>
            <a:fillRect/>
          </a:stretch>
        </p:blipFill>
        <p:spPr>
          <a:xfrm>
            <a:off x="10332720" y="1969008"/>
            <a:ext cx="640080" cy="640080"/>
          </a:xfrm>
          <a:prstGeom prst="rect">
            <a:avLst/>
          </a:prstGeom>
        </p:spPr>
      </p:pic>
      <p:sp>
        <p:nvSpPr>
          <p:cNvPr id="23" name="caption-59"/>
          <p:cNvSpPr txBox="1"/>
          <p:nvPr/>
        </p:nvSpPr>
        <p:spPr>
          <a:xfrm>
            <a:off x="9619488" y="3246120"/>
            <a:ext cx="2066544" cy="274320"/>
          </a:xfrm>
          <a:prstGeom prst="rect">
            <a:avLst/>
          </a:prstGeom>
          <a:noFill/>
          <a:ln/>
        </p:spPr>
        <p:txBody>
          <a:bodyPr wrap="square" lIns="0" tIns="0" rIns="0" bIns="0" rtlCol="0" anchor="t"/>
          <a:lstStyle/>
          <a:p>
            <a:pPr algn="l" indent="0" marL="0">
              <a:buNone/>
            </a:pPr>
            <a:r>
              <a:rPr lang="en-US" sz="1400" b="1" dirty="0">
                <a:solidFill>
                  <a:schemeClr val="tx1"/>
                </a:solidFill>
              </a:rPr>
              <a:t>Knowledge</a:t>
            </a:r>
            <a:endParaRPr lang="en-US" sz="1400" dirty="0"/>
          </a:p>
        </p:txBody>
      </p:sp>
      <p:sp>
        <p:nvSpPr>
          <p:cNvPr id="24" name="caption-60"/>
          <p:cNvSpPr txBox="1"/>
          <p:nvPr/>
        </p:nvSpPr>
        <p:spPr>
          <a:xfrm>
            <a:off x="9619488" y="3566160"/>
            <a:ext cx="2066544" cy="640080"/>
          </a:xfrm>
          <a:prstGeom prst="rect">
            <a:avLst/>
          </a:prstGeom>
          <a:noFill/>
          <a:ln/>
        </p:spPr>
        <p:txBody>
          <a:bodyPr wrap="square" lIns="0" tIns="0" rIns="0" bIns="0" rtlCol="0" anchor="t"/>
          <a:lstStyle/>
          <a:p>
            <a:pPr algn="l" indent="0" marL="0">
              <a:buNone/>
            </a:pPr>
            <a:r>
              <a:rPr lang="en-US" sz="1200" dirty="0">
                <a:solidFill>
                  <a:schemeClr val="tx2"/>
                </a:solidFill>
              </a:rPr>
              <a:t>/knowledge  ·  Documents, passages, and adding new files</a:t>
            </a:r>
            <a:endParaRPr lang="en-US" sz="1200" dirty="0"/>
          </a:p>
        </p:txBody>
      </p:sp>
      <p:sp>
        <p:nvSpPr>
          <p:cNvPr id="25" name="Shape 17"/>
          <p:cNvSpPr/>
          <p:nvPr/>
        </p:nvSpPr>
        <p:spPr>
          <a:xfrm>
            <a:off x="502920" y="4434840"/>
            <a:ext cx="11185855" cy="1463040"/>
          </a:xfrm>
          <a:prstGeom prst="roundRect">
            <a:avLst>
              <a:gd name="adj" fmla="val 6250"/>
            </a:avLst>
          </a:prstGeom>
          <a:solidFill>
            <a:schemeClr val="bg2"/>
          </a:solidFill>
          <a:ln w="12700">
            <a:solidFill>
              <a:schemeClr val="accent6"/>
            </a:solidFill>
            <a:prstDash val="solid"/>
          </a:ln>
        </p:spPr>
      </p:sp>
      <p:sp>
        <p:nvSpPr>
          <p:cNvPr id="26" name="caption-61"/>
          <p:cNvSpPr txBox="1"/>
          <p:nvPr/>
        </p:nvSpPr>
        <p:spPr>
          <a:xfrm>
            <a:off x="777240" y="4617720"/>
            <a:ext cx="3657600" cy="274320"/>
          </a:xfrm>
          <a:prstGeom prst="rect">
            <a:avLst/>
          </a:prstGeom>
          <a:noFill/>
          <a:ln/>
        </p:spPr>
        <p:txBody>
          <a:bodyPr wrap="square" lIns="0" tIns="0" rIns="0" bIns="0" rtlCol="0" anchor="t"/>
          <a:lstStyle/>
          <a:p>
            <a:pPr algn="l" indent="0" marL="0">
              <a:buNone/>
            </a:pPr>
            <a:r>
              <a:rPr lang="en-US" sz="1100" b="1" dirty="0">
                <a:solidFill>
                  <a:schemeClr val="accent1"/>
                </a:solidFill>
              </a:rPr>
              <a:t>ON EVERY APP PAGE</a:t>
            </a:r>
            <a:endParaRPr lang="en-US" sz="1100" dirty="0"/>
          </a:p>
        </p:txBody>
      </p:sp>
      <p:pic>
        <p:nvPicPr>
          <p:cNvPr id="27" name="Image 5" descr="preencoded.png">    </p:cNvPr>
          <p:cNvPicPr>
            <a:picLocks noChangeAspect="1"/>
          </p:cNvPicPr>
          <p:nvPr/>
        </p:nvPicPr>
        <p:blipFill>
          <a:blip r:embed="rId6"/>
          <a:stretch>
            <a:fillRect/>
          </a:stretch>
        </p:blipFill>
        <p:spPr>
          <a:xfrm>
            <a:off x="777240" y="5047488"/>
            <a:ext cx="365760" cy="365760"/>
          </a:xfrm>
          <a:prstGeom prst="rect">
            <a:avLst/>
          </a:prstGeom>
        </p:spPr>
      </p:pic>
      <p:sp>
        <p:nvSpPr>
          <p:cNvPr id="28" name="Text 19"/>
          <p:cNvSpPr txBox="1"/>
          <p:nvPr/>
        </p:nvSpPr>
        <p:spPr>
          <a:xfrm>
            <a:off x="1280160" y="4983480"/>
            <a:ext cx="2011680" cy="777240"/>
          </a:xfrm>
          <a:prstGeom prst="rect">
            <a:avLst/>
          </a:prstGeom>
          <a:noFill/>
          <a:ln/>
        </p:spPr>
        <p:txBody>
          <a:bodyPr wrap="square" lIns="0" tIns="0" rIns="0" bIns="0" rtlCol="0" anchor="t"/>
          <a:lstStyle/>
          <a:p>
            <a:pPr indent="0" marL="0">
              <a:buNone/>
            </a:pPr>
            <a:r>
              <a:rPr lang="en-US" sz="1400" b="1" dirty="0">
                <a:solidFill>
                  <a:schemeClr val="tx1"/>
                </a:solidFill>
              </a:rPr>
              <a:t>Demo clock</a:t>
            </a:r>
            <a:endParaRPr lang="en-US" sz="1400" dirty="0"/>
          </a:p>
          <a:p>
            <a:pPr indent="0" marL="0">
              <a:buNone/>
            </a:pPr>
            <a:r>
              <a:rPr lang="en-US" sz="1200" dirty="0">
                <a:solidFill>
                  <a:schemeClr val="tx2"/>
                </a:solidFill>
              </a:rPr>
              <a:t>+1 h / +1 d / +1 w time travel</a:t>
            </a:r>
            <a:endParaRPr lang="en-US" sz="1400" dirty="0"/>
          </a:p>
        </p:txBody>
      </p:sp>
      <p:pic>
        <p:nvPicPr>
          <p:cNvPr id="29" name="Image 6" descr="preencoded.png">    </p:cNvPr>
          <p:cNvPicPr>
            <a:picLocks noChangeAspect="1"/>
          </p:cNvPicPr>
          <p:nvPr/>
        </p:nvPicPr>
        <p:blipFill>
          <a:blip r:embed="rId7"/>
          <a:stretch>
            <a:fillRect/>
          </a:stretch>
        </p:blipFill>
        <p:spPr>
          <a:xfrm>
            <a:off x="3474720" y="5047488"/>
            <a:ext cx="365760" cy="365760"/>
          </a:xfrm>
          <a:prstGeom prst="rect">
            <a:avLst/>
          </a:prstGeom>
        </p:spPr>
      </p:pic>
      <p:sp>
        <p:nvSpPr>
          <p:cNvPr id="30" name="Text 20"/>
          <p:cNvSpPr txBox="1"/>
          <p:nvPr/>
        </p:nvSpPr>
        <p:spPr>
          <a:xfrm>
            <a:off x="3977640" y="4983480"/>
            <a:ext cx="2011680" cy="777240"/>
          </a:xfrm>
          <a:prstGeom prst="rect">
            <a:avLst/>
          </a:prstGeom>
          <a:noFill/>
          <a:ln/>
        </p:spPr>
        <p:txBody>
          <a:bodyPr wrap="square" lIns="0" tIns="0" rIns="0" bIns="0" rtlCol="0" anchor="t"/>
          <a:lstStyle/>
          <a:p>
            <a:pPr indent="0" marL="0">
              <a:buNone/>
            </a:pPr>
            <a:r>
              <a:rPr lang="en-US" sz="1400" b="1" dirty="0">
                <a:solidFill>
                  <a:schemeClr val="tx1"/>
                </a:solidFill>
              </a:rPr>
              <a:t>Command palette</a:t>
            </a:r>
            <a:endParaRPr lang="en-US" sz="1400" dirty="0"/>
          </a:p>
          <a:p>
            <a:pPr indent="0" marL="0">
              <a:buNone/>
            </a:pPr>
            <a:r>
              <a:rPr lang="en-US" sz="1200" dirty="0">
                <a:solidFill>
                  <a:schemeClr val="tx2"/>
                </a:solidFill>
              </a:rPr>
              <a:t>Ctrl K — go anywhere, search memories</a:t>
            </a:r>
            <a:endParaRPr lang="en-US" sz="1400" dirty="0"/>
          </a:p>
        </p:txBody>
      </p:sp>
      <p:pic>
        <p:nvPicPr>
          <p:cNvPr id="31" name="Image 7" descr="preencoded.png">    </p:cNvPr>
          <p:cNvPicPr>
            <a:picLocks noChangeAspect="1"/>
          </p:cNvPicPr>
          <p:nvPr/>
        </p:nvPicPr>
        <p:blipFill>
          <a:blip r:embed="rId8"/>
          <a:stretch>
            <a:fillRect/>
          </a:stretch>
        </p:blipFill>
        <p:spPr>
          <a:xfrm>
            <a:off x="6172200" y="5047488"/>
            <a:ext cx="365760" cy="365760"/>
          </a:xfrm>
          <a:prstGeom prst="rect">
            <a:avLst/>
          </a:prstGeom>
        </p:spPr>
      </p:pic>
      <p:sp>
        <p:nvSpPr>
          <p:cNvPr id="32" name="Text 21"/>
          <p:cNvSpPr txBox="1"/>
          <p:nvPr/>
        </p:nvSpPr>
        <p:spPr>
          <a:xfrm>
            <a:off x="6675120" y="4983480"/>
            <a:ext cx="2011680" cy="777240"/>
          </a:xfrm>
          <a:prstGeom prst="rect">
            <a:avLst/>
          </a:prstGeom>
          <a:noFill/>
          <a:ln/>
        </p:spPr>
        <p:txBody>
          <a:bodyPr wrap="square" lIns="0" tIns="0" rIns="0" bIns="0" rtlCol="0" anchor="t"/>
          <a:lstStyle/>
          <a:p>
            <a:pPr indent="0" marL="0">
              <a:buNone/>
            </a:pPr>
            <a:r>
              <a:rPr lang="en-US" sz="1400" b="1" dirty="0">
                <a:solidFill>
                  <a:schemeClr val="tx1"/>
                </a:solidFill>
              </a:rPr>
              <a:t>Toasts</a:t>
            </a:r>
            <a:endParaRPr lang="en-US" sz="1400" dirty="0"/>
          </a:p>
          <a:p>
            <a:pPr indent="0" marL="0">
              <a:buNone/>
            </a:pPr>
            <a:r>
              <a:rPr lang="en-US" sz="1200" dirty="0">
                <a:solidFill>
                  <a:schemeClr val="tx2"/>
                </a:solidFill>
              </a:rPr>
              <a:t>Every memory change is announced</a:t>
            </a:r>
            <a:endParaRPr lang="en-US" sz="1400" dirty="0"/>
          </a:p>
        </p:txBody>
      </p:sp>
      <p:pic>
        <p:nvPicPr>
          <p:cNvPr id="33" name="Image 8" descr="preencoded.png">    </p:cNvPr>
          <p:cNvPicPr>
            <a:picLocks noChangeAspect="1"/>
          </p:cNvPicPr>
          <p:nvPr/>
        </p:nvPicPr>
        <p:blipFill>
          <a:blip r:embed="rId9"/>
          <a:stretch>
            <a:fillRect/>
          </a:stretch>
        </p:blipFill>
        <p:spPr>
          <a:xfrm>
            <a:off x="8869680" y="5047488"/>
            <a:ext cx="365760" cy="365760"/>
          </a:xfrm>
          <a:prstGeom prst="rect">
            <a:avLst/>
          </a:prstGeom>
        </p:spPr>
      </p:pic>
      <p:sp>
        <p:nvSpPr>
          <p:cNvPr id="34" name="Text 22"/>
          <p:cNvSpPr txBox="1"/>
          <p:nvPr/>
        </p:nvSpPr>
        <p:spPr>
          <a:xfrm>
            <a:off x="9372600" y="4983480"/>
            <a:ext cx="2011680" cy="777240"/>
          </a:xfrm>
          <a:prstGeom prst="rect">
            <a:avLst/>
          </a:prstGeom>
          <a:noFill/>
          <a:ln/>
        </p:spPr>
        <p:txBody>
          <a:bodyPr wrap="square" lIns="0" tIns="0" rIns="0" bIns="0" rtlCol="0" anchor="t"/>
          <a:lstStyle/>
          <a:p>
            <a:pPr indent="0" marL="0">
              <a:buNone/>
            </a:pPr>
            <a:r>
              <a:rPr lang="en-US" sz="1400" b="1" dirty="0">
                <a:solidFill>
                  <a:schemeClr val="tx1"/>
                </a:solidFill>
              </a:rPr>
              <a:t>Live API badge</a:t>
            </a:r>
            <a:endParaRPr lang="en-US" sz="1400" dirty="0"/>
          </a:p>
          <a:p>
            <a:pPr indent="0" marL="0">
              <a:buNone/>
            </a:pPr>
            <a:r>
              <a:rPr lang="en-US" sz="1200" dirty="0">
                <a:solidFill>
                  <a:schemeClr val="tx2"/>
                </a:solidFill>
              </a:rPr>
              <a:t>Shows which model answers</a:t>
            </a:r>
            <a:endParaRPr lang="en-US" sz="14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LANDING PAGE</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The story in one scroll</a:t>
            </a:r>
            <a:endParaRPr lang="en-US" sz="3200" dirty="0"/>
          </a:p>
        </p:txBody>
      </p:sp>
      <p:sp>
        <p:nvSpPr>
          <p:cNvPr id="5" name="frame-62"/>
          <p:cNvSpPr/>
          <p:nvPr/>
        </p:nvSpPr>
        <p:spPr>
          <a:xfrm>
            <a:off x="457200" y="1325880"/>
            <a:ext cx="7589520" cy="4777740"/>
          </a:xfrm>
          <a:prstGeom prst="roundRect">
            <a:avLst>
              <a:gd name="adj" fmla="val 1340"/>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63" descr="Landing hero">    </p:cNvPr>
          <p:cNvPicPr>
            <a:picLocks noChangeAspect="1"/>
          </p:cNvPicPr>
          <p:nvPr/>
        </p:nvPicPr>
        <p:blipFill>
          <a:blip r:embed="rId1"/>
          <a:stretch>
            <a:fillRect/>
          </a:stretch>
        </p:blipFill>
        <p:spPr>
          <a:xfrm>
            <a:off x="502920" y="1371600"/>
            <a:ext cx="7498080" cy="4686300"/>
          </a:xfrm>
          <a:prstGeom prst="rect">
            <a:avLst/>
          </a:prstGeom>
        </p:spPr>
      </p:pic>
      <p:sp>
        <p:nvSpPr>
          <p:cNvPr id="7" name="marker-64"/>
          <p:cNvSpPr/>
          <p:nvPr/>
        </p:nvSpPr>
        <p:spPr>
          <a:xfrm>
            <a:off x="872338" y="2340864"/>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marker-65"/>
          <p:cNvSpPr/>
          <p:nvPr/>
        </p:nvSpPr>
        <p:spPr>
          <a:xfrm>
            <a:off x="4846320" y="2340864"/>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marker-66"/>
          <p:cNvSpPr/>
          <p:nvPr/>
        </p:nvSpPr>
        <p:spPr>
          <a:xfrm>
            <a:off x="3496666" y="5246370"/>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0" name="badge-67"/>
          <p:cNvSpPr/>
          <p:nvPr/>
        </p:nvSpPr>
        <p:spPr>
          <a:xfrm>
            <a:off x="8412480" y="138074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1" name="callout-68"/>
          <p:cNvSpPr txBox="1"/>
          <p:nvPr/>
        </p:nvSpPr>
        <p:spPr>
          <a:xfrm>
            <a:off x="8833104" y="1371600"/>
            <a:ext cx="285567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Headline + call to action</a:t>
            </a:r>
            <a:endParaRPr lang="en-US" sz="1400" dirty="0"/>
          </a:p>
          <a:p>
            <a:pPr indent="0" marL="0">
              <a:spcAft>
                <a:spcPts val="200"/>
              </a:spcAft>
              <a:buNone/>
            </a:pPr>
            <a:r>
              <a:rPr lang="en-US" sz="1200" dirty="0">
                <a:solidFill>
                  <a:schemeClr val="tx2"/>
                </a:solidFill>
              </a:rPr>
              <a:t>Opens the console or scrolls to how it learns.</a:t>
            </a:r>
            <a:endParaRPr lang="en-US" sz="1400" dirty="0"/>
          </a:p>
        </p:txBody>
      </p:sp>
      <p:sp>
        <p:nvSpPr>
          <p:cNvPr id="12" name="badge-69"/>
          <p:cNvSpPr/>
          <p:nvPr/>
        </p:nvSpPr>
        <p:spPr>
          <a:xfrm>
            <a:off x="8412480" y="2265700"/>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3" name="callout-70"/>
          <p:cNvSpPr txBox="1"/>
          <p:nvPr/>
        </p:nvSpPr>
        <p:spPr>
          <a:xfrm>
            <a:off x="8833104" y="2256556"/>
            <a:ext cx="285567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Live correction demo</a:t>
            </a:r>
            <a:endParaRPr lang="en-US" sz="1400" dirty="0"/>
          </a:p>
          <a:p>
            <a:pPr indent="0" marL="0">
              <a:spcAft>
                <a:spcPts val="200"/>
              </a:spcAft>
              <a:buNone/>
            </a:pPr>
            <a:r>
              <a:rPr lang="en-US" sz="1200" dirty="0">
                <a:solidFill>
                  <a:schemeClr val="tx2"/>
                </a:solidFill>
              </a:rPr>
              <a:t>Auto-plays: asks, gets 75%, corrects to 80% — the card updates.</a:t>
            </a:r>
            <a:endParaRPr lang="en-US" sz="1400" dirty="0"/>
          </a:p>
        </p:txBody>
      </p:sp>
      <p:sp>
        <p:nvSpPr>
          <p:cNvPr id="14" name="badge-71"/>
          <p:cNvSpPr/>
          <p:nvPr/>
        </p:nvSpPr>
        <p:spPr>
          <a:xfrm>
            <a:off x="8412480" y="3150657"/>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5" name="callout-72"/>
          <p:cNvSpPr txBox="1"/>
          <p:nvPr/>
        </p:nvSpPr>
        <p:spPr>
          <a:xfrm>
            <a:off x="8833104" y="3141513"/>
            <a:ext cx="2855671" cy="87252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3-D knowledge terrain</a:t>
            </a:r>
            <a:endParaRPr lang="en-US" sz="1400" dirty="0"/>
          </a:p>
          <a:p>
            <a:pPr indent="0" marL="0">
              <a:spcAft>
                <a:spcPts val="200"/>
              </a:spcAft>
              <a:buNone/>
            </a:pPr>
            <a:r>
              <a:rPr lang="en-US" sz="1200" dirty="0">
                <a:solidFill>
                  <a:schemeClr val="tx2"/>
                </a:solidFill>
              </a:rPr>
              <a:t>Fixed behind the page; each section moves the camera and reshapes the map.</a:t>
            </a:r>
            <a:endParaRPr lang="en-US" sz="1400" dirty="0"/>
          </a:p>
        </p:txBody>
      </p:sp>
      <p:sp>
        <p:nvSpPr>
          <p:cNvPr id="16" name="caption-73"/>
          <p:cNvSpPr txBox="1"/>
          <p:nvPr/>
        </p:nvSpPr>
        <p:spPr>
          <a:xfrm>
            <a:off x="8412480" y="4306641"/>
            <a:ext cx="3276295" cy="274320"/>
          </a:xfrm>
          <a:prstGeom prst="rect">
            <a:avLst/>
          </a:prstGeom>
          <a:noFill/>
          <a:ln/>
        </p:spPr>
        <p:txBody>
          <a:bodyPr wrap="square" lIns="0" tIns="0" rIns="0" bIns="0" rtlCol="0" anchor="t"/>
          <a:lstStyle/>
          <a:p>
            <a:pPr algn="l" indent="0" marL="0">
              <a:buNone/>
            </a:pPr>
            <a:r>
              <a:rPr lang="en-US" sz="1100" b="1" dirty="0">
                <a:solidFill>
                  <a:schemeClr val="accent1"/>
                </a:solidFill>
              </a:rPr>
              <a:t>EIGHT SECTIONS</a:t>
            </a:r>
            <a:endParaRPr lang="en-US" sz="1100" dirty="0"/>
          </a:p>
        </p:txBody>
      </p:sp>
      <p:sp>
        <p:nvSpPr>
          <p:cNvPr id="17" name="Text 13"/>
          <p:cNvSpPr txBox="1"/>
          <p:nvPr/>
        </p:nvSpPr>
        <p:spPr>
          <a:xfrm>
            <a:off x="8412480" y="4599249"/>
            <a:ext cx="3276295" cy="822960"/>
          </a:xfrm>
          <a:prstGeom prst="rect">
            <a:avLst/>
          </a:prstGeom>
          <a:noFill/>
          <a:ln/>
        </p:spPr>
        <p:txBody>
          <a:bodyPr wrap="square" lIns="0" tIns="0" rIns="0" bIns="0" rtlCol="0" anchor="t"/>
          <a:lstStyle/>
          <a:p>
            <a:pPr indent="0" marL="0">
              <a:buNone/>
            </a:pPr>
            <a:r>
              <a:rPr lang="en-US" sz="1200" dirty="0">
                <a:solidFill>
                  <a:schemeClr val="tx2"/>
                </a:solidFill>
              </a:rPr>
              <a:t>Hero · The problem · What it keeps · Corrections · Ranking · The learning loop · Architecture · Try it</a:t>
            </a:r>
            <a:endParaRPr lang="en-US" sz="12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LANDING PAGE · WHAT IT KEEPS</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It decides what's worth remembering</a:t>
            </a:r>
            <a:endParaRPr lang="en-US" sz="3200" dirty="0"/>
          </a:p>
        </p:txBody>
      </p:sp>
      <p:sp>
        <p:nvSpPr>
          <p:cNvPr id="5" name="frame-74"/>
          <p:cNvSpPr/>
          <p:nvPr/>
        </p:nvSpPr>
        <p:spPr>
          <a:xfrm>
            <a:off x="457200" y="1325880"/>
            <a:ext cx="7589520" cy="4777740"/>
          </a:xfrm>
          <a:prstGeom prst="roundRect">
            <a:avLst>
              <a:gd name="adj" fmla="val 1340"/>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75" descr="All six sentences sorted into five classes">    </p:cNvPr>
          <p:cNvPicPr>
            <a:picLocks noChangeAspect="1"/>
          </p:cNvPicPr>
          <p:nvPr/>
        </p:nvPicPr>
        <p:blipFill>
          <a:blip r:embed="rId1"/>
          <a:stretch>
            <a:fillRect/>
          </a:stretch>
        </p:blipFill>
        <p:spPr>
          <a:xfrm>
            <a:off x="502920" y="1371600"/>
            <a:ext cx="7498080" cy="4686300"/>
          </a:xfrm>
          <a:prstGeom prst="rect">
            <a:avLst/>
          </a:prstGeom>
        </p:spPr>
      </p:pic>
      <p:sp>
        <p:nvSpPr>
          <p:cNvPr id="7" name="caption-76"/>
          <p:cNvSpPr txBox="1"/>
          <p:nvPr/>
        </p:nvSpPr>
        <p:spPr>
          <a:xfrm>
            <a:off x="8412480" y="1371600"/>
            <a:ext cx="3276295" cy="274320"/>
          </a:xfrm>
          <a:prstGeom prst="rect">
            <a:avLst/>
          </a:prstGeom>
          <a:noFill/>
          <a:ln/>
        </p:spPr>
        <p:txBody>
          <a:bodyPr wrap="square" lIns="0" tIns="0" rIns="0" bIns="0" rtlCol="0" anchor="t"/>
          <a:lstStyle/>
          <a:p>
            <a:pPr algn="l" indent="0" marL="0">
              <a:buNone/>
            </a:pPr>
            <a:r>
              <a:rPr lang="en-US" sz="1100" b="1" dirty="0">
                <a:solidFill>
                  <a:schemeClr val="accent1"/>
                </a:solidFill>
              </a:rPr>
              <a:t>FIVE CLASSES</a:t>
            </a:r>
            <a:endParaRPr lang="en-US" sz="1100" dirty="0"/>
          </a:p>
        </p:txBody>
      </p:sp>
      <p:sp>
        <p:nvSpPr>
          <p:cNvPr id="8" name="Shape 4"/>
          <p:cNvSpPr/>
          <p:nvPr/>
        </p:nvSpPr>
        <p:spPr>
          <a:xfrm>
            <a:off x="8412480" y="1792224"/>
            <a:ext cx="182880" cy="182880"/>
          </a:xfrm>
          <a:prstGeom prst="ellipse">
            <a:avLst/>
          </a:prstGeom>
          <a:solidFill>
            <a:schemeClr val="accent1"/>
          </a:solidFill>
          <a:ln w="12700">
            <a:solidFill>
              <a:schemeClr val="accent1"/>
            </a:solidFill>
            <a:prstDash val="solid"/>
          </a:ln>
        </p:spPr>
      </p:sp>
      <p:sp>
        <p:nvSpPr>
          <p:cNvPr id="9" name="Text 5"/>
          <p:cNvSpPr txBox="1"/>
          <p:nvPr/>
        </p:nvSpPr>
        <p:spPr>
          <a:xfrm>
            <a:off x="8732520" y="1737360"/>
            <a:ext cx="2956255" cy="640080"/>
          </a:xfrm>
          <a:prstGeom prst="rect">
            <a:avLst/>
          </a:prstGeom>
          <a:noFill/>
          <a:ln/>
        </p:spPr>
        <p:txBody>
          <a:bodyPr wrap="square" lIns="0" tIns="0" rIns="0" bIns="0" rtlCol="0" anchor="t"/>
          <a:lstStyle/>
          <a:p>
            <a:pPr indent="0" marL="0">
              <a:buNone/>
            </a:pPr>
            <a:r>
              <a:rPr lang="en-US" sz="1400" b="1" dirty="0">
                <a:solidFill>
                  <a:schemeClr val="tx1"/>
                </a:solidFill>
              </a:rPr>
              <a:t>Persistent</a:t>
            </a:r>
            <a:endParaRPr lang="en-US" sz="1400" dirty="0"/>
          </a:p>
          <a:p>
            <a:pPr indent="0" marL="0">
              <a:buNone/>
            </a:pPr>
            <a:r>
              <a:rPr lang="en-US" sz="1200" dirty="0">
                <a:solidFill>
                  <a:schemeClr val="tx2"/>
                </a:solidFill>
              </a:rPr>
              <a:t>About you — name, preferences</a:t>
            </a:r>
            <a:endParaRPr lang="en-US" sz="1400" dirty="0"/>
          </a:p>
        </p:txBody>
      </p:sp>
      <p:sp>
        <p:nvSpPr>
          <p:cNvPr id="10" name="Shape 6"/>
          <p:cNvSpPr/>
          <p:nvPr/>
        </p:nvSpPr>
        <p:spPr>
          <a:xfrm>
            <a:off x="8412480" y="2542032"/>
            <a:ext cx="182880" cy="182880"/>
          </a:xfrm>
          <a:prstGeom prst="ellipse">
            <a:avLst/>
          </a:prstGeom>
          <a:solidFill>
            <a:schemeClr val="accent2"/>
          </a:solidFill>
          <a:ln w="12700">
            <a:solidFill>
              <a:schemeClr val="accent2"/>
            </a:solidFill>
            <a:prstDash val="solid"/>
          </a:ln>
        </p:spPr>
      </p:sp>
      <p:sp>
        <p:nvSpPr>
          <p:cNvPr id="11" name="Text 7"/>
          <p:cNvSpPr txBox="1"/>
          <p:nvPr/>
        </p:nvSpPr>
        <p:spPr>
          <a:xfrm>
            <a:off x="8732520" y="2487168"/>
            <a:ext cx="2956255" cy="640080"/>
          </a:xfrm>
          <a:prstGeom prst="rect">
            <a:avLst/>
          </a:prstGeom>
          <a:noFill/>
          <a:ln/>
        </p:spPr>
        <p:txBody>
          <a:bodyPr wrap="square" lIns="0" tIns="0" rIns="0" bIns="0" rtlCol="0" anchor="t"/>
          <a:lstStyle/>
          <a:p>
            <a:pPr indent="0" marL="0">
              <a:buNone/>
            </a:pPr>
            <a:r>
              <a:rPr lang="en-US" sz="1400" b="1" dirty="0">
                <a:solidFill>
                  <a:schemeClr val="tx1"/>
                </a:solidFill>
              </a:rPr>
              <a:t>Important</a:t>
            </a:r>
            <a:endParaRPr lang="en-US" sz="1400" dirty="0"/>
          </a:p>
          <a:p>
            <a:pPr indent="0" marL="0">
              <a:buNone/>
            </a:pPr>
            <a:r>
              <a:rPr lang="en-US" sz="1200" dirty="0">
                <a:solidFill>
                  <a:schemeClr val="tx2"/>
                </a:solidFill>
              </a:rPr>
              <a:t>New knowledge — a rule, a deadline</a:t>
            </a:r>
            <a:endParaRPr lang="en-US" sz="1400" dirty="0"/>
          </a:p>
        </p:txBody>
      </p:sp>
      <p:sp>
        <p:nvSpPr>
          <p:cNvPr id="12" name="Shape 8"/>
          <p:cNvSpPr/>
          <p:nvPr/>
        </p:nvSpPr>
        <p:spPr>
          <a:xfrm>
            <a:off x="8412480" y="3291840"/>
            <a:ext cx="182880" cy="182880"/>
          </a:xfrm>
          <a:prstGeom prst="ellipse">
            <a:avLst/>
          </a:prstGeom>
          <a:solidFill>
            <a:schemeClr val="accent3"/>
          </a:solidFill>
          <a:ln w="12700">
            <a:solidFill>
              <a:schemeClr val="accent3"/>
            </a:solidFill>
            <a:prstDash val="solid"/>
          </a:ln>
        </p:spPr>
      </p:sp>
      <p:sp>
        <p:nvSpPr>
          <p:cNvPr id="13" name="Text 9"/>
          <p:cNvSpPr txBox="1"/>
          <p:nvPr/>
        </p:nvSpPr>
        <p:spPr>
          <a:xfrm>
            <a:off x="8732520" y="3236976"/>
            <a:ext cx="2956255" cy="640080"/>
          </a:xfrm>
          <a:prstGeom prst="rect">
            <a:avLst/>
          </a:prstGeom>
          <a:noFill/>
          <a:ln/>
        </p:spPr>
        <p:txBody>
          <a:bodyPr wrap="square" lIns="0" tIns="0" rIns="0" bIns="0" rtlCol="0" anchor="t"/>
          <a:lstStyle/>
          <a:p>
            <a:pPr indent="0" marL="0">
              <a:buNone/>
            </a:pPr>
            <a:r>
              <a:rPr lang="en-US" sz="1400" b="1" dirty="0">
                <a:solidFill>
                  <a:schemeClr val="tx1"/>
                </a:solidFill>
              </a:rPr>
              <a:t>Correction</a:t>
            </a:r>
            <a:endParaRPr lang="en-US" sz="1400" dirty="0"/>
          </a:p>
          <a:p>
            <a:pPr indent="0" marL="0">
              <a:buNone/>
            </a:pPr>
            <a:r>
              <a:rPr lang="en-US" sz="1200" dirty="0">
                <a:solidFill>
                  <a:schemeClr val="tx2"/>
                </a:solidFill>
              </a:rPr>
              <a:t>Replaces something it believed</a:t>
            </a:r>
            <a:endParaRPr lang="en-US" sz="1400" dirty="0"/>
          </a:p>
        </p:txBody>
      </p:sp>
      <p:sp>
        <p:nvSpPr>
          <p:cNvPr id="14" name="Shape 10"/>
          <p:cNvSpPr/>
          <p:nvPr/>
        </p:nvSpPr>
        <p:spPr>
          <a:xfrm>
            <a:off x="8412480" y="4041648"/>
            <a:ext cx="182880" cy="182880"/>
          </a:xfrm>
          <a:prstGeom prst="ellipse">
            <a:avLst/>
          </a:prstGeom>
          <a:solidFill>
            <a:schemeClr val="accent4"/>
          </a:solidFill>
          <a:ln w="12700">
            <a:solidFill>
              <a:schemeClr val="accent4"/>
            </a:solidFill>
            <a:prstDash val="solid"/>
          </a:ln>
        </p:spPr>
      </p:sp>
      <p:sp>
        <p:nvSpPr>
          <p:cNvPr id="15" name="Text 11"/>
          <p:cNvSpPr txBox="1"/>
          <p:nvPr/>
        </p:nvSpPr>
        <p:spPr>
          <a:xfrm>
            <a:off x="8732520" y="3986784"/>
            <a:ext cx="2956255" cy="640080"/>
          </a:xfrm>
          <a:prstGeom prst="rect">
            <a:avLst/>
          </a:prstGeom>
          <a:noFill/>
          <a:ln/>
        </p:spPr>
        <p:txBody>
          <a:bodyPr wrap="square" lIns="0" tIns="0" rIns="0" bIns="0" rtlCol="0" anchor="t"/>
          <a:lstStyle/>
          <a:p>
            <a:pPr indent="0" marL="0">
              <a:buNone/>
            </a:pPr>
            <a:r>
              <a:rPr lang="en-US" sz="1400" b="1" dirty="0">
                <a:solidFill>
                  <a:schemeClr val="tx1"/>
                </a:solidFill>
              </a:rPr>
              <a:t>Temporary</a:t>
            </a:r>
            <a:endParaRPr lang="en-US" sz="1400" dirty="0"/>
          </a:p>
          <a:p>
            <a:pPr indent="0" marL="0">
              <a:buNone/>
            </a:pPr>
            <a:r>
              <a:rPr lang="en-US" sz="1200" dirty="0">
                <a:solidFill>
                  <a:schemeClr val="tx2"/>
                </a:solidFill>
              </a:rPr>
              <a:t>True for a while — kept until it expires</a:t>
            </a:r>
            <a:endParaRPr lang="en-US" sz="1400" dirty="0"/>
          </a:p>
        </p:txBody>
      </p:sp>
      <p:sp>
        <p:nvSpPr>
          <p:cNvPr id="16" name="Shape 12"/>
          <p:cNvSpPr/>
          <p:nvPr/>
        </p:nvSpPr>
        <p:spPr>
          <a:xfrm>
            <a:off x="8412480" y="4791456"/>
            <a:ext cx="182880" cy="182880"/>
          </a:xfrm>
          <a:prstGeom prst="ellipse">
            <a:avLst/>
          </a:prstGeom>
          <a:solidFill>
            <a:schemeClr val="tx2"/>
          </a:solidFill>
          <a:ln w="12700">
            <a:solidFill>
              <a:schemeClr val="tx2"/>
            </a:solidFill>
            <a:prstDash val="solid"/>
          </a:ln>
        </p:spPr>
      </p:sp>
      <p:sp>
        <p:nvSpPr>
          <p:cNvPr id="17" name="Text 13"/>
          <p:cNvSpPr txBox="1"/>
          <p:nvPr/>
        </p:nvSpPr>
        <p:spPr>
          <a:xfrm>
            <a:off x="8732520" y="4736592"/>
            <a:ext cx="2956255" cy="640080"/>
          </a:xfrm>
          <a:prstGeom prst="rect">
            <a:avLst/>
          </a:prstGeom>
          <a:noFill/>
          <a:ln/>
        </p:spPr>
        <p:txBody>
          <a:bodyPr wrap="square" lIns="0" tIns="0" rIns="0" bIns="0" rtlCol="0" anchor="t"/>
          <a:lstStyle/>
          <a:p>
            <a:pPr indent="0" marL="0">
              <a:buNone/>
            </a:pPr>
            <a:r>
              <a:rPr lang="en-US" sz="1400" b="1" dirty="0">
                <a:solidFill>
                  <a:schemeClr val="tx1"/>
                </a:solidFill>
              </a:rPr>
              <a:t>Irrelevant</a:t>
            </a:r>
            <a:endParaRPr lang="en-US" sz="1400" dirty="0"/>
          </a:p>
          <a:p>
            <a:pPr indent="0" marL="0">
              <a:buNone/>
            </a:pPr>
            <a:r>
              <a:rPr lang="en-US" sz="1200" dirty="0">
                <a:solidFill>
                  <a:schemeClr val="tx2"/>
                </a:solidFill>
              </a:rPr>
              <a:t>Questions, small talk — not stored</a:t>
            </a:r>
            <a:endParaRPr lang="en-US" sz="1400" dirty="0"/>
          </a:p>
        </p:txBody>
      </p:sp>
      <p:sp>
        <p:nvSpPr>
          <p:cNvPr id="18" name="caption-77"/>
          <p:cNvSpPr txBox="1"/>
          <p:nvPr/>
        </p:nvSpPr>
        <p:spPr>
          <a:xfrm>
            <a:off x="8412480" y="5532120"/>
            <a:ext cx="3276295" cy="457200"/>
          </a:xfrm>
          <a:prstGeom prst="rect">
            <a:avLst/>
          </a:prstGeom>
          <a:noFill/>
          <a:ln/>
        </p:spPr>
        <p:txBody>
          <a:bodyPr wrap="square" lIns="0" tIns="0" rIns="0" bIns="0" rtlCol="0" anchor="t"/>
          <a:lstStyle/>
          <a:p>
            <a:pPr algn="l" indent="0" marL="0">
              <a:buNone/>
            </a:pPr>
            <a:r>
              <a:rPr lang="en-US" sz="1100" i="1" dirty="0">
                <a:solidFill>
                  <a:schemeClr val="tx2"/>
                </a:solidFill>
              </a:rPr>
              <a:t>Scroll-driven: each scroll step sorts the next sentence.</a:t>
            </a:r>
            <a:endParaRPr lang="en-US" sz="11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LANDING PAGE · CORRECTIONS</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Corrections replace — they don't pile up</a:t>
            </a:r>
            <a:endParaRPr lang="en-US" sz="3200" dirty="0"/>
          </a:p>
        </p:txBody>
      </p:sp>
      <p:sp>
        <p:nvSpPr>
          <p:cNvPr id="5" name="frame-78"/>
          <p:cNvSpPr/>
          <p:nvPr/>
        </p:nvSpPr>
        <p:spPr>
          <a:xfrm>
            <a:off x="457200" y="1325880"/>
            <a:ext cx="7589520" cy="4777740"/>
          </a:xfrm>
          <a:prstGeom prst="roundRect">
            <a:avLst>
              <a:gd name="adj" fmla="val 1340"/>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79" descr="What it believed vs what you said, and the stored record">    </p:cNvPr>
          <p:cNvPicPr>
            <a:picLocks noChangeAspect="1"/>
          </p:cNvPicPr>
          <p:nvPr/>
        </p:nvPicPr>
        <p:blipFill>
          <a:blip r:embed="rId1"/>
          <a:stretch>
            <a:fillRect/>
          </a:stretch>
        </p:blipFill>
        <p:spPr>
          <a:xfrm>
            <a:off x="502920" y="1371600"/>
            <a:ext cx="7498080" cy="4686300"/>
          </a:xfrm>
          <a:prstGeom prst="rect">
            <a:avLst/>
          </a:prstGeom>
        </p:spPr>
      </p:pic>
      <p:sp>
        <p:nvSpPr>
          <p:cNvPr id="7" name="marker-80"/>
          <p:cNvSpPr/>
          <p:nvPr/>
        </p:nvSpPr>
        <p:spPr>
          <a:xfrm>
            <a:off x="5476159" y="2364296"/>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marker-81"/>
          <p:cNvSpPr/>
          <p:nvPr/>
        </p:nvSpPr>
        <p:spPr>
          <a:xfrm>
            <a:off x="4021531" y="2284628"/>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marker-82"/>
          <p:cNvSpPr/>
          <p:nvPr/>
        </p:nvSpPr>
        <p:spPr>
          <a:xfrm>
            <a:off x="3939052" y="3596792"/>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0" name="badge-83"/>
          <p:cNvSpPr/>
          <p:nvPr/>
        </p:nvSpPr>
        <p:spPr>
          <a:xfrm>
            <a:off x="8412480" y="165506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1" name="callout-84"/>
          <p:cNvSpPr txBox="1"/>
          <p:nvPr/>
        </p:nvSpPr>
        <p:spPr>
          <a:xfrm>
            <a:off x="8833104" y="1645920"/>
            <a:ext cx="285567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Conflict detected</a:t>
            </a:r>
            <a:endParaRPr lang="en-US" sz="1400" dirty="0"/>
          </a:p>
          <a:p>
            <a:pPr indent="0" marL="0">
              <a:spcAft>
                <a:spcPts val="200"/>
              </a:spcAft>
              <a:buNone/>
            </a:pPr>
            <a:r>
              <a:rPr lang="en-US" sz="1200" dirty="0">
                <a:solidFill>
                  <a:schemeClr val="tx2"/>
                </a:solidFill>
              </a:rPr>
              <a:t>Same topic (minimum attendance), different value: 75% vs 80%.</a:t>
            </a:r>
            <a:endParaRPr lang="en-US" sz="1400" dirty="0"/>
          </a:p>
        </p:txBody>
      </p:sp>
      <p:sp>
        <p:nvSpPr>
          <p:cNvPr id="12" name="badge-85"/>
          <p:cNvSpPr/>
          <p:nvPr/>
        </p:nvSpPr>
        <p:spPr>
          <a:xfrm>
            <a:off x="8412480" y="2841772"/>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3" name="callout-86"/>
          <p:cNvSpPr txBox="1"/>
          <p:nvPr/>
        </p:nvSpPr>
        <p:spPr>
          <a:xfrm>
            <a:off x="8833104" y="2832628"/>
            <a:ext cx="285567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Old value kept as history</a:t>
            </a:r>
            <a:endParaRPr lang="en-US" sz="1400" dirty="0"/>
          </a:p>
          <a:p>
            <a:pPr indent="0" marL="0">
              <a:spcAft>
                <a:spcPts val="200"/>
              </a:spcAft>
              <a:buNone/>
            </a:pPr>
            <a:r>
              <a:rPr lang="en-US" sz="1200" dirty="0">
                <a:solidFill>
                  <a:schemeClr val="tx2"/>
                </a:solidFill>
              </a:rPr>
              <a:t>75% is marked outdated, not deleted — you see what changed.</a:t>
            </a:r>
            <a:endParaRPr lang="en-US" sz="1400" dirty="0"/>
          </a:p>
        </p:txBody>
      </p:sp>
      <p:sp>
        <p:nvSpPr>
          <p:cNvPr id="14" name="badge-87"/>
          <p:cNvSpPr/>
          <p:nvPr/>
        </p:nvSpPr>
        <p:spPr>
          <a:xfrm>
            <a:off x="8412480" y="4028481"/>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5" name="callout-88"/>
          <p:cNvSpPr txBox="1"/>
          <p:nvPr/>
        </p:nvSpPr>
        <p:spPr>
          <a:xfrm>
            <a:off x="8833104" y="4019337"/>
            <a:ext cx="285567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New value becomes current</a:t>
            </a:r>
            <a:endParaRPr lang="en-US" sz="1400" dirty="0"/>
          </a:p>
          <a:p>
            <a:pPr indent="0" marL="0">
              <a:spcAft>
                <a:spcPts val="200"/>
              </a:spcAft>
              <a:buNone/>
            </a:pPr>
            <a:r>
              <a:rPr lang="en-US" sz="1200" dirty="0">
                <a:solidFill>
                  <a:schemeClr val="tx2"/>
                </a:solidFill>
              </a:rPr>
              <a:t>Stored with its source (you), a confidence and the previous value.</a:t>
            </a:r>
            <a:endParaRPr lang="en-US" sz="14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LANDING PAGE · RANKING</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Ranked by more than similarity</a:t>
            </a:r>
            <a:endParaRPr lang="en-US" sz="3200" dirty="0"/>
          </a:p>
        </p:txBody>
      </p:sp>
      <p:sp>
        <p:nvSpPr>
          <p:cNvPr id="5" name="frame-89"/>
          <p:cNvSpPr/>
          <p:nvPr/>
        </p:nvSpPr>
        <p:spPr>
          <a:xfrm>
            <a:off x="743636" y="1325880"/>
            <a:ext cx="4928616" cy="4297680"/>
          </a:xfrm>
          <a:prstGeom prst="roundRect">
            <a:avLst>
              <a:gd name="adj" fmla="val 1489"/>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90" descr="Learned weights ranking">    </p:cNvPr>
          <p:cNvPicPr>
            <a:picLocks noChangeAspect="1"/>
          </p:cNvPicPr>
          <p:nvPr/>
        </p:nvPicPr>
        <p:blipFill>
          <a:blip r:embed="rId1"/>
          <a:stretch>
            <a:fillRect/>
          </a:stretch>
        </p:blipFill>
        <p:spPr>
          <a:xfrm>
            <a:off x="789356" y="1371600"/>
            <a:ext cx="4837176" cy="4206240"/>
          </a:xfrm>
          <a:prstGeom prst="rect">
            <a:avLst/>
          </a:prstGeom>
        </p:spPr>
      </p:pic>
      <p:sp>
        <p:nvSpPr>
          <p:cNvPr id="7" name="frame-91"/>
          <p:cNvSpPr/>
          <p:nvPr/>
        </p:nvSpPr>
        <p:spPr>
          <a:xfrm>
            <a:off x="6519443" y="1325880"/>
            <a:ext cx="4928616" cy="4297680"/>
          </a:xfrm>
          <a:prstGeom prst="roundRect">
            <a:avLst>
              <a:gd name="adj" fmla="val 1489"/>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8" name="shot-92" descr="Similarity-only ranking">    </p:cNvPr>
          <p:cNvPicPr>
            <a:picLocks noChangeAspect="1"/>
          </p:cNvPicPr>
          <p:nvPr/>
        </p:nvPicPr>
        <p:blipFill>
          <a:blip r:embed="rId2"/>
          <a:stretch>
            <a:fillRect/>
          </a:stretch>
        </p:blipFill>
        <p:spPr>
          <a:xfrm>
            <a:off x="6565163" y="1371600"/>
            <a:ext cx="4837176" cy="4206240"/>
          </a:xfrm>
          <a:prstGeom prst="rect">
            <a:avLst/>
          </a:prstGeom>
        </p:spPr>
      </p:pic>
      <p:sp>
        <p:nvSpPr>
          <p:cNvPr id="9" name="pill-93"/>
          <p:cNvSpPr/>
          <p:nvPr/>
        </p:nvSpPr>
        <p:spPr>
          <a:xfrm>
            <a:off x="789356" y="5760720"/>
            <a:ext cx="1645920" cy="274320"/>
          </a:xfrm>
          <a:prstGeom prst="roundRect">
            <a:avLst>
              <a:gd name="adj" fmla="val 46667"/>
            </a:avLst>
          </a:prstGeom>
          <a:solidFill>
            <a:schemeClr val="bg1"/>
          </a:solidFill>
          <a:ln w="12700">
            <a:solidFill>
              <a:schemeClr val="accent4"/>
            </a:solidFill>
          </a:ln>
        </p:spPr>
        <p:txBody>
          <a:bodyPr wrap="square" lIns="0" tIns="0" rIns="0" bIns="0" rtlCol="0" anchor="ctr"/>
          <a:lstStyle/>
          <a:p>
            <a:pPr algn="ctr" indent="0" marL="0">
              <a:buNone/>
            </a:pPr>
            <a:r>
              <a:rPr lang="en-US" sz="1100" dirty="0">
                <a:solidFill>
                  <a:schemeClr val="tx1"/>
                </a:solidFill>
              </a:rPr>
              <a:t>Learned weights</a:t>
            </a:r>
            <a:endParaRPr lang="en-US" sz="1100" dirty="0"/>
          </a:p>
        </p:txBody>
      </p:sp>
      <p:sp>
        <p:nvSpPr>
          <p:cNvPr id="10" name="caption-94"/>
          <p:cNvSpPr txBox="1"/>
          <p:nvPr/>
        </p:nvSpPr>
        <p:spPr>
          <a:xfrm>
            <a:off x="2572436" y="5760720"/>
            <a:ext cx="3054096" cy="411480"/>
          </a:xfrm>
          <a:prstGeom prst="rect">
            <a:avLst/>
          </a:prstGeom>
          <a:noFill/>
          <a:ln/>
        </p:spPr>
        <p:txBody>
          <a:bodyPr wrap="square" lIns="0" tIns="0" rIns="0" bIns="0" rtlCol="0" anchor="t"/>
          <a:lstStyle/>
          <a:p>
            <a:pPr algn="l" indent="0" marL="0">
              <a:buNone/>
            </a:pPr>
            <a:r>
              <a:rPr lang="en-US" sz="1200" dirty="0">
                <a:solidFill>
                  <a:schemeClr val="tx2"/>
                </a:solidFill>
              </a:rPr>
              <a:t>Right regulation wins: confidence and importance beat raw similarity.</a:t>
            </a:r>
            <a:endParaRPr lang="en-US" sz="1200" dirty="0"/>
          </a:p>
        </p:txBody>
      </p:sp>
      <p:sp>
        <p:nvSpPr>
          <p:cNvPr id="11" name="pill-95"/>
          <p:cNvSpPr/>
          <p:nvPr/>
        </p:nvSpPr>
        <p:spPr>
          <a:xfrm>
            <a:off x="6565163" y="5760720"/>
            <a:ext cx="1645920" cy="274320"/>
          </a:xfrm>
          <a:prstGeom prst="roundRect">
            <a:avLst>
              <a:gd name="adj" fmla="val 46667"/>
            </a:avLst>
          </a:prstGeom>
          <a:solidFill>
            <a:schemeClr val="bg1"/>
          </a:solidFill>
          <a:ln w="12700">
            <a:solidFill>
              <a:schemeClr val="accent2"/>
            </a:solidFill>
          </a:ln>
        </p:spPr>
        <p:txBody>
          <a:bodyPr wrap="square" lIns="0" tIns="0" rIns="0" bIns="0" rtlCol="0" anchor="ctr"/>
          <a:lstStyle/>
          <a:p>
            <a:pPr algn="ctr" indent="0" marL="0">
              <a:buNone/>
            </a:pPr>
            <a:r>
              <a:rPr lang="en-US" sz="1100" dirty="0">
                <a:solidFill>
                  <a:schemeClr val="tx1"/>
                </a:solidFill>
              </a:rPr>
              <a:t>Similarity only</a:t>
            </a:r>
            <a:endParaRPr lang="en-US" sz="1100" dirty="0"/>
          </a:p>
        </p:txBody>
      </p:sp>
      <p:sp>
        <p:nvSpPr>
          <p:cNvPr id="12" name="caption-96"/>
          <p:cNvSpPr txBox="1"/>
          <p:nvPr/>
        </p:nvSpPr>
        <p:spPr>
          <a:xfrm>
            <a:off x="8348243" y="5760720"/>
            <a:ext cx="3054096" cy="411480"/>
          </a:xfrm>
          <a:prstGeom prst="rect">
            <a:avLst/>
          </a:prstGeom>
          <a:noFill/>
          <a:ln/>
        </p:spPr>
        <p:txBody>
          <a:bodyPr wrap="square" lIns="0" tIns="0" rIns="0" bIns="0" rtlCol="0" anchor="t"/>
          <a:lstStyle/>
          <a:p>
            <a:pPr algn="l" indent="0" marL="0">
              <a:buNone/>
            </a:pPr>
            <a:r>
              <a:rPr lang="en-US" sz="1200" dirty="0">
                <a:solidFill>
                  <a:schemeClr val="tx2"/>
                </a:solidFill>
              </a:rPr>
              <a:t>Closest-sounding text wins, even from the wrong source.</a:t>
            </a:r>
            <a:endParaRPr lang="en-US" sz="12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LANDING PAGE · LEARNING LOOP + ARCHITECTURE</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The model stays the same; everything around it learns</a:t>
            </a:r>
            <a:endParaRPr lang="en-US" sz="3200" dirty="0"/>
          </a:p>
        </p:txBody>
      </p:sp>
      <p:sp>
        <p:nvSpPr>
          <p:cNvPr id="5" name="frame-97"/>
          <p:cNvSpPr/>
          <p:nvPr/>
        </p:nvSpPr>
        <p:spPr>
          <a:xfrm>
            <a:off x="457200" y="1325880"/>
            <a:ext cx="5081129" cy="3200400"/>
          </a:xfrm>
          <a:prstGeom prst="roundRect">
            <a:avLst>
              <a:gd name="adj" fmla="val 2000"/>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98" descr="The learning loop">    </p:cNvPr>
          <p:cNvPicPr>
            <a:picLocks noChangeAspect="1"/>
          </p:cNvPicPr>
          <p:nvPr/>
        </p:nvPicPr>
        <p:blipFill>
          <a:blip r:embed="rId1"/>
          <a:stretch>
            <a:fillRect/>
          </a:stretch>
        </p:blipFill>
        <p:spPr>
          <a:xfrm>
            <a:off x="502920" y="1371600"/>
            <a:ext cx="4989689" cy="3108960"/>
          </a:xfrm>
          <a:prstGeom prst="rect">
            <a:avLst/>
          </a:prstGeom>
        </p:spPr>
      </p:pic>
      <p:sp>
        <p:nvSpPr>
          <p:cNvPr id="7" name="frame-99"/>
          <p:cNvSpPr/>
          <p:nvPr/>
        </p:nvSpPr>
        <p:spPr>
          <a:xfrm>
            <a:off x="5812649" y="1325880"/>
            <a:ext cx="5921846" cy="3128110"/>
          </a:xfrm>
          <a:prstGeom prst="roundRect">
            <a:avLst>
              <a:gd name="adj" fmla="val 2046"/>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8" name="shot-100" descr="Architecture diagram">    </p:cNvPr>
          <p:cNvPicPr>
            <a:picLocks noChangeAspect="1"/>
          </p:cNvPicPr>
          <p:nvPr/>
        </p:nvPicPr>
        <p:blipFill>
          <a:blip r:embed="rId2"/>
          <a:stretch>
            <a:fillRect/>
          </a:stretch>
        </p:blipFill>
        <p:spPr>
          <a:xfrm>
            <a:off x="5858369" y="1371600"/>
            <a:ext cx="5830406" cy="3036670"/>
          </a:xfrm>
          <a:prstGeom prst="rect">
            <a:avLst/>
          </a:prstGeom>
        </p:spPr>
      </p:pic>
      <p:sp>
        <p:nvSpPr>
          <p:cNvPr id="9" name="caption-101"/>
          <p:cNvSpPr txBox="1"/>
          <p:nvPr/>
        </p:nvSpPr>
        <p:spPr>
          <a:xfrm>
            <a:off x="502920" y="4709160"/>
            <a:ext cx="4989689" cy="274320"/>
          </a:xfrm>
          <a:prstGeom prst="rect">
            <a:avLst/>
          </a:prstGeom>
          <a:noFill/>
          <a:ln/>
        </p:spPr>
        <p:txBody>
          <a:bodyPr wrap="square" lIns="0" tIns="0" rIns="0" bIns="0" rtlCol="0" anchor="t"/>
          <a:lstStyle/>
          <a:p>
            <a:pPr algn="l" indent="0" marL="0">
              <a:buNone/>
            </a:pPr>
            <a:r>
              <a:rPr lang="en-US" sz="1100" b="1" dirty="0">
                <a:solidFill>
                  <a:schemeClr val="accent1"/>
                </a:solidFill>
              </a:rPr>
              <a:t>THE LEARNING LOOP</a:t>
            </a:r>
            <a:endParaRPr lang="en-US" sz="1100" dirty="0"/>
          </a:p>
        </p:txBody>
      </p:sp>
      <p:sp>
        <p:nvSpPr>
          <p:cNvPr id="10" name="caption-102"/>
          <p:cNvSpPr txBox="1"/>
          <p:nvPr/>
        </p:nvSpPr>
        <p:spPr>
          <a:xfrm>
            <a:off x="502920" y="5010912"/>
            <a:ext cx="4989689" cy="822960"/>
          </a:xfrm>
          <a:prstGeom prst="rect">
            <a:avLst/>
          </a:prstGeom>
          <a:noFill/>
          <a:ln/>
        </p:spPr>
        <p:txBody>
          <a:bodyPr wrap="square" lIns="0" tIns="0" rIns="0" bIns="0" rtlCol="0" anchor="t"/>
          <a:lstStyle/>
          <a:p>
            <a:pPr algn="l" indent="0" marL="0">
              <a:buNone/>
            </a:pPr>
            <a:r>
              <a:rPr lang="en-US" sz="1300" dirty="0">
                <a:solidFill>
                  <a:schemeClr val="tx2"/>
                </a:solidFill>
              </a:rPr>
              <a:t>Question → retrieve → answer → your feedback → evaluate retrieval → update memory &amp; weights. The language model in the centre is unchanged.</a:t>
            </a:r>
            <a:endParaRPr lang="en-US" sz="1300" dirty="0"/>
          </a:p>
        </p:txBody>
      </p:sp>
      <p:sp>
        <p:nvSpPr>
          <p:cNvPr id="11" name="caption-103"/>
          <p:cNvSpPr txBox="1"/>
          <p:nvPr/>
        </p:nvSpPr>
        <p:spPr>
          <a:xfrm>
            <a:off x="5858369" y="4636870"/>
            <a:ext cx="5830406" cy="274320"/>
          </a:xfrm>
          <a:prstGeom prst="rect">
            <a:avLst/>
          </a:prstGeom>
          <a:noFill/>
          <a:ln/>
        </p:spPr>
        <p:txBody>
          <a:bodyPr wrap="square" lIns="0" tIns="0" rIns="0" bIns="0" rtlCol="0" anchor="t"/>
          <a:lstStyle/>
          <a:p>
            <a:pPr algn="l" indent="0" marL="0">
              <a:buNone/>
            </a:pPr>
            <a:r>
              <a:rPr lang="en-US" sz="1100" b="1" dirty="0">
                <a:solidFill>
                  <a:schemeClr val="accent1"/>
                </a:solidFill>
              </a:rPr>
              <a:t>THE ARCHITECTURE, INTERACTIVE</a:t>
            </a:r>
            <a:endParaRPr lang="en-US" sz="1100" dirty="0"/>
          </a:p>
        </p:txBody>
      </p:sp>
      <p:sp>
        <p:nvSpPr>
          <p:cNvPr id="12" name="caption-104"/>
          <p:cNvSpPr txBox="1"/>
          <p:nvPr/>
        </p:nvSpPr>
        <p:spPr>
          <a:xfrm>
            <a:off x="5858369" y="4938622"/>
            <a:ext cx="5830406" cy="822960"/>
          </a:xfrm>
          <a:prstGeom prst="rect">
            <a:avLst/>
          </a:prstGeom>
          <a:noFill/>
          <a:ln/>
        </p:spPr>
        <p:txBody>
          <a:bodyPr wrap="square" lIns="0" tIns="0" rIns="0" bIns="0" rtlCol="0" anchor="t"/>
          <a:lstStyle/>
          <a:p>
            <a:pPr algn="l" indent="0" marL="0">
              <a:buNone/>
            </a:pPr>
            <a:r>
              <a:rPr lang="en-US" sz="1300" dirty="0">
                <a:solidFill>
                  <a:schemeClr val="tx2"/>
                </a:solidFill>
              </a:rPr>
              <a:t>Hover any block: the adaptive retriever reads the vector DB, long-term memory and documents, then hands context to the LLM.</a:t>
            </a:r>
            <a:endParaRPr lang="en-US" sz="13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CONSOLE</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Chat with the whole pipeline on show</a:t>
            </a:r>
            <a:endParaRPr lang="en-US" sz="3200" dirty="0"/>
          </a:p>
        </p:txBody>
      </p:sp>
      <p:sp>
        <p:nvSpPr>
          <p:cNvPr id="5" name="frame-105"/>
          <p:cNvSpPr/>
          <p:nvPr/>
        </p:nvSpPr>
        <p:spPr>
          <a:xfrm>
            <a:off x="457200" y="1325880"/>
            <a:ext cx="7909560" cy="4977765"/>
          </a:xfrm>
          <a:prstGeom prst="roundRect">
            <a:avLst>
              <a:gd name="adj" fmla="val 1286"/>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106" descr="Console after the third demo step">    </p:cNvPr>
          <p:cNvPicPr>
            <a:picLocks noChangeAspect="1"/>
          </p:cNvPicPr>
          <p:nvPr/>
        </p:nvPicPr>
        <p:blipFill>
          <a:blip r:embed="rId1"/>
          <a:stretch>
            <a:fillRect/>
          </a:stretch>
        </p:blipFill>
        <p:spPr>
          <a:xfrm>
            <a:off x="502920" y="1371600"/>
            <a:ext cx="7818120" cy="4886325"/>
          </a:xfrm>
          <a:prstGeom prst="rect">
            <a:avLst/>
          </a:prstGeom>
        </p:spPr>
      </p:pic>
      <p:sp>
        <p:nvSpPr>
          <p:cNvPr id="7" name="marker-107"/>
          <p:cNvSpPr/>
          <p:nvPr/>
        </p:nvSpPr>
        <p:spPr>
          <a:xfrm>
            <a:off x="1629644" y="4001357"/>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marker-108"/>
          <p:cNvSpPr/>
          <p:nvPr/>
        </p:nvSpPr>
        <p:spPr>
          <a:xfrm>
            <a:off x="5663794" y="2022396"/>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marker-109"/>
          <p:cNvSpPr/>
          <p:nvPr/>
        </p:nvSpPr>
        <p:spPr>
          <a:xfrm>
            <a:off x="5663794" y="3502952"/>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0" name="marker-110"/>
          <p:cNvSpPr/>
          <p:nvPr/>
        </p:nvSpPr>
        <p:spPr>
          <a:xfrm>
            <a:off x="527289" y="5447709"/>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1" name="marker-111"/>
          <p:cNvSpPr/>
          <p:nvPr/>
        </p:nvSpPr>
        <p:spPr>
          <a:xfrm>
            <a:off x="4537984" y="1357855"/>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2" name="marker-112"/>
          <p:cNvSpPr/>
          <p:nvPr/>
        </p:nvSpPr>
        <p:spPr>
          <a:xfrm>
            <a:off x="535107" y="3024092"/>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13" name="badge-113"/>
          <p:cNvSpPr/>
          <p:nvPr/>
        </p:nvSpPr>
        <p:spPr>
          <a:xfrm>
            <a:off x="8686800" y="138074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4" name="callout-114"/>
          <p:cNvSpPr txBox="1"/>
          <p:nvPr/>
        </p:nvSpPr>
        <p:spPr>
          <a:xfrm>
            <a:off x="9107424" y="1371600"/>
            <a:ext cx="258135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Conversation</a:t>
            </a:r>
            <a:endParaRPr lang="en-US" sz="1400" dirty="0"/>
          </a:p>
          <a:p>
            <a:pPr indent="0" marL="0">
              <a:spcAft>
                <a:spcPts val="200"/>
              </a:spcAft>
              <a:buNone/>
            </a:pPr>
            <a:r>
              <a:rPr lang="en-US" sz="1200" dirty="0">
                <a:solidFill>
                  <a:schemeClr val="tx2"/>
                </a:solidFill>
              </a:rPr>
              <a:t>Classifier verdict, memory writes, cited answer.</a:t>
            </a:r>
            <a:endParaRPr lang="en-US" sz="1400" dirty="0"/>
          </a:p>
        </p:txBody>
      </p:sp>
      <p:sp>
        <p:nvSpPr>
          <p:cNvPr id="15" name="badge-115"/>
          <p:cNvSpPr/>
          <p:nvPr/>
        </p:nvSpPr>
        <p:spPr>
          <a:xfrm>
            <a:off x="8686800" y="2174260"/>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callout-116"/>
          <p:cNvSpPr txBox="1"/>
          <p:nvPr/>
        </p:nvSpPr>
        <p:spPr>
          <a:xfrm>
            <a:off x="9107424" y="2165116"/>
            <a:ext cx="258135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Memory map</a:t>
            </a:r>
            <a:endParaRPr lang="en-US" sz="1400" dirty="0"/>
          </a:p>
          <a:p>
            <a:pPr indent="0" marL="0">
              <a:spcAft>
                <a:spcPts val="200"/>
              </a:spcAft>
              <a:buNone/>
            </a:pPr>
            <a:r>
              <a:rPr lang="en-US" sz="1200" dirty="0">
                <a:solidFill>
                  <a:schemeClr val="tx2"/>
                </a:solidFill>
              </a:rPr>
              <a:t>Where the question landed; rings mark sources used.</a:t>
            </a:r>
            <a:endParaRPr lang="en-US" sz="1400" dirty="0"/>
          </a:p>
        </p:txBody>
      </p:sp>
      <p:sp>
        <p:nvSpPr>
          <p:cNvPr id="17" name="badge-117"/>
          <p:cNvSpPr/>
          <p:nvPr/>
        </p:nvSpPr>
        <p:spPr>
          <a:xfrm>
            <a:off x="8686800" y="2967777"/>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8" name="callout-118"/>
          <p:cNvSpPr txBox="1"/>
          <p:nvPr/>
        </p:nvSpPr>
        <p:spPr>
          <a:xfrm>
            <a:off x="9107424" y="2958633"/>
            <a:ext cx="258135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Retrieved for this answer</a:t>
            </a:r>
            <a:endParaRPr lang="en-US" sz="1400" dirty="0"/>
          </a:p>
          <a:p>
            <a:pPr indent="0" marL="0">
              <a:spcAft>
                <a:spcPts val="200"/>
              </a:spcAft>
              <a:buNone/>
            </a:pPr>
            <a:r>
              <a:rPr lang="en-US" sz="1200" dirty="0">
                <a:solidFill>
                  <a:schemeClr val="tx2"/>
                </a:solidFill>
              </a:rPr>
              <a:t>Top 5 sources with score bars (S, R, C, I).</a:t>
            </a:r>
            <a:endParaRPr lang="en-US" sz="1400" dirty="0"/>
          </a:p>
        </p:txBody>
      </p:sp>
      <p:sp>
        <p:nvSpPr>
          <p:cNvPr id="19" name="badge-119"/>
          <p:cNvSpPr/>
          <p:nvPr/>
        </p:nvSpPr>
        <p:spPr>
          <a:xfrm>
            <a:off x="8686800" y="3761293"/>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callout-120"/>
          <p:cNvSpPr txBox="1"/>
          <p:nvPr/>
        </p:nvSpPr>
        <p:spPr>
          <a:xfrm>
            <a:off x="9107424" y="3752149"/>
            <a:ext cx="2581351" cy="49505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Demo script</a:t>
            </a:r>
            <a:endParaRPr lang="en-US" sz="1400" dirty="0"/>
          </a:p>
          <a:p>
            <a:pPr indent="0" marL="0">
              <a:spcAft>
                <a:spcPts val="200"/>
              </a:spcAft>
              <a:buNone/>
            </a:pPr>
            <a:r>
              <a:rPr lang="en-US" sz="1200" dirty="0">
                <a:solidFill>
                  <a:schemeClr val="tx2"/>
                </a:solidFill>
              </a:rPr>
              <a:t>Nine chips run the guided story.</a:t>
            </a:r>
            <a:endParaRPr lang="en-US" sz="1400" dirty="0"/>
          </a:p>
        </p:txBody>
      </p:sp>
      <p:sp>
        <p:nvSpPr>
          <p:cNvPr id="21" name="badge-121"/>
          <p:cNvSpPr/>
          <p:nvPr/>
        </p:nvSpPr>
        <p:spPr>
          <a:xfrm>
            <a:off x="8686800" y="4366077"/>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2" name="callout-122"/>
          <p:cNvSpPr txBox="1"/>
          <p:nvPr/>
        </p:nvSpPr>
        <p:spPr>
          <a:xfrm>
            <a:off x="9107424" y="4356933"/>
            <a:ext cx="258135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Demo clock + Live API</a:t>
            </a:r>
            <a:endParaRPr lang="en-US" sz="1400" dirty="0"/>
          </a:p>
          <a:p>
            <a:pPr indent="0" marL="0">
              <a:spcAft>
                <a:spcPts val="200"/>
              </a:spcAft>
              <a:buNone/>
            </a:pPr>
            <a:r>
              <a:rPr lang="en-US" sz="1200" dirty="0">
                <a:solidFill>
                  <a:schemeClr val="tx2"/>
                </a:solidFill>
              </a:rPr>
              <a:t>Time travel; which model answers.</a:t>
            </a:r>
            <a:endParaRPr lang="en-US" sz="1400" dirty="0"/>
          </a:p>
        </p:txBody>
      </p:sp>
      <p:sp>
        <p:nvSpPr>
          <p:cNvPr id="23" name="badge-123"/>
          <p:cNvSpPr/>
          <p:nvPr/>
        </p:nvSpPr>
        <p:spPr>
          <a:xfrm>
            <a:off x="8686800" y="5159593"/>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4" name="callout-124"/>
          <p:cNvSpPr txBox="1"/>
          <p:nvPr/>
        </p:nvSpPr>
        <p:spPr>
          <a:xfrm>
            <a:off x="9107424" y="5150449"/>
            <a:ext cx="258135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Navigation rail</a:t>
            </a:r>
            <a:endParaRPr lang="en-US" sz="1400" dirty="0"/>
          </a:p>
          <a:p>
            <a:pPr indent="0" marL="0">
              <a:spcAft>
                <a:spcPts val="200"/>
              </a:spcAft>
              <a:buNone/>
            </a:pPr>
            <a:r>
              <a:rPr lang="en-US" sz="1200" dirty="0">
                <a:solidFill>
                  <a:schemeClr val="tx2"/>
                </a:solidFill>
              </a:rPr>
              <a:t>Console · Memory · Retrieval · Knowledge.</a:t>
            </a:r>
            <a:endParaRPr lang="en-US" sz="14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CONSOLE · DEMO STEP 1</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Ask: it answers from the regulations</a:t>
            </a:r>
            <a:endParaRPr lang="en-US" sz="3200" dirty="0"/>
          </a:p>
        </p:txBody>
      </p:sp>
      <p:sp>
        <p:nvSpPr>
          <p:cNvPr id="5" name="frame-125"/>
          <p:cNvSpPr/>
          <p:nvPr/>
        </p:nvSpPr>
        <p:spPr>
          <a:xfrm>
            <a:off x="457200" y="1325880"/>
            <a:ext cx="7132320" cy="4491990"/>
          </a:xfrm>
          <a:prstGeom prst="roundRect">
            <a:avLst>
              <a:gd name="adj" fmla="val 1425"/>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126" descr="Answer to the first question with citations">    </p:cNvPr>
          <p:cNvPicPr>
            <a:picLocks noChangeAspect="1"/>
          </p:cNvPicPr>
          <p:nvPr/>
        </p:nvPicPr>
        <p:blipFill>
          <a:blip r:embed="rId1"/>
          <a:stretch>
            <a:fillRect/>
          </a:stretch>
        </p:blipFill>
        <p:spPr>
          <a:xfrm>
            <a:off x="502920" y="1371600"/>
            <a:ext cx="7040880" cy="4400550"/>
          </a:xfrm>
          <a:prstGeom prst="rect">
            <a:avLst/>
          </a:prstGeom>
        </p:spPr>
      </p:pic>
      <p:sp>
        <p:nvSpPr>
          <p:cNvPr id="7" name="marker-127"/>
          <p:cNvSpPr/>
          <p:nvPr/>
        </p:nvSpPr>
        <p:spPr>
          <a:xfrm>
            <a:off x="1551462" y="2096262"/>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8" name="marker-128"/>
          <p:cNvSpPr/>
          <p:nvPr/>
        </p:nvSpPr>
        <p:spPr>
          <a:xfrm>
            <a:off x="5205679" y="3253607"/>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9" name="frame-129"/>
          <p:cNvSpPr/>
          <p:nvPr/>
        </p:nvSpPr>
        <p:spPr>
          <a:xfrm>
            <a:off x="7772400" y="1325880"/>
            <a:ext cx="3962095" cy="1418049"/>
          </a:xfrm>
          <a:prstGeom prst="roundRect">
            <a:avLst>
              <a:gd name="adj" fmla="val 4514"/>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10" name="shot-130" descr="Question pill expanded: Irrelevant 0.74">    </p:cNvPr>
          <p:cNvPicPr>
            <a:picLocks noChangeAspect="1"/>
          </p:cNvPicPr>
          <p:nvPr/>
        </p:nvPicPr>
        <p:blipFill>
          <a:blip r:embed="rId2"/>
          <a:stretch>
            <a:fillRect/>
          </a:stretch>
        </p:blipFill>
        <p:spPr>
          <a:xfrm>
            <a:off x="7818120" y="1371600"/>
            <a:ext cx="3870655" cy="1326609"/>
          </a:xfrm>
          <a:prstGeom prst="rect">
            <a:avLst/>
          </a:prstGeom>
        </p:spPr>
      </p:pic>
      <p:sp>
        <p:nvSpPr>
          <p:cNvPr id="11" name="marker-131"/>
          <p:cNvSpPr/>
          <p:nvPr/>
        </p:nvSpPr>
        <p:spPr>
          <a:xfrm>
            <a:off x="7952971" y="1481474"/>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2" name="badge-132"/>
          <p:cNvSpPr/>
          <p:nvPr/>
        </p:nvSpPr>
        <p:spPr>
          <a:xfrm>
            <a:off x="7818120" y="316382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3" name="callout-133"/>
          <p:cNvSpPr txBox="1"/>
          <p:nvPr/>
        </p:nvSpPr>
        <p:spPr>
          <a:xfrm>
            <a:off x="8238744" y="3154680"/>
            <a:ext cx="345003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A question is not stored</a:t>
            </a:r>
            <a:endParaRPr lang="en-US" sz="1400" dirty="0"/>
          </a:p>
          <a:p>
            <a:pPr indent="0" marL="0">
              <a:spcAft>
                <a:spcPts val="200"/>
              </a:spcAft>
              <a:buNone/>
            </a:pPr>
            <a:r>
              <a:rPr lang="en-US" sz="1200" dirty="0">
                <a:solidFill>
                  <a:schemeClr val="tx2"/>
                </a:solidFill>
              </a:rPr>
              <a:t>Asking isn't telling — the classifier marks it 'Question · not stored'.</a:t>
            </a:r>
            <a:endParaRPr lang="en-US" sz="1400" dirty="0"/>
          </a:p>
        </p:txBody>
      </p:sp>
      <p:sp>
        <p:nvSpPr>
          <p:cNvPr id="14" name="badge-134"/>
          <p:cNvSpPr/>
          <p:nvPr/>
        </p:nvSpPr>
        <p:spPr>
          <a:xfrm>
            <a:off x="7818120" y="4030492"/>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5" name="callout-135"/>
          <p:cNvSpPr txBox="1"/>
          <p:nvPr/>
        </p:nvSpPr>
        <p:spPr>
          <a:xfrm>
            <a:off x="8238744" y="4021348"/>
            <a:ext cx="345003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Answer: 75%, with citations</a:t>
            </a:r>
            <a:endParaRPr lang="en-US" sz="1400" dirty="0"/>
          </a:p>
          <a:p>
            <a:pPr indent="0" marL="0">
              <a:spcAft>
                <a:spcPts val="200"/>
              </a:spcAft>
              <a:buNone/>
            </a:pPr>
            <a:r>
              <a:rPr lang="en-US" sz="1200" dirty="0">
                <a:solidFill>
                  <a:schemeClr val="tx2"/>
                </a:solidFill>
              </a:rPr>
              <a:t>From Academic Regulations 2024 §3.1; every claim carries a [n] chip.</a:t>
            </a:r>
            <a:endParaRPr lang="en-US" sz="1400" dirty="0"/>
          </a:p>
        </p:txBody>
      </p:sp>
      <p:sp>
        <p:nvSpPr>
          <p:cNvPr id="16" name="badge-136"/>
          <p:cNvSpPr/>
          <p:nvPr/>
        </p:nvSpPr>
        <p:spPr>
          <a:xfrm>
            <a:off x="7818120" y="4897161"/>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callout-137"/>
          <p:cNvSpPr txBox="1"/>
          <p:nvPr/>
        </p:nvSpPr>
        <p:spPr>
          <a:xfrm>
            <a:off x="8238744" y="4888017"/>
            <a:ext cx="345003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Inspector explains the ranking</a:t>
            </a:r>
            <a:endParaRPr lang="en-US" sz="1400" dirty="0"/>
          </a:p>
          <a:p>
            <a:pPr indent="0" marL="0">
              <a:spcAft>
                <a:spcPts val="200"/>
              </a:spcAft>
              <a:buNone/>
            </a:pPr>
            <a:r>
              <a:rPr lang="en-US" sz="1200" dirty="0">
                <a:solidFill>
                  <a:schemeClr val="tx2"/>
                </a:solidFill>
              </a:rPr>
              <a:t>Searched 28 passages + memories → similar enough → top 5 re-ranked.</a:t>
            </a:r>
            <a:endParaRPr lang="en-US" sz="14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CONSOLE · DEMO STEP 2</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Correct it: the memory classifier at work</a:t>
            </a:r>
            <a:endParaRPr lang="en-US" sz="3200" dirty="0"/>
          </a:p>
        </p:txBody>
      </p:sp>
      <p:sp>
        <p:nvSpPr>
          <p:cNvPr id="5" name="frame-138"/>
          <p:cNvSpPr/>
          <p:nvPr/>
        </p:nvSpPr>
        <p:spPr>
          <a:xfrm>
            <a:off x="457200" y="1325880"/>
            <a:ext cx="7178040" cy="3961814"/>
          </a:xfrm>
          <a:prstGeom prst="roundRect">
            <a:avLst>
              <a:gd name="adj" fmla="val 1616"/>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139" descr="Memory classifier strip for the correction">    </p:cNvPr>
          <p:cNvPicPr>
            <a:picLocks noChangeAspect="1"/>
          </p:cNvPicPr>
          <p:nvPr/>
        </p:nvPicPr>
        <p:blipFill>
          <a:blip r:embed="rId1"/>
          <a:stretch>
            <a:fillRect/>
          </a:stretch>
        </p:blipFill>
        <p:spPr>
          <a:xfrm>
            <a:off x="502920" y="1371600"/>
            <a:ext cx="7086600" cy="3870374"/>
          </a:xfrm>
          <a:prstGeom prst="rect">
            <a:avLst/>
          </a:prstGeom>
        </p:spPr>
      </p:pic>
      <p:sp>
        <p:nvSpPr>
          <p:cNvPr id="7" name="marker-140"/>
          <p:cNvSpPr/>
          <p:nvPr/>
        </p:nvSpPr>
        <p:spPr>
          <a:xfrm>
            <a:off x="666369" y="2261153"/>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marker-141"/>
          <p:cNvSpPr/>
          <p:nvPr/>
        </p:nvSpPr>
        <p:spPr>
          <a:xfrm>
            <a:off x="5166360" y="1370967"/>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marker-142"/>
          <p:cNvSpPr/>
          <p:nvPr/>
        </p:nvSpPr>
        <p:spPr>
          <a:xfrm>
            <a:off x="595503" y="3673839"/>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0" name="marker-143"/>
          <p:cNvSpPr/>
          <p:nvPr/>
        </p:nvSpPr>
        <p:spPr>
          <a:xfrm>
            <a:off x="595503" y="4641433"/>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1" name="badge-144"/>
          <p:cNvSpPr/>
          <p:nvPr/>
        </p:nvSpPr>
        <p:spPr>
          <a:xfrm>
            <a:off x="7955280" y="138074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2" name="callout-145"/>
          <p:cNvSpPr txBox="1"/>
          <p:nvPr/>
        </p:nvSpPr>
        <p:spPr>
          <a:xfrm>
            <a:off x="8375904" y="1371600"/>
            <a:ext cx="331287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Class probabilities</a:t>
            </a:r>
            <a:endParaRPr lang="en-US" sz="1400" dirty="0"/>
          </a:p>
          <a:p>
            <a:pPr indent="0" marL="0">
              <a:spcAft>
                <a:spcPts val="200"/>
              </a:spcAft>
              <a:buNone/>
            </a:pPr>
            <a:r>
              <a:rPr lang="en-US" sz="1200" dirty="0">
                <a:solidFill>
                  <a:schemeClr val="tx2"/>
                </a:solidFill>
              </a:rPr>
              <a:t>Correction 0.99 — from the trained classifier (TF-IDF + logistic regression).</a:t>
            </a:r>
            <a:endParaRPr lang="en-US" sz="1400" dirty="0"/>
          </a:p>
        </p:txBody>
      </p:sp>
      <p:sp>
        <p:nvSpPr>
          <p:cNvPr id="13" name="badge-146"/>
          <p:cNvSpPr/>
          <p:nvPr/>
        </p:nvSpPr>
        <p:spPr>
          <a:xfrm>
            <a:off x="7955280" y="222912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 name="callout-147"/>
          <p:cNvSpPr txBox="1"/>
          <p:nvPr/>
        </p:nvSpPr>
        <p:spPr>
          <a:xfrm>
            <a:off x="8375904" y="2219980"/>
            <a:ext cx="331287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Highlighted evidence</a:t>
            </a:r>
            <a:endParaRPr lang="en-US" sz="1400" dirty="0"/>
          </a:p>
          <a:p>
            <a:pPr indent="0" marL="0">
              <a:spcAft>
                <a:spcPts val="200"/>
              </a:spcAft>
              <a:buNone/>
            </a:pPr>
            <a:r>
              <a:rPr lang="en-US" sz="1200" dirty="0">
                <a:solidFill>
                  <a:schemeClr val="tx2"/>
                </a:solidFill>
              </a:rPr>
              <a:t>Cue 'changed', value '80%', time 'last semester'.</a:t>
            </a:r>
            <a:endParaRPr lang="en-US" sz="1400" dirty="0"/>
          </a:p>
        </p:txBody>
      </p:sp>
      <p:sp>
        <p:nvSpPr>
          <p:cNvPr id="15" name="badge-148"/>
          <p:cNvSpPr/>
          <p:nvPr/>
        </p:nvSpPr>
        <p:spPr>
          <a:xfrm>
            <a:off x="7955280" y="3077505"/>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callout-149"/>
          <p:cNvSpPr txBox="1"/>
          <p:nvPr/>
        </p:nvSpPr>
        <p:spPr>
          <a:xfrm>
            <a:off x="8375904" y="3068361"/>
            <a:ext cx="331287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Uses the conversation</a:t>
            </a:r>
            <a:endParaRPr lang="en-US" sz="1400" dirty="0"/>
          </a:p>
          <a:p>
            <a:pPr indent="0" marL="0">
              <a:spcAft>
                <a:spcPts val="200"/>
              </a:spcAft>
              <a:buNone/>
            </a:pPr>
            <a:r>
              <a:rPr lang="en-US" sz="1200" dirty="0">
                <a:solidFill>
                  <a:schemeClr val="tx2"/>
                </a:solidFill>
              </a:rPr>
              <a:t>Resolves 'it' → minimum attendance; finds the conflict with 75% in §3.1.</a:t>
            </a:r>
            <a:endParaRPr lang="en-US" sz="1400" dirty="0"/>
          </a:p>
        </p:txBody>
      </p:sp>
      <p:sp>
        <p:nvSpPr>
          <p:cNvPr id="17" name="badge-150"/>
          <p:cNvSpPr/>
          <p:nvPr/>
        </p:nvSpPr>
        <p:spPr>
          <a:xfrm>
            <a:off x="7955280" y="3925885"/>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8" name="callout-151"/>
          <p:cNvSpPr txBox="1"/>
          <p:nvPr/>
        </p:nvSpPr>
        <p:spPr>
          <a:xfrm>
            <a:off x="8375904" y="3916741"/>
            <a:ext cx="331287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Decision: replace</a:t>
            </a:r>
            <a:endParaRPr lang="en-US" sz="1400" dirty="0"/>
          </a:p>
          <a:p>
            <a:pPr indent="0" marL="0">
              <a:spcAft>
                <a:spcPts val="200"/>
              </a:spcAft>
              <a:buNone/>
            </a:pPr>
            <a:r>
              <a:rPr lang="en-US" sz="1200" dirty="0">
                <a:solidFill>
                  <a:schemeClr val="tx2"/>
                </a:solidFill>
              </a:rPr>
              <a:t>80% becomes current; 75% is kept as history, marked outdated.</a:t>
            </a:r>
            <a:endParaRPr lang="en-US" sz="14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CONSOLE · DEMO STEP 3</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The next answer uses the correction</a:t>
            </a:r>
            <a:endParaRPr lang="en-US" sz="3200" dirty="0"/>
          </a:p>
        </p:txBody>
      </p:sp>
      <p:sp>
        <p:nvSpPr>
          <p:cNvPr id="5" name="frame-152"/>
          <p:cNvSpPr/>
          <p:nvPr/>
        </p:nvSpPr>
        <p:spPr>
          <a:xfrm>
            <a:off x="457200" y="2069483"/>
            <a:ext cx="5166360" cy="3450554"/>
          </a:xfrm>
          <a:prstGeom prst="roundRect">
            <a:avLst>
              <a:gd name="adj" fmla="val 1855"/>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153" descr="Correction acknowledged and the FAT answer using 80%">    </p:cNvPr>
          <p:cNvPicPr>
            <a:picLocks noChangeAspect="1"/>
          </p:cNvPicPr>
          <p:nvPr/>
        </p:nvPicPr>
        <p:blipFill>
          <a:blip r:embed="rId1"/>
          <a:stretch>
            <a:fillRect/>
          </a:stretch>
        </p:blipFill>
        <p:spPr>
          <a:xfrm>
            <a:off x="502920" y="2115203"/>
            <a:ext cx="5074920" cy="3359114"/>
          </a:xfrm>
          <a:prstGeom prst="rect">
            <a:avLst/>
          </a:prstGeom>
        </p:spPr>
      </p:pic>
      <p:sp>
        <p:nvSpPr>
          <p:cNvPr id="7" name="marker-154"/>
          <p:cNvSpPr/>
          <p:nvPr/>
        </p:nvSpPr>
        <p:spPr>
          <a:xfrm>
            <a:off x="347472" y="3975223"/>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frame-155"/>
          <p:cNvSpPr/>
          <p:nvPr/>
        </p:nvSpPr>
        <p:spPr>
          <a:xfrm>
            <a:off x="5852160" y="1325880"/>
            <a:ext cx="3766735" cy="4937760"/>
          </a:xfrm>
          <a:prstGeom prst="roundRect">
            <a:avLst>
              <a:gd name="adj" fmla="val 1699"/>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9" name="shot-156" descr="Retrieved for this answer, with the override note">    </p:cNvPr>
          <p:cNvPicPr>
            <a:picLocks noChangeAspect="1"/>
          </p:cNvPicPr>
          <p:nvPr/>
        </p:nvPicPr>
        <p:blipFill>
          <a:blip r:embed="rId2"/>
          <a:stretch>
            <a:fillRect/>
          </a:stretch>
        </p:blipFill>
        <p:spPr>
          <a:xfrm>
            <a:off x="5897880" y="1371600"/>
            <a:ext cx="3675295" cy="4846320"/>
          </a:xfrm>
          <a:prstGeom prst="rect">
            <a:avLst/>
          </a:prstGeom>
        </p:spPr>
      </p:pic>
      <p:sp>
        <p:nvSpPr>
          <p:cNvPr id="10" name="marker-157"/>
          <p:cNvSpPr/>
          <p:nvPr/>
        </p:nvSpPr>
        <p:spPr>
          <a:xfrm>
            <a:off x="5613797" y="3808933"/>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marker-158"/>
          <p:cNvSpPr/>
          <p:nvPr/>
        </p:nvSpPr>
        <p:spPr>
          <a:xfrm>
            <a:off x="5613797" y="4826660"/>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marker-159"/>
          <p:cNvSpPr/>
          <p:nvPr/>
        </p:nvSpPr>
        <p:spPr>
          <a:xfrm>
            <a:off x="5613797" y="2040026"/>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3" name="badge-160"/>
          <p:cNvSpPr/>
          <p:nvPr/>
        </p:nvSpPr>
        <p:spPr>
          <a:xfrm>
            <a:off x="9847495" y="138074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4" name="callout-161"/>
          <p:cNvSpPr txBox="1"/>
          <p:nvPr/>
        </p:nvSpPr>
        <p:spPr>
          <a:xfrm>
            <a:off x="10268119" y="1371600"/>
            <a:ext cx="1420656" cy="856518"/>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Answer says 80%</a:t>
            </a:r>
            <a:endParaRPr lang="en-US" sz="1300" dirty="0"/>
          </a:p>
          <a:p>
            <a:pPr indent="0" marL="0">
              <a:spcAft>
                <a:spcPts val="200"/>
              </a:spcAft>
              <a:buNone/>
            </a:pPr>
            <a:r>
              <a:rPr lang="en-US" sz="1200" dirty="0">
                <a:solidFill>
                  <a:schemeClr val="tx2"/>
                </a:solidFill>
              </a:rPr>
              <a:t>Cites your correction and the old 75% rule.</a:t>
            </a:r>
            <a:endParaRPr lang="en-US" sz="1300" dirty="0"/>
          </a:p>
        </p:txBody>
      </p:sp>
      <p:sp>
        <p:nvSpPr>
          <p:cNvPr id="15" name="badge-162"/>
          <p:cNvSpPr/>
          <p:nvPr/>
        </p:nvSpPr>
        <p:spPr>
          <a:xfrm>
            <a:off x="9847495" y="2465862"/>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6" name="callout-163"/>
          <p:cNvSpPr txBox="1"/>
          <p:nvPr/>
        </p:nvSpPr>
        <p:spPr>
          <a:xfrm>
            <a:off x="10268119" y="2456718"/>
            <a:ext cx="1420656" cy="1064544"/>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Correction ranked 3rd</a:t>
            </a:r>
            <a:endParaRPr lang="en-US" sz="1300" dirty="0"/>
          </a:p>
          <a:p>
            <a:pPr indent="0" marL="0">
              <a:spcAft>
                <a:spcPts val="200"/>
              </a:spcAft>
              <a:buNone/>
            </a:pPr>
            <a:r>
              <a:rPr lang="en-US" sz="1200" dirty="0">
                <a:solidFill>
                  <a:schemeClr val="tx2"/>
                </a:solidFill>
              </a:rPr>
              <a:t>Your memory scores 0.70, next to the regulations.</a:t>
            </a:r>
            <a:endParaRPr lang="en-US" sz="1300" dirty="0"/>
          </a:p>
        </p:txBody>
      </p:sp>
      <p:sp>
        <p:nvSpPr>
          <p:cNvPr id="17" name="badge-164"/>
          <p:cNvSpPr/>
          <p:nvPr/>
        </p:nvSpPr>
        <p:spPr>
          <a:xfrm>
            <a:off x="9847495" y="3759007"/>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8" name="callout-165"/>
          <p:cNvSpPr txBox="1"/>
          <p:nvPr/>
        </p:nvSpPr>
        <p:spPr>
          <a:xfrm>
            <a:off x="10268119" y="3749863"/>
            <a:ext cx="1420656" cy="1064544"/>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§3.1 kept, overridden</a:t>
            </a:r>
            <a:endParaRPr lang="en-US" sz="1300" dirty="0"/>
          </a:p>
          <a:p>
            <a:pPr indent="0" marL="0">
              <a:spcAft>
                <a:spcPts val="200"/>
              </a:spcAft>
              <a:buNone/>
            </a:pPr>
            <a:r>
              <a:rPr lang="en-US" sz="1200" dirty="0">
                <a:solidFill>
                  <a:schemeClr val="tx2"/>
                </a:solidFill>
              </a:rPr>
              <a:t>“Overridden for minimum attendance → 80%”.</a:t>
            </a:r>
            <a:endParaRPr lang="en-US" sz="1300" dirty="0"/>
          </a:p>
        </p:txBody>
      </p:sp>
      <p:sp>
        <p:nvSpPr>
          <p:cNvPr id="19" name="badge-166"/>
          <p:cNvSpPr/>
          <p:nvPr/>
        </p:nvSpPr>
        <p:spPr>
          <a:xfrm>
            <a:off x="9847495" y="5052151"/>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callout-167"/>
          <p:cNvSpPr txBox="1"/>
          <p:nvPr/>
        </p:nvSpPr>
        <p:spPr>
          <a:xfrm>
            <a:off x="10268119" y="5043007"/>
            <a:ext cx="1420656" cy="856518"/>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Query expanded</a:t>
            </a:r>
            <a:endParaRPr lang="en-US" sz="1300" dirty="0"/>
          </a:p>
          <a:p>
            <a:pPr indent="0" marL="0">
              <a:spcAft>
                <a:spcPts val="200"/>
              </a:spcAft>
              <a:buNone/>
            </a:pPr>
            <a:r>
              <a:rPr lang="en-US" sz="1200" dirty="0">
                <a:solidFill>
                  <a:schemeClr val="tx2"/>
                </a:solidFill>
              </a:rPr>
              <a:t>Context terms added from the conversation.</a:t>
            </a:r>
            <a:endParaRPr lang="en-US" sz="13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CONSOLE · CITATIONS</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Every claim is cited — and traceable</a:t>
            </a:r>
            <a:endParaRPr lang="en-US" sz="3200" dirty="0"/>
          </a:p>
        </p:txBody>
      </p:sp>
      <p:sp>
        <p:nvSpPr>
          <p:cNvPr id="5" name="frame-168"/>
          <p:cNvSpPr/>
          <p:nvPr/>
        </p:nvSpPr>
        <p:spPr>
          <a:xfrm>
            <a:off x="457200" y="1325880"/>
            <a:ext cx="7909560" cy="4977765"/>
          </a:xfrm>
          <a:prstGeom prst="roundRect">
            <a:avLst>
              <a:gd name="adj" fmla="val 1286"/>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169" descr="Hovering a citation chip highlights the source">    </p:cNvPr>
          <p:cNvPicPr>
            <a:picLocks noChangeAspect="1"/>
          </p:cNvPicPr>
          <p:nvPr/>
        </p:nvPicPr>
        <p:blipFill>
          <a:blip r:embed="rId1"/>
          <a:stretch>
            <a:fillRect/>
          </a:stretch>
        </p:blipFill>
        <p:spPr>
          <a:xfrm>
            <a:off x="502920" y="1371600"/>
            <a:ext cx="7818120" cy="4886325"/>
          </a:xfrm>
          <a:prstGeom prst="rect">
            <a:avLst/>
          </a:prstGeom>
        </p:spPr>
      </p:pic>
      <p:sp>
        <p:nvSpPr>
          <p:cNvPr id="7" name="marker-170"/>
          <p:cNvSpPr/>
          <p:nvPr/>
        </p:nvSpPr>
        <p:spPr>
          <a:xfrm>
            <a:off x="1653098" y="4270105"/>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marker-171"/>
          <p:cNvSpPr/>
          <p:nvPr/>
        </p:nvSpPr>
        <p:spPr>
          <a:xfrm>
            <a:off x="5702884" y="5076349"/>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marker-172"/>
          <p:cNvSpPr/>
          <p:nvPr/>
        </p:nvSpPr>
        <p:spPr>
          <a:xfrm>
            <a:off x="7532324" y="2340007"/>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0" name="badge-173"/>
          <p:cNvSpPr/>
          <p:nvPr/>
        </p:nvSpPr>
        <p:spPr>
          <a:xfrm>
            <a:off x="8686800" y="138074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1" name="callout-174"/>
          <p:cNvSpPr txBox="1"/>
          <p:nvPr/>
        </p:nvSpPr>
        <p:spPr>
          <a:xfrm>
            <a:off x="9107424" y="1371600"/>
            <a:ext cx="2581351" cy="49505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Hover a citation chip</a:t>
            </a:r>
            <a:endParaRPr lang="en-US" sz="1400" dirty="0"/>
          </a:p>
          <a:p>
            <a:pPr indent="0" marL="0">
              <a:spcAft>
                <a:spcPts val="200"/>
              </a:spcAft>
              <a:buNone/>
            </a:pPr>
            <a:r>
              <a:rPr lang="en-US" sz="1200" dirty="0">
                <a:solidFill>
                  <a:schemeClr val="tx2"/>
                </a:solidFill>
              </a:rPr>
              <a:t>Chip [1] in the FAT answer.</a:t>
            </a:r>
            <a:endParaRPr lang="en-US" sz="1400" dirty="0"/>
          </a:p>
        </p:txBody>
      </p:sp>
      <p:sp>
        <p:nvSpPr>
          <p:cNvPr id="12" name="badge-175"/>
          <p:cNvSpPr/>
          <p:nvPr/>
        </p:nvSpPr>
        <p:spPr>
          <a:xfrm>
            <a:off x="8686800" y="2058680"/>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3" name="callout-176"/>
          <p:cNvSpPr txBox="1"/>
          <p:nvPr/>
        </p:nvSpPr>
        <p:spPr>
          <a:xfrm>
            <a:off x="9107424" y="2049536"/>
            <a:ext cx="258135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The source row lights up</a:t>
            </a:r>
            <a:endParaRPr lang="en-US" sz="1400" dirty="0"/>
          </a:p>
          <a:p>
            <a:pPr indent="0" marL="0">
              <a:spcAft>
                <a:spcPts val="200"/>
              </a:spcAft>
              <a:buNone/>
            </a:pPr>
            <a:r>
              <a:rPr lang="en-US" sz="1200" dirty="0">
                <a:solidFill>
                  <a:schemeClr val="tx2"/>
                </a:solidFill>
              </a:rPr>
              <a:t>Minimum attendance = 80% (your correction), 0.70</a:t>
            </a:r>
            <a:endParaRPr lang="en-US" sz="1400" dirty="0"/>
          </a:p>
        </p:txBody>
      </p:sp>
      <p:sp>
        <p:nvSpPr>
          <p:cNvPr id="14" name="badge-177"/>
          <p:cNvSpPr/>
          <p:nvPr/>
        </p:nvSpPr>
        <p:spPr>
          <a:xfrm>
            <a:off x="8686800" y="2925348"/>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5" name="callout-178"/>
          <p:cNvSpPr txBox="1"/>
          <p:nvPr/>
        </p:nvSpPr>
        <p:spPr>
          <a:xfrm>
            <a:off x="9107424" y="2916204"/>
            <a:ext cx="2581351" cy="49505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…and its map label</a:t>
            </a:r>
            <a:endParaRPr lang="en-US" sz="1400" dirty="0"/>
          </a:p>
          <a:p>
            <a:pPr indent="0" marL="0">
              <a:spcAft>
                <a:spcPts val="200"/>
              </a:spcAft>
              <a:buNone/>
            </a:pPr>
            <a:r>
              <a:rPr lang="en-US" sz="1200" dirty="0">
                <a:solidFill>
                  <a:schemeClr val="tx2"/>
                </a:solidFill>
              </a:rPr>
              <a:t>3 · Min. attendance 80%.</a:t>
            </a:r>
            <a:endParaRPr lang="en-US" sz="1400" dirty="0"/>
          </a:p>
        </p:txBody>
      </p:sp>
      <p:sp>
        <p:nvSpPr>
          <p:cNvPr id="16" name="badge-179"/>
          <p:cNvSpPr/>
          <p:nvPr/>
        </p:nvSpPr>
        <p:spPr>
          <a:xfrm>
            <a:off x="8686800" y="3603285"/>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7" name="callout-180"/>
          <p:cNvSpPr txBox="1"/>
          <p:nvPr/>
        </p:nvSpPr>
        <p:spPr>
          <a:xfrm>
            <a:off x="9107424" y="3594141"/>
            <a:ext cx="2581351" cy="87252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Click to open the source</a:t>
            </a:r>
            <a:endParaRPr lang="en-US" sz="1400" dirty="0"/>
          </a:p>
          <a:p>
            <a:pPr indent="0" marL="0">
              <a:spcAft>
                <a:spcPts val="200"/>
              </a:spcAft>
              <a:buNone/>
            </a:pPr>
            <a:r>
              <a:rPr lang="en-US" sz="1200" dirty="0">
                <a:solidFill>
                  <a:schemeClr val="tx2"/>
                </a:solidFill>
              </a:rPr>
              <a:t>A drawer shows the passage or memory, its reliability and any override.</a:t>
            </a:r>
            <a:endParaRPr lang="en-US" sz="14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CONSOLE · INSPECTOR</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Why each source was picked</a:t>
            </a:r>
            <a:endParaRPr lang="en-US" sz="3200" dirty="0"/>
          </a:p>
        </p:txBody>
      </p:sp>
      <p:sp>
        <p:nvSpPr>
          <p:cNvPr id="5" name="frame-181"/>
          <p:cNvSpPr/>
          <p:nvPr/>
        </p:nvSpPr>
        <p:spPr>
          <a:xfrm>
            <a:off x="457200" y="1325880"/>
            <a:ext cx="4617720" cy="3119365"/>
          </a:xfrm>
          <a:prstGeom prst="roundRect">
            <a:avLst>
              <a:gd name="adj" fmla="val 2052"/>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182" descr="Inspector memory map with ranked labels">    </p:cNvPr>
          <p:cNvPicPr>
            <a:picLocks noChangeAspect="1"/>
          </p:cNvPicPr>
          <p:nvPr/>
        </p:nvPicPr>
        <p:blipFill>
          <a:blip r:embed="rId1"/>
          <a:stretch>
            <a:fillRect/>
          </a:stretch>
        </p:blipFill>
        <p:spPr>
          <a:xfrm>
            <a:off x="502920" y="1371600"/>
            <a:ext cx="4526280" cy="3027925"/>
          </a:xfrm>
          <a:prstGeom prst="rect">
            <a:avLst/>
          </a:prstGeom>
        </p:spPr>
      </p:pic>
      <p:sp>
        <p:nvSpPr>
          <p:cNvPr id="7" name="frame-183"/>
          <p:cNvSpPr/>
          <p:nvPr/>
        </p:nvSpPr>
        <p:spPr>
          <a:xfrm>
            <a:off x="457200" y="4628125"/>
            <a:ext cx="4617720" cy="1621010"/>
          </a:xfrm>
          <a:prstGeom prst="roundRect">
            <a:avLst>
              <a:gd name="adj" fmla="val 3949"/>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8" name="shot-184" descr="Ranking weights panel">    </p:cNvPr>
          <p:cNvPicPr>
            <a:picLocks noChangeAspect="1"/>
          </p:cNvPicPr>
          <p:nvPr/>
        </p:nvPicPr>
        <p:blipFill>
          <a:blip r:embed="rId2"/>
          <a:stretch>
            <a:fillRect/>
          </a:stretch>
        </p:blipFill>
        <p:spPr>
          <a:xfrm>
            <a:off x="502920" y="4673845"/>
            <a:ext cx="4526280" cy="1529570"/>
          </a:xfrm>
          <a:prstGeom prst="rect">
            <a:avLst/>
          </a:prstGeom>
        </p:spPr>
      </p:pic>
      <p:sp>
        <p:nvSpPr>
          <p:cNvPr id="9" name="frame-185"/>
          <p:cNvSpPr/>
          <p:nvPr/>
        </p:nvSpPr>
        <p:spPr>
          <a:xfrm>
            <a:off x="5303520" y="1325880"/>
            <a:ext cx="3766735" cy="4937760"/>
          </a:xfrm>
          <a:prstGeom prst="roundRect">
            <a:avLst>
              <a:gd name="adj" fmla="val 1699"/>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10" name="shot-186" descr="Score bar tooltip">    </p:cNvPr>
          <p:cNvPicPr>
            <a:picLocks noChangeAspect="1"/>
          </p:cNvPicPr>
          <p:nvPr/>
        </p:nvPicPr>
        <p:blipFill>
          <a:blip r:embed="rId3"/>
          <a:stretch>
            <a:fillRect/>
          </a:stretch>
        </p:blipFill>
        <p:spPr>
          <a:xfrm>
            <a:off x="5349240" y="1371600"/>
            <a:ext cx="3675295" cy="4846320"/>
          </a:xfrm>
          <a:prstGeom prst="rect">
            <a:avLst/>
          </a:prstGeom>
        </p:spPr>
      </p:pic>
      <p:sp>
        <p:nvSpPr>
          <p:cNvPr id="11" name="marker-187"/>
          <p:cNvSpPr/>
          <p:nvPr/>
        </p:nvSpPr>
        <p:spPr>
          <a:xfrm>
            <a:off x="347472" y="1216152"/>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2" name="marker-188"/>
          <p:cNvSpPr/>
          <p:nvPr/>
        </p:nvSpPr>
        <p:spPr>
          <a:xfrm>
            <a:off x="347472" y="4518397"/>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marker-189"/>
          <p:cNvSpPr/>
          <p:nvPr/>
        </p:nvSpPr>
        <p:spPr>
          <a:xfrm>
            <a:off x="5193792" y="1216152"/>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badge-190"/>
          <p:cNvSpPr/>
          <p:nvPr/>
        </p:nvSpPr>
        <p:spPr>
          <a:xfrm>
            <a:off x="9344575" y="138074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5" name="callout-191"/>
          <p:cNvSpPr txBox="1"/>
          <p:nvPr/>
        </p:nvSpPr>
        <p:spPr>
          <a:xfrm>
            <a:off x="9765199" y="1371600"/>
            <a:ext cx="1923576" cy="856518"/>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Memory map</a:t>
            </a:r>
            <a:endParaRPr lang="en-US" sz="1300" dirty="0"/>
          </a:p>
          <a:p>
            <a:pPr indent="0" marL="0">
              <a:spcAft>
                <a:spcPts val="200"/>
              </a:spcAft>
              <a:buNone/>
            </a:pPr>
            <a:r>
              <a:rPr lang="en-US" sz="1200" dirty="0">
                <a:solidFill>
                  <a:schemeClr val="tx2"/>
                </a:solidFill>
              </a:rPr>
              <a:t>Ping = where the question landed; numbered rings = sources used.</a:t>
            </a:r>
            <a:endParaRPr lang="en-US" sz="1300" dirty="0"/>
          </a:p>
        </p:txBody>
      </p:sp>
      <p:sp>
        <p:nvSpPr>
          <p:cNvPr id="16" name="badge-192"/>
          <p:cNvSpPr/>
          <p:nvPr/>
        </p:nvSpPr>
        <p:spPr>
          <a:xfrm>
            <a:off x="9344575" y="2465862"/>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7" name="callout-193"/>
          <p:cNvSpPr txBox="1"/>
          <p:nvPr/>
        </p:nvSpPr>
        <p:spPr>
          <a:xfrm>
            <a:off x="9765199" y="2456718"/>
            <a:ext cx="1923576" cy="856518"/>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Ranking weights</a:t>
            </a:r>
            <a:endParaRPr lang="en-US" sz="1300" dirty="0"/>
          </a:p>
          <a:p>
            <a:pPr indent="0" marL="0">
              <a:spcAft>
                <a:spcPts val="200"/>
              </a:spcAft>
              <a:buNone/>
            </a:pPr>
            <a:r>
              <a:rPr lang="en-US" sz="1200" dirty="0">
                <a:solidFill>
                  <a:schemeClr val="tx2"/>
                </a:solidFill>
              </a:rPr>
              <a:t>The four signal weights S, R, C, I — tunable in the lab.</a:t>
            </a:r>
            <a:endParaRPr lang="en-US" sz="1300" dirty="0"/>
          </a:p>
        </p:txBody>
      </p:sp>
      <p:sp>
        <p:nvSpPr>
          <p:cNvPr id="18" name="badge-194"/>
          <p:cNvSpPr/>
          <p:nvPr/>
        </p:nvSpPr>
        <p:spPr>
          <a:xfrm>
            <a:off x="9344575" y="3550981"/>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9" name="callout-195"/>
          <p:cNvSpPr txBox="1"/>
          <p:nvPr/>
        </p:nvSpPr>
        <p:spPr>
          <a:xfrm>
            <a:off x="9765199" y="3541837"/>
            <a:ext cx="1923576" cy="66778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Retrieved sources</a:t>
            </a:r>
            <a:endParaRPr lang="en-US" sz="1300" dirty="0"/>
          </a:p>
          <a:p>
            <a:pPr indent="0" marL="0">
              <a:spcAft>
                <a:spcPts val="200"/>
              </a:spcAft>
              <a:buNone/>
            </a:pPr>
            <a:r>
              <a:rPr lang="en-US" sz="1200" dirty="0">
                <a:solidFill>
                  <a:schemeClr val="tx2"/>
                </a:solidFill>
              </a:rPr>
              <a:t>Hover a score bar: how much each signal added.</a:t>
            </a:r>
            <a:endParaRPr lang="en-US" sz="13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CONSOLE · DEMO STEPS 4–8</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Every message gets a different decision</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629400" cy="914400"/>
        </p:xfrm>
        <a:graphic>
          <a:graphicData uri="http://schemas.openxmlformats.org/drawingml/2006/table">
            <a:tbl>
              <a:tblPr/>
              <a:tblGrid>
                <a:gridCol w="1965960"/>
                <a:gridCol w="1600200"/>
                <a:gridCol w="3063240"/>
              </a:tblGrid>
              <a:tr h="365760">
                <a:tc>
                  <a:txBody>
                    <a:bodyPr/>
                    <a:lstStyle/>
                    <a:p>
                      <a:pPr indent="0" marL="0">
                        <a:buNone/>
                      </a:pPr>
                      <a:r>
                        <a:rPr lang="en-US" sz="1100" b="1" dirty="0">
                          <a:solidFill>
                            <a:schemeClr val="accent1"/>
                          </a:solidFill>
                        </a:rPr>
                        <a:t>MESSAGE</a:t>
                      </a:r>
                      <a:endParaRPr lang="en-US" sz="11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CLASSIFIED AS</a:t>
                      </a:r>
                      <a:endParaRPr lang="en-US" sz="11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WHAT HAPPENS</a:t>
                      </a:r>
                      <a:endParaRPr lang="en-US" sz="11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713232">
                <a:tc>
                  <a:txBody>
                    <a:bodyPr/>
                    <a:lstStyle/>
                    <a:p>
                      <a:pPr indent="0" marL="0">
                        <a:buNone/>
                      </a:pPr>
                      <a:r>
                        <a:rPr lang="en-US" sz="1200" b="1" dirty="0">
                          <a:solidFill>
                            <a:schemeClr val="tx1"/>
                          </a:solidFill>
                        </a:rPr>
                        <a:t>I prefer concise answers.</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Persistent · preference</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Replaces the step-by-step preference; answers get shorter</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713232">
                <a:tc>
                  <a:txBody>
                    <a:bodyPr/>
                    <a:lstStyle/>
                    <a:p>
                      <a:pPr indent="0" marL="0">
                        <a:buNone/>
                      </a:pPr>
                      <a:r>
                        <a:rPr lang="en-US" sz="1200" b="1" dirty="0">
                          <a:solidFill>
                            <a:schemeClr val="tx1"/>
                          </a:solidFill>
                        </a:rPr>
                        <a:t>I have a DBMS exam tomorrow.</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Temporary</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Kept until the end of tomorrow, then expires</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713232">
                <a:tc>
                  <a:txBody>
                    <a:bodyPr/>
                    <a:lstStyle/>
                    <a:p>
                      <a:pPr indent="0" marL="0">
                        <a:buNone/>
                      </a:pPr>
                      <a:r>
                        <a:rPr lang="en-US" sz="1200" b="1" dirty="0">
                          <a:solidFill>
                            <a:schemeClr val="tx1"/>
                          </a:solidFill>
                        </a:rPr>
                        <a:t>What's 2+2?</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Question · not stored</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Answered directly — no documents needed</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713232">
                <a:tc>
                  <a:txBody>
                    <a:bodyPr/>
                    <a:lstStyle/>
                    <a:p>
                      <a:pPr indent="0" marL="0">
                        <a:buNone/>
                      </a:pPr>
                      <a:r>
                        <a:rPr lang="en-US" sz="1200" b="1" dirty="0">
                          <a:solidFill>
                            <a:schemeClr val="tx1"/>
                          </a:solidFill>
                        </a:rPr>
                        <a:t>My attendance is 78%.</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Persistent · about you</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Stored as a fact about the student (0.85)</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713232">
                <a:tc>
                  <a:txBody>
                    <a:bodyPr/>
                    <a:lstStyle/>
                    <a:p>
                      <a:pPr indent="0" marL="0">
                        <a:buNone/>
                      </a:pPr>
                      <a:r>
                        <a:rPr lang="en-US" sz="1200" b="1" dirty="0">
                          <a:solidFill>
                            <a:schemeClr val="tx1"/>
                          </a:solidFill>
                        </a:rPr>
                        <a:t>Am I eligible for FAT?</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Question</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Combines 78% + the 80% correction + debarment → “Not yet”</a:t>
                      </a:r>
                      <a:endParaRPr lang="en-US" sz="1200" dirty="0"/>
                    </a:p>
                  </a:txBody>
                  <a:tcPr marL="73152" marR="73152" marT="73152" marB="7315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bl>
          </a:graphicData>
        </a:graphic>
      </p:graphicFrame>
      <p:sp>
        <p:nvSpPr>
          <p:cNvPr id="6" name="frame-196"/>
          <p:cNvSpPr/>
          <p:nvPr/>
        </p:nvSpPr>
        <p:spPr>
          <a:xfrm>
            <a:off x="7452360" y="1325880"/>
            <a:ext cx="4282135" cy="4360522"/>
          </a:xfrm>
          <a:prstGeom prst="roundRect">
            <a:avLst>
              <a:gd name="adj" fmla="val 1495"/>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7" name="shot-197" descr="Attendance stored and the eligibility answer">    </p:cNvPr>
          <p:cNvPicPr>
            <a:picLocks noChangeAspect="1"/>
          </p:cNvPicPr>
          <p:nvPr/>
        </p:nvPicPr>
        <p:blipFill>
          <a:blip r:embed="rId1"/>
          <a:stretch>
            <a:fillRect/>
          </a:stretch>
        </p:blipFill>
        <p:spPr>
          <a:xfrm>
            <a:off x="7498080" y="1371600"/>
            <a:ext cx="4190695" cy="4269082"/>
          </a:xfrm>
          <a:prstGeom prst="rect">
            <a:avLst/>
          </a:prstGeom>
        </p:spPr>
      </p:pic>
      <p:sp>
        <p:nvSpPr>
          <p:cNvPr id="8" name="caption-198"/>
          <p:cNvSpPr txBox="1"/>
          <p:nvPr/>
        </p:nvSpPr>
        <p:spPr>
          <a:xfrm>
            <a:off x="502920" y="5806440"/>
            <a:ext cx="6629400" cy="411480"/>
          </a:xfrm>
          <a:prstGeom prst="rect">
            <a:avLst/>
          </a:prstGeom>
          <a:noFill/>
          <a:ln/>
        </p:spPr>
        <p:txBody>
          <a:bodyPr wrap="square" lIns="0" tIns="0" rIns="0" bIns="0" rtlCol="0" anchor="t"/>
          <a:lstStyle/>
          <a:p>
            <a:pPr algn="l" indent="0" marL="0">
              <a:buNone/>
            </a:pPr>
            <a:r>
              <a:rPr lang="en-US" sz="1200" dirty="0">
                <a:solidFill>
                  <a:schemeClr val="tx2"/>
                </a:solidFill>
              </a:rPr>
              <a:t>Right: “My attendance is 78%” stored as persistent, then the eligibility answer citing all three sources.</a:t>
            </a:r>
            <a:endParaRPr lang="en-US" sz="12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CONSOLE · FEEDBACK</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Feedback teaches the ranking</a:t>
            </a:r>
            <a:endParaRPr lang="en-US" sz="3200" dirty="0"/>
          </a:p>
        </p:txBody>
      </p:sp>
      <p:sp>
        <p:nvSpPr>
          <p:cNvPr id="5" name="card-199"/>
          <p:cNvSpPr/>
          <p:nvPr/>
        </p:nvSpPr>
        <p:spPr>
          <a:xfrm>
            <a:off x="502920" y="1371600"/>
            <a:ext cx="2606040" cy="1783080"/>
          </a:xfrm>
          <a:prstGeom prst="roundRect">
            <a:avLst>
              <a:gd name="adj" fmla="val 5128"/>
            </a:avLst>
          </a:prstGeom>
          <a:solidFill>
            <a:schemeClr val="bg2"/>
          </a:solidFill>
          <a:ln w="12700">
            <a:solidFill>
              <a:schemeClr val="accent6"/>
            </a:solidFill>
            <a:prstDash val="solid"/>
          </a:ln>
        </p:spPr>
      </p:sp>
      <p:sp>
        <p:nvSpPr>
          <p:cNvPr id="6" name="iconbg-200"/>
          <p:cNvSpPr/>
          <p:nvPr/>
        </p:nvSpPr>
        <p:spPr>
          <a:xfrm>
            <a:off x="685800" y="1554480"/>
            <a:ext cx="512064" cy="512064"/>
          </a:xfrm>
          <a:prstGeom prst="ellipse">
            <a:avLst/>
          </a:prstGeom>
          <a:solidFill>
            <a:schemeClr val="bg1"/>
          </a:solidFill>
          <a:ln w="15875">
            <a:solidFill>
              <a:schemeClr val="accent1"/>
            </a:solidFill>
            <a:prstDash val="solid"/>
          </a:ln>
        </p:spPr>
      </p:sp>
      <p:pic>
        <p:nvPicPr>
          <p:cNvPr id="7" name="icon-201" descr="preencoded.png">    </p:cNvPr>
          <p:cNvPicPr>
            <a:picLocks noChangeAspect="1"/>
          </p:cNvPicPr>
          <p:nvPr/>
        </p:nvPicPr>
        <p:blipFill>
          <a:blip r:embed="rId1"/>
          <a:stretch>
            <a:fillRect/>
          </a:stretch>
        </p:blipFill>
        <p:spPr>
          <a:xfrm>
            <a:off x="813816" y="1682496"/>
            <a:ext cx="256032" cy="256032"/>
          </a:xfrm>
          <a:prstGeom prst="rect">
            <a:avLst/>
          </a:prstGeom>
        </p:spPr>
      </p:pic>
      <p:sp>
        <p:nvSpPr>
          <p:cNvPr id="8" name="cardtitle-202"/>
          <p:cNvSpPr txBox="1"/>
          <p:nvPr/>
        </p:nvSpPr>
        <p:spPr>
          <a:xfrm>
            <a:off x="685800" y="2194560"/>
            <a:ext cx="2240280" cy="292608"/>
          </a:xfrm>
          <a:prstGeom prst="rect">
            <a:avLst/>
          </a:prstGeom>
          <a:noFill/>
          <a:ln/>
        </p:spPr>
        <p:txBody>
          <a:bodyPr wrap="square" lIns="0" tIns="0" rIns="0" bIns="0" rtlCol="0" anchor="t"/>
          <a:lstStyle/>
          <a:p>
            <a:pPr indent="0" marL="0">
              <a:buNone/>
            </a:pPr>
            <a:r>
              <a:rPr lang="en-US" sz="1500" b="1" dirty="0">
                <a:solidFill>
                  <a:schemeClr val="tx1"/>
                </a:solidFill>
              </a:rPr>
              <a:t>Not helpful</a:t>
            </a:r>
            <a:endParaRPr lang="en-US" sz="1500" dirty="0"/>
          </a:p>
        </p:txBody>
      </p:sp>
      <p:sp>
        <p:nvSpPr>
          <p:cNvPr id="9" name="cardbody-203"/>
          <p:cNvSpPr txBox="1"/>
          <p:nvPr/>
        </p:nvSpPr>
        <p:spPr>
          <a:xfrm>
            <a:off x="685800" y="2542032"/>
            <a:ext cx="2240280" cy="475488"/>
          </a:xfrm>
          <a:prstGeom prst="rect">
            <a:avLst/>
          </a:prstGeom>
          <a:noFill/>
          <a:ln/>
        </p:spPr>
        <p:txBody>
          <a:bodyPr wrap="square" lIns="0" tIns="0" rIns="0" bIns="0" rtlCol="0" anchor="t"/>
          <a:lstStyle/>
          <a:p>
            <a:pPr indent="0" marL="0">
              <a:buNone/>
            </a:pPr>
            <a:r>
              <a:rPr lang="en-US" sz="1200" dirty="0">
                <a:solidFill>
                  <a:schemeClr val="tx2"/>
                </a:solidFill>
              </a:rPr>
              <a:t>Under any answer</a:t>
            </a:r>
            <a:endParaRPr lang="en-US" sz="1200" dirty="0"/>
          </a:p>
        </p:txBody>
      </p:sp>
      <p:sp>
        <p:nvSpPr>
          <p:cNvPr id="10" name="arrow-204"/>
          <p:cNvSpPr/>
          <p:nvPr/>
        </p:nvSpPr>
        <p:spPr>
          <a:xfrm>
            <a:off x="3136392" y="2263140"/>
            <a:ext cx="201168" cy="914"/>
          </a:xfrm>
          <a:prstGeom prst="line">
            <a:avLst/>
          </a:prstGeom>
          <a:noFill/>
          <a:ln w="19050">
            <a:solidFill>
              <a:schemeClr val="tx2"/>
            </a:solidFill>
            <a:prstDash val="solid"/>
            <a:tailEnd type="triangle"/>
          </a:ln>
        </p:spPr>
      </p:sp>
      <p:sp>
        <p:nvSpPr>
          <p:cNvPr id="11" name="card-205"/>
          <p:cNvSpPr/>
          <p:nvPr/>
        </p:nvSpPr>
        <p:spPr>
          <a:xfrm>
            <a:off x="3364992" y="1371600"/>
            <a:ext cx="2606040" cy="1783080"/>
          </a:xfrm>
          <a:prstGeom prst="roundRect">
            <a:avLst>
              <a:gd name="adj" fmla="val 5128"/>
            </a:avLst>
          </a:prstGeom>
          <a:solidFill>
            <a:schemeClr val="bg2"/>
          </a:solidFill>
          <a:ln w="12700">
            <a:solidFill>
              <a:schemeClr val="accent6"/>
            </a:solidFill>
            <a:prstDash val="solid"/>
          </a:ln>
        </p:spPr>
      </p:sp>
      <p:sp>
        <p:nvSpPr>
          <p:cNvPr id="12" name="iconbg-206"/>
          <p:cNvSpPr/>
          <p:nvPr/>
        </p:nvSpPr>
        <p:spPr>
          <a:xfrm>
            <a:off x="3547872" y="1554480"/>
            <a:ext cx="512064" cy="512064"/>
          </a:xfrm>
          <a:prstGeom prst="ellipse">
            <a:avLst/>
          </a:prstGeom>
          <a:solidFill>
            <a:schemeClr val="bg1"/>
          </a:solidFill>
          <a:ln w="15875">
            <a:solidFill>
              <a:schemeClr val="accent1"/>
            </a:solidFill>
            <a:prstDash val="solid"/>
          </a:ln>
        </p:spPr>
      </p:sp>
      <p:pic>
        <p:nvPicPr>
          <p:cNvPr id="13" name="icon-207" descr="preencoded.png">    </p:cNvPr>
          <p:cNvPicPr>
            <a:picLocks noChangeAspect="1"/>
          </p:cNvPicPr>
          <p:nvPr/>
        </p:nvPicPr>
        <p:blipFill>
          <a:blip r:embed="rId2"/>
          <a:stretch>
            <a:fillRect/>
          </a:stretch>
        </p:blipFill>
        <p:spPr>
          <a:xfrm>
            <a:off x="3675888" y="1682496"/>
            <a:ext cx="256032" cy="256032"/>
          </a:xfrm>
          <a:prstGeom prst="rect">
            <a:avLst/>
          </a:prstGeom>
        </p:spPr>
      </p:pic>
      <p:sp>
        <p:nvSpPr>
          <p:cNvPr id="14" name="cardtitle-208"/>
          <p:cNvSpPr txBox="1"/>
          <p:nvPr/>
        </p:nvSpPr>
        <p:spPr>
          <a:xfrm>
            <a:off x="3547872" y="2194560"/>
            <a:ext cx="2240280" cy="292608"/>
          </a:xfrm>
          <a:prstGeom prst="rect">
            <a:avLst/>
          </a:prstGeom>
          <a:noFill/>
          <a:ln/>
        </p:spPr>
        <p:txBody>
          <a:bodyPr wrap="square" lIns="0" tIns="0" rIns="0" bIns="0" rtlCol="0" anchor="t"/>
          <a:lstStyle/>
          <a:p>
            <a:pPr indent="0" marL="0">
              <a:buNone/>
            </a:pPr>
            <a:r>
              <a:rPr lang="en-US" sz="1500" b="1" dirty="0">
                <a:solidFill>
                  <a:schemeClr val="tx1"/>
                </a:solidFill>
              </a:rPr>
              <a:t>What went wrong?</a:t>
            </a:r>
            <a:endParaRPr lang="en-US" sz="1500" dirty="0"/>
          </a:p>
        </p:txBody>
      </p:sp>
      <p:sp>
        <p:nvSpPr>
          <p:cNvPr id="15" name="cardbody-209"/>
          <p:cNvSpPr txBox="1"/>
          <p:nvPr/>
        </p:nvSpPr>
        <p:spPr>
          <a:xfrm>
            <a:off x="3547872" y="2542032"/>
            <a:ext cx="2240280" cy="475488"/>
          </a:xfrm>
          <a:prstGeom prst="rect">
            <a:avLst/>
          </a:prstGeom>
          <a:noFill/>
          <a:ln/>
        </p:spPr>
        <p:txBody>
          <a:bodyPr wrap="square" lIns="0" tIns="0" rIns="0" bIns="0" rtlCol="0" anchor="t"/>
          <a:lstStyle/>
          <a:p>
            <a:pPr indent="0" marL="0">
              <a:buNone/>
            </a:pPr>
            <a:r>
              <a:rPr lang="en-US" sz="1200" dirty="0">
                <a:solidFill>
                  <a:schemeClr val="tx2"/>
                </a:solidFill>
              </a:rPr>
              <a:t>Wrong source · Outdated · Incomplete</a:t>
            </a:r>
            <a:endParaRPr lang="en-US" sz="1200" dirty="0"/>
          </a:p>
        </p:txBody>
      </p:sp>
      <p:sp>
        <p:nvSpPr>
          <p:cNvPr id="16" name="arrow-210"/>
          <p:cNvSpPr/>
          <p:nvPr/>
        </p:nvSpPr>
        <p:spPr>
          <a:xfrm>
            <a:off x="5998464" y="2263140"/>
            <a:ext cx="201168" cy="914"/>
          </a:xfrm>
          <a:prstGeom prst="line">
            <a:avLst/>
          </a:prstGeom>
          <a:noFill/>
          <a:ln w="19050">
            <a:solidFill>
              <a:schemeClr val="tx2"/>
            </a:solidFill>
            <a:prstDash val="solid"/>
            <a:tailEnd type="triangle"/>
          </a:ln>
        </p:spPr>
      </p:sp>
      <p:sp>
        <p:nvSpPr>
          <p:cNvPr id="17" name="card-211"/>
          <p:cNvSpPr/>
          <p:nvPr/>
        </p:nvSpPr>
        <p:spPr>
          <a:xfrm>
            <a:off x="6227064" y="1371600"/>
            <a:ext cx="2606040" cy="1783080"/>
          </a:xfrm>
          <a:prstGeom prst="roundRect">
            <a:avLst>
              <a:gd name="adj" fmla="val 5128"/>
            </a:avLst>
          </a:prstGeom>
          <a:solidFill>
            <a:schemeClr val="bg2"/>
          </a:solidFill>
          <a:ln w="12700">
            <a:solidFill>
              <a:schemeClr val="accent6"/>
            </a:solidFill>
            <a:prstDash val="solid"/>
          </a:ln>
        </p:spPr>
      </p:sp>
      <p:sp>
        <p:nvSpPr>
          <p:cNvPr id="18" name="iconbg-212"/>
          <p:cNvSpPr/>
          <p:nvPr/>
        </p:nvSpPr>
        <p:spPr>
          <a:xfrm>
            <a:off x="6409944" y="1554480"/>
            <a:ext cx="512064" cy="512064"/>
          </a:xfrm>
          <a:prstGeom prst="ellipse">
            <a:avLst/>
          </a:prstGeom>
          <a:solidFill>
            <a:schemeClr val="bg1"/>
          </a:solidFill>
          <a:ln w="15875">
            <a:solidFill>
              <a:schemeClr val="accent1"/>
            </a:solidFill>
            <a:prstDash val="solid"/>
          </a:ln>
        </p:spPr>
      </p:sp>
      <p:pic>
        <p:nvPicPr>
          <p:cNvPr id="19" name="icon-213" descr="preencoded.png">    </p:cNvPr>
          <p:cNvPicPr>
            <a:picLocks noChangeAspect="1"/>
          </p:cNvPicPr>
          <p:nvPr/>
        </p:nvPicPr>
        <p:blipFill>
          <a:blip r:embed="rId3"/>
          <a:stretch>
            <a:fillRect/>
          </a:stretch>
        </p:blipFill>
        <p:spPr>
          <a:xfrm>
            <a:off x="6537960" y="1682496"/>
            <a:ext cx="256032" cy="256032"/>
          </a:xfrm>
          <a:prstGeom prst="rect">
            <a:avLst/>
          </a:prstGeom>
        </p:spPr>
      </p:pic>
      <p:sp>
        <p:nvSpPr>
          <p:cNvPr id="20" name="cardtitle-214"/>
          <p:cNvSpPr txBox="1"/>
          <p:nvPr/>
        </p:nvSpPr>
        <p:spPr>
          <a:xfrm>
            <a:off x="6409944" y="2194560"/>
            <a:ext cx="2240280" cy="292608"/>
          </a:xfrm>
          <a:prstGeom prst="rect">
            <a:avLst/>
          </a:prstGeom>
          <a:noFill/>
          <a:ln/>
        </p:spPr>
        <p:txBody>
          <a:bodyPr wrap="square" lIns="0" tIns="0" rIns="0" bIns="0" rtlCol="0" anchor="t"/>
          <a:lstStyle/>
          <a:p>
            <a:pPr indent="0" marL="0">
              <a:buNone/>
            </a:pPr>
            <a:r>
              <a:rPr lang="en-US" sz="1500" b="1" dirty="0">
                <a:solidFill>
                  <a:schemeClr val="tx1"/>
                </a:solidFill>
              </a:rPr>
              <a:t>Which source?</a:t>
            </a:r>
            <a:endParaRPr lang="en-US" sz="1500" dirty="0"/>
          </a:p>
        </p:txBody>
      </p:sp>
      <p:sp>
        <p:nvSpPr>
          <p:cNvPr id="21" name="cardbody-215"/>
          <p:cNvSpPr txBox="1"/>
          <p:nvPr/>
        </p:nvSpPr>
        <p:spPr>
          <a:xfrm>
            <a:off x="6409944" y="2542032"/>
            <a:ext cx="2240280" cy="475488"/>
          </a:xfrm>
          <a:prstGeom prst="rect">
            <a:avLst/>
          </a:prstGeom>
          <a:noFill/>
          <a:ln/>
        </p:spPr>
        <p:txBody>
          <a:bodyPr wrap="square" lIns="0" tIns="0" rIns="0" bIns="0" rtlCol="0" anchor="t"/>
          <a:lstStyle/>
          <a:p>
            <a:pPr indent="0" marL="0">
              <a:buNone/>
            </a:pPr>
            <a:r>
              <a:rPr lang="en-US" sz="1200" dirty="0">
                <a:solidFill>
                  <a:schemeClr val="tx2"/>
                </a:solidFill>
              </a:rPr>
              <a:t>Pick it from the ranked list</a:t>
            </a:r>
            <a:endParaRPr lang="en-US" sz="1200" dirty="0"/>
          </a:p>
        </p:txBody>
      </p:sp>
      <p:sp>
        <p:nvSpPr>
          <p:cNvPr id="22" name="arrow-216"/>
          <p:cNvSpPr/>
          <p:nvPr/>
        </p:nvSpPr>
        <p:spPr>
          <a:xfrm>
            <a:off x="8860536" y="2263140"/>
            <a:ext cx="201168" cy="914"/>
          </a:xfrm>
          <a:prstGeom prst="line">
            <a:avLst/>
          </a:prstGeom>
          <a:noFill/>
          <a:ln w="19050">
            <a:solidFill>
              <a:schemeClr val="tx2"/>
            </a:solidFill>
            <a:prstDash val="solid"/>
            <a:tailEnd type="triangle"/>
          </a:ln>
        </p:spPr>
      </p:sp>
      <p:sp>
        <p:nvSpPr>
          <p:cNvPr id="23" name="card-217"/>
          <p:cNvSpPr/>
          <p:nvPr/>
        </p:nvSpPr>
        <p:spPr>
          <a:xfrm>
            <a:off x="9089136" y="1371600"/>
            <a:ext cx="2606040" cy="1783080"/>
          </a:xfrm>
          <a:prstGeom prst="roundRect">
            <a:avLst>
              <a:gd name="adj" fmla="val 5128"/>
            </a:avLst>
          </a:prstGeom>
          <a:solidFill>
            <a:schemeClr val="bg2"/>
          </a:solidFill>
          <a:ln w="12700">
            <a:solidFill>
              <a:schemeClr val="accent6"/>
            </a:solidFill>
            <a:prstDash val="solid"/>
          </a:ln>
        </p:spPr>
      </p:sp>
      <p:sp>
        <p:nvSpPr>
          <p:cNvPr id="24" name="iconbg-218"/>
          <p:cNvSpPr/>
          <p:nvPr/>
        </p:nvSpPr>
        <p:spPr>
          <a:xfrm>
            <a:off x="9272016" y="1554480"/>
            <a:ext cx="512064" cy="512064"/>
          </a:xfrm>
          <a:prstGeom prst="ellipse">
            <a:avLst/>
          </a:prstGeom>
          <a:solidFill>
            <a:schemeClr val="bg1"/>
          </a:solidFill>
          <a:ln w="15875">
            <a:solidFill>
              <a:schemeClr val="accent1"/>
            </a:solidFill>
            <a:prstDash val="solid"/>
          </a:ln>
        </p:spPr>
      </p:sp>
      <p:pic>
        <p:nvPicPr>
          <p:cNvPr id="25" name="icon-219" descr="preencoded.png">    </p:cNvPr>
          <p:cNvPicPr>
            <a:picLocks noChangeAspect="1"/>
          </p:cNvPicPr>
          <p:nvPr/>
        </p:nvPicPr>
        <p:blipFill>
          <a:blip r:embed="rId4"/>
          <a:stretch>
            <a:fillRect/>
          </a:stretch>
        </p:blipFill>
        <p:spPr>
          <a:xfrm>
            <a:off x="9400032" y="1682496"/>
            <a:ext cx="256032" cy="256032"/>
          </a:xfrm>
          <a:prstGeom prst="rect">
            <a:avLst/>
          </a:prstGeom>
        </p:spPr>
      </p:pic>
      <p:sp>
        <p:nvSpPr>
          <p:cNvPr id="26" name="cardtitle-220"/>
          <p:cNvSpPr txBox="1"/>
          <p:nvPr/>
        </p:nvSpPr>
        <p:spPr>
          <a:xfrm>
            <a:off x="9272016" y="2194560"/>
            <a:ext cx="2240280" cy="292608"/>
          </a:xfrm>
          <a:prstGeom prst="rect">
            <a:avLst/>
          </a:prstGeom>
          <a:noFill/>
          <a:ln/>
        </p:spPr>
        <p:txBody>
          <a:bodyPr wrap="square" lIns="0" tIns="0" rIns="0" bIns="0" rtlCol="0" anchor="t"/>
          <a:lstStyle/>
          <a:p>
            <a:pPr indent="0" marL="0">
              <a:buNone/>
            </a:pPr>
            <a:r>
              <a:rPr lang="en-US" sz="1500" b="1" dirty="0">
                <a:solidFill>
                  <a:schemeClr val="tx1"/>
                </a:solidFill>
              </a:rPr>
              <a:t>It adapts</a:t>
            </a:r>
            <a:endParaRPr lang="en-US" sz="1500" dirty="0"/>
          </a:p>
        </p:txBody>
      </p:sp>
      <p:sp>
        <p:nvSpPr>
          <p:cNvPr id="27" name="cardbody-221"/>
          <p:cNvSpPr txBox="1"/>
          <p:nvPr/>
        </p:nvSpPr>
        <p:spPr>
          <a:xfrm>
            <a:off x="9272016" y="2542032"/>
            <a:ext cx="2240280" cy="475488"/>
          </a:xfrm>
          <a:prstGeom prst="rect">
            <a:avLst/>
          </a:prstGeom>
          <a:noFill/>
          <a:ln/>
        </p:spPr>
        <p:txBody>
          <a:bodyPr wrap="square" lIns="0" tIns="0" rIns="0" bIns="0" rtlCol="0" anchor="t"/>
          <a:lstStyle/>
          <a:p>
            <a:pPr indent="0" marL="0">
              <a:buNone/>
            </a:pPr>
            <a:r>
              <a:rPr lang="en-US" sz="1200" dirty="0">
                <a:solidFill>
                  <a:schemeClr val="tx2"/>
                </a:solidFill>
              </a:rPr>
              <a:t>Trust drops; weights move</a:t>
            </a:r>
            <a:endParaRPr lang="en-US" sz="1200" dirty="0"/>
          </a:p>
        </p:txBody>
      </p:sp>
      <p:sp>
        <p:nvSpPr>
          <p:cNvPr id="28" name="Shape 21"/>
          <p:cNvSpPr/>
          <p:nvPr/>
        </p:nvSpPr>
        <p:spPr>
          <a:xfrm>
            <a:off x="502920" y="3474720"/>
            <a:ext cx="5486400" cy="2240280"/>
          </a:xfrm>
          <a:prstGeom prst="roundRect">
            <a:avLst>
              <a:gd name="adj" fmla="val 4082"/>
            </a:avLst>
          </a:prstGeom>
          <a:solidFill>
            <a:schemeClr val="bg2"/>
          </a:solidFill>
          <a:ln w="12700">
            <a:solidFill>
              <a:schemeClr val="accent6"/>
            </a:solidFill>
            <a:prstDash val="solid"/>
          </a:ln>
        </p:spPr>
      </p:sp>
      <p:sp>
        <p:nvSpPr>
          <p:cNvPr id="29" name="Text 22"/>
          <p:cNvSpPr txBox="1"/>
          <p:nvPr/>
        </p:nvSpPr>
        <p:spPr>
          <a:xfrm>
            <a:off x="731520" y="3639312"/>
            <a:ext cx="5029200" cy="1965960"/>
          </a:xfrm>
          <a:prstGeom prst="rect">
            <a:avLst/>
          </a:prstGeom>
          <a:noFill/>
          <a:ln/>
        </p:spPr>
        <p:txBody>
          <a:bodyPr wrap="square" lIns="0" tIns="0" rIns="0" bIns="0" rtlCol="0" anchor="t"/>
          <a:lstStyle/>
          <a:p>
            <a:pPr indent="0" marL="0">
              <a:buNone/>
            </a:pPr>
            <a:r>
              <a:rPr lang="en-US" sz="1100" b="1" spc="300" kern="0" dirty="0">
                <a:solidFill>
                  <a:schemeClr val="accent1"/>
                </a:solidFill>
              </a:rPr>
              <a:t>RESULT IN THIS RUN  (marked outdated)</a:t>
            </a:r>
            <a:endParaRPr lang="en-US" sz="1100" dirty="0"/>
          </a:p>
          <a:p>
            <a:pPr indent="0" marL="0">
              <a:buNone/>
            </a:pPr>
            <a:r>
              <a:rPr lang="en-US" sz="500" dirty="0">
                <a:solidFill>
                  <a:srgbClr val="000000"/>
                </a:solidFill>
              </a:rPr>
              <a:t> </a:t>
            </a:r>
            <a:endParaRPr lang="en-US" sz="1100" dirty="0"/>
          </a:p>
          <a:p>
            <a:pPr indent="0" marL="0">
              <a:buNone/>
            </a:pPr>
            <a:r>
              <a:rPr lang="en-US" sz="1500" b="1" dirty="0">
                <a:solidFill>
                  <a:schemeClr val="tx1"/>
                </a:solidFill>
              </a:rPr>
              <a:t>Lowered trust in “Current attendance is 78%”</a:t>
            </a:r>
            <a:endParaRPr lang="en-US" sz="1100" dirty="0"/>
          </a:p>
          <a:p>
            <a:pPr indent="0" marL="0">
              <a:buNone/>
            </a:pPr>
            <a:r>
              <a:rPr lang="en-US" sz="1400" dirty="0">
                <a:solidFill>
                  <a:schemeClr val="tx2"/>
                </a:solidFill>
              </a:rPr>
              <a:t>reliability 1.00 → 0.80</a:t>
            </a:r>
            <a:endParaRPr lang="en-US" sz="1100" dirty="0"/>
          </a:p>
          <a:p>
            <a:pPr indent="0" marL="0">
              <a:buNone/>
            </a:pPr>
            <a:r>
              <a:rPr lang="en-US" sz="800" dirty="0">
                <a:solidFill>
                  <a:srgbClr val="000000"/>
                </a:solidFill>
              </a:rPr>
              <a:t> </a:t>
            </a:r>
            <a:endParaRPr lang="en-US" sz="1100" dirty="0"/>
          </a:p>
          <a:p>
            <a:pPr indent="0" marL="0">
              <a:buNone/>
            </a:pPr>
            <a:r>
              <a:rPr lang="en-US" sz="1300" dirty="0">
                <a:solidFill>
                  <a:schemeClr val="tx1"/>
                </a:solidFill>
              </a:rPr>
              <a:t>Weights:  S +0.030 · R −0.048 · C +0.010 · I +0.008</a:t>
            </a:r>
            <a:endParaRPr lang="en-US" sz="1100" dirty="0"/>
          </a:p>
          <a:p>
            <a:pPr indent="0" marL="0">
              <a:buNone/>
            </a:pPr>
            <a:r>
              <a:rPr lang="en-US" sz="800" dirty="0">
                <a:solidFill>
                  <a:srgbClr val="000000"/>
                </a:solidFill>
              </a:rPr>
              <a:t> </a:t>
            </a:r>
            <a:endParaRPr lang="en-US" sz="1100" dirty="0"/>
          </a:p>
          <a:p>
            <a:pPr indent="0" marL="0">
              <a:buNone/>
            </a:pPr>
            <a:r>
              <a:rPr lang="en-US" sz="1200" dirty="0">
                <a:solidFill>
                  <a:schemeClr val="tx2"/>
                </a:solidFill>
              </a:rPr>
              <a:t>Helpful instead → the cited sources gain trust (+0.03) and the weights lean towards what ranked them first.</a:t>
            </a:r>
            <a:endParaRPr lang="en-US" sz="1100" dirty="0"/>
          </a:p>
        </p:txBody>
      </p:sp>
      <p:sp>
        <p:nvSpPr>
          <p:cNvPr id="30" name="Shape 23"/>
          <p:cNvSpPr/>
          <p:nvPr/>
        </p:nvSpPr>
        <p:spPr>
          <a:xfrm>
            <a:off x="6263640" y="3474720"/>
            <a:ext cx="5425135" cy="2240280"/>
          </a:xfrm>
          <a:prstGeom prst="roundRect">
            <a:avLst>
              <a:gd name="adj" fmla="val 4082"/>
            </a:avLst>
          </a:prstGeom>
          <a:solidFill>
            <a:schemeClr val="bg2"/>
          </a:solidFill>
          <a:ln w="12700">
            <a:solidFill>
              <a:schemeClr val="accent2"/>
            </a:solidFill>
            <a:prstDash val="solid"/>
          </a:ln>
        </p:spPr>
      </p:sp>
      <p:sp>
        <p:nvSpPr>
          <p:cNvPr id="31" name="Text 24"/>
          <p:cNvSpPr txBox="1"/>
          <p:nvPr/>
        </p:nvSpPr>
        <p:spPr>
          <a:xfrm>
            <a:off x="6492240" y="3639312"/>
            <a:ext cx="4967935" cy="1965960"/>
          </a:xfrm>
          <a:prstGeom prst="rect">
            <a:avLst/>
          </a:prstGeom>
          <a:noFill/>
          <a:ln/>
        </p:spPr>
        <p:txBody>
          <a:bodyPr wrap="square" lIns="0" tIns="0" rIns="0" bIns="0" rtlCol="0" anchor="t"/>
          <a:lstStyle/>
          <a:p>
            <a:pPr indent="0" marL="0">
              <a:buNone/>
            </a:pPr>
            <a:r>
              <a:rPr lang="en-US" sz="1100" b="1" spc="200" kern="0" dirty="0">
                <a:solidFill>
                  <a:schemeClr val="accent2"/>
                </a:solidFill>
              </a:rPr>
              <a:t>THE UPDATE RULES  (learning.py)</a:t>
            </a:r>
            <a:endParaRPr lang="en-US" sz="1100" dirty="0"/>
          </a:p>
          <a:p>
            <a:pPr indent="0" marL="0">
              <a:buNone/>
            </a:pPr>
            <a:r>
              <a:rPr lang="en-US" sz="500" dirty="0">
                <a:solidFill>
                  <a:srgbClr val="000000"/>
                </a:solidFill>
              </a:rPr>
              <a:t> </a:t>
            </a:r>
            <a:endParaRPr lang="en-US" sz="1100" dirty="0"/>
          </a:p>
          <a:p>
            <a:pPr indent="0" marL="0">
              <a:buNone/>
            </a:pPr>
            <a:r>
              <a:rPr lang="en-US" sz="1400" b="1" dirty="0">
                <a:solidFill>
                  <a:schemeClr val="tx1"/>
                </a:solidFill>
              </a:rPr>
              <a:t>Weights (pairwise ranking update)</a:t>
            </a:r>
            <a:endParaRPr lang="en-US" sz="1100" dirty="0"/>
          </a:p>
          <a:p>
            <a:pPr indent="0" marL="0">
              <a:buNone/>
            </a:pPr>
            <a:r>
              <a:rPr lang="en-US" sz="1300" dirty="0">
                <a:solidFill>
                  <a:schemeClr val="tx1"/>
                </a:solidFill>
              </a:rPr>
              <a:t>w ← normalise(w + η·clip(f_preferred − f_rejected))</a:t>
            </a:r>
            <a:endParaRPr lang="en-US" sz="1100" dirty="0"/>
          </a:p>
          <a:p>
            <a:pPr indent="0" marL="0">
              <a:buNone/>
            </a:pPr>
            <a:r>
              <a:rPr lang="en-US" sz="1200" dirty="0">
                <a:solidFill>
                  <a:schemeClr val="tx2"/>
                </a:solidFill>
              </a:rPr>
              <a:t>η = 0.08 · each step capped at ±0.05 · every weight ≥ 0.02 · sum = 1</a:t>
            </a:r>
            <a:endParaRPr lang="en-US" sz="1100" dirty="0"/>
          </a:p>
          <a:p>
            <a:pPr indent="0" marL="0">
              <a:buNone/>
            </a:pPr>
            <a:r>
              <a:rPr lang="en-US" sz="800" dirty="0">
                <a:solidFill>
                  <a:srgbClr val="000000"/>
                </a:solidFill>
              </a:rPr>
              <a:t> </a:t>
            </a:r>
            <a:endParaRPr lang="en-US" sz="1100" dirty="0"/>
          </a:p>
          <a:p>
            <a:pPr indent="0" marL="0">
              <a:buNone/>
            </a:pPr>
            <a:r>
              <a:rPr lang="en-US" sz="1400" b="1" dirty="0">
                <a:solidFill>
                  <a:schemeClr val="tx1"/>
                </a:solidFill>
              </a:rPr>
              <a:t>Source reliability</a:t>
            </a:r>
            <a:endParaRPr lang="en-US" sz="1100" dirty="0"/>
          </a:p>
          <a:p>
            <a:pPr indent="0" marL="0">
              <a:buNone/>
            </a:pPr>
            <a:r>
              <a:rPr lang="en-US" sz="1200" dirty="0">
                <a:solidFill>
                  <a:schemeClr val="tx2"/>
                </a:solidFill>
              </a:rPr>
              <a:t>rejected × 0.85 (floor 0.2) · outdated × 0.8 · helpful + 0.03</a:t>
            </a:r>
            <a:endParaRPr lang="en-US" sz="11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MEMORY PAGE</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Everything it has learned</a:t>
            </a:r>
            <a:endParaRPr lang="en-US" sz="3200" dirty="0"/>
          </a:p>
        </p:txBody>
      </p:sp>
      <p:sp>
        <p:nvSpPr>
          <p:cNvPr id="5" name="frame-222"/>
          <p:cNvSpPr/>
          <p:nvPr/>
        </p:nvSpPr>
        <p:spPr>
          <a:xfrm>
            <a:off x="460486" y="1325880"/>
            <a:ext cx="7674388" cy="4937760"/>
          </a:xfrm>
          <a:prstGeom prst="roundRect">
            <a:avLst>
              <a:gd name="adj" fmla="val 1296"/>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223" descr="Memory page overview">    </p:cNvPr>
          <p:cNvPicPr>
            <a:picLocks noChangeAspect="1"/>
          </p:cNvPicPr>
          <p:nvPr/>
        </p:nvPicPr>
        <p:blipFill>
          <a:blip r:embed="rId1"/>
          <a:stretch>
            <a:fillRect/>
          </a:stretch>
        </p:blipFill>
        <p:spPr>
          <a:xfrm>
            <a:off x="506206" y="1371600"/>
            <a:ext cx="7582948" cy="4846320"/>
          </a:xfrm>
          <a:prstGeom prst="rect">
            <a:avLst/>
          </a:prstGeom>
        </p:spPr>
      </p:pic>
      <p:sp>
        <p:nvSpPr>
          <p:cNvPr id="7" name="marker-224"/>
          <p:cNvSpPr/>
          <p:nvPr/>
        </p:nvSpPr>
        <p:spPr>
          <a:xfrm>
            <a:off x="350758" y="1943100"/>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marker-225"/>
          <p:cNvSpPr/>
          <p:nvPr/>
        </p:nvSpPr>
        <p:spPr>
          <a:xfrm>
            <a:off x="350758" y="2403500"/>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marker-226"/>
          <p:cNvSpPr/>
          <p:nvPr/>
        </p:nvSpPr>
        <p:spPr>
          <a:xfrm>
            <a:off x="350758" y="3106217"/>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0" name="marker-227"/>
          <p:cNvSpPr/>
          <p:nvPr/>
        </p:nvSpPr>
        <p:spPr>
          <a:xfrm>
            <a:off x="5810481" y="3106217"/>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1" name="badge-228"/>
          <p:cNvSpPr/>
          <p:nvPr/>
        </p:nvSpPr>
        <p:spPr>
          <a:xfrm>
            <a:off x="8503920" y="138074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2" name="callout-229"/>
          <p:cNvSpPr txBox="1"/>
          <p:nvPr/>
        </p:nvSpPr>
        <p:spPr>
          <a:xfrm>
            <a:off x="8924544" y="1371600"/>
            <a:ext cx="276423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“As of” timeline</a:t>
            </a:r>
            <a:endParaRPr lang="en-US" sz="1400" dirty="0"/>
          </a:p>
          <a:p>
            <a:pPr indent="0" marL="0">
              <a:spcAft>
                <a:spcPts val="200"/>
              </a:spcAft>
              <a:buNone/>
            </a:pPr>
            <a:r>
              <a:rPr lang="en-US" sz="1200" dirty="0">
                <a:solidFill>
                  <a:schemeClr val="tx2"/>
                </a:solidFill>
              </a:rPr>
              <a:t>Drag to rewind; press play to replay how memory evolved.</a:t>
            </a:r>
            <a:endParaRPr lang="en-US" sz="1400" dirty="0"/>
          </a:p>
        </p:txBody>
      </p:sp>
      <p:sp>
        <p:nvSpPr>
          <p:cNvPr id="13" name="badge-230"/>
          <p:cNvSpPr/>
          <p:nvPr/>
        </p:nvSpPr>
        <p:spPr>
          <a:xfrm>
            <a:off x="8503920" y="2293132"/>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 name="callout-231"/>
          <p:cNvSpPr txBox="1"/>
          <p:nvPr/>
        </p:nvSpPr>
        <p:spPr>
          <a:xfrm>
            <a:off x="8924544" y="2283988"/>
            <a:ext cx="2764231" cy="87252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Counters</a:t>
            </a:r>
            <a:endParaRPr lang="en-US" sz="1400" dirty="0"/>
          </a:p>
          <a:p>
            <a:pPr indent="0" marL="0">
              <a:spcAft>
                <a:spcPts val="200"/>
              </a:spcAft>
              <a:buNone/>
            </a:pPr>
            <a:r>
              <a:rPr lang="en-US" sz="1200" dirty="0">
                <a:solidFill>
                  <a:schemeClr val="tx2"/>
                </a:solidFill>
              </a:rPr>
              <a:t>Passages 28 · memories 8 · corrections · conflicts resolved · messages.</a:t>
            </a:r>
            <a:endParaRPr lang="en-US" sz="1400" dirty="0"/>
          </a:p>
        </p:txBody>
      </p:sp>
      <p:sp>
        <p:nvSpPr>
          <p:cNvPr id="15" name="badge-232"/>
          <p:cNvSpPr/>
          <p:nvPr/>
        </p:nvSpPr>
        <p:spPr>
          <a:xfrm>
            <a:off x="8503920" y="3394253"/>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callout-233"/>
          <p:cNvSpPr txBox="1"/>
          <p:nvPr/>
        </p:nvSpPr>
        <p:spPr>
          <a:xfrm>
            <a:off x="8924544" y="3385109"/>
            <a:ext cx="276423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Knowledge terrain</a:t>
            </a:r>
            <a:endParaRPr lang="en-US" sz="1400" dirty="0"/>
          </a:p>
          <a:p>
            <a:pPr indent="0" marL="0">
              <a:spcAft>
                <a:spcPts val="200"/>
              </a:spcAft>
              <a:buNone/>
            </a:pPr>
            <a:r>
              <a:rPr lang="en-US" sz="1200" dirty="0">
                <a:solidFill>
                  <a:schemeClr val="tx2"/>
                </a:solidFill>
              </a:rPr>
              <a:t>3-D relief or 2-D map; click a peak to inspect it.</a:t>
            </a:r>
            <a:endParaRPr lang="en-US" sz="1400" dirty="0"/>
          </a:p>
        </p:txBody>
      </p:sp>
      <p:sp>
        <p:nvSpPr>
          <p:cNvPr id="17" name="badge-234"/>
          <p:cNvSpPr/>
          <p:nvPr/>
        </p:nvSpPr>
        <p:spPr>
          <a:xfrm>
            <a:off x="8503920" y="4306641"/>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8" name="callout-235"/>
          <p:cNvSpPr txBox="1"/>
          <p:nvPr/>
        </p:nvSpPr>
        <p:spPr>
          <a:xfrm>
            <a:off x="8924544" y="4297497"/>
            <a:ext cx="2764231" cy="683788"/>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Activity feed</a:t>
            </a:r>
            <a:endParaRPr lang="en-US" sz="1400" dirty="0"/>
          </a:p>
          <a:p>
            <a:pPr indent="0" marL="0">
              <a:spcAft>
                <a:spcPts val="200"/>
              </a:spcAft>
              <a:buNone/>
            </a:pPr>
            <a:r>
              <a:rPr lang="en-US" sz="1200" dirty="0">
                <a:solidFill>
                  <a:schemeClr val="tx2"/>
                </a:solidFill>
              </a:rPr>
              <a:t>Every memory event: added, corrected, expired.</a:t>
            </a:r>
            <a:endParaRPr lang="en-US" sz="14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THE KNOWLEDGE TERRAIN</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A map of everything it knows</a:t>
            </a:r>
            <a:endParaRPr lang="en-US" sz="3200" dirty="0"/>
          </a:p>
        </p:txBody>
      </p:sp>
      <p:sp>
        <p:nvSpPr>
          <p:cNvPr id="5" name="frame-236"/>
          <p:cNvSpPr/>
          <p:nvPr/>
        </p:nvSpPr>
        <p:spPr>
          <a:xfrm>
            <a:off x="457200" y="1325880"/>
            <a:ext cx="7955280" cy="4301079"/>
          </a:xfrm>
          <a:prstGeom prst="roundRect">
            <a:avLst>
              <a:gd name="adj" fmla="val 1488"/>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237" descr="Knowledge terrain in 3-D relief">    </p:cNvPr>
          <p:cNvPicPr>
            <a:picLocks noChangeAspect="1"/>
          </p:cNvPicPr>
          <p:nvPr/>
        </p:nvPicPr>
        <p:blipFill>
          <a:blip r:embed="rId1"/>
          <a:stretch>
            <a:fillRect/>
          </a:stretch>
        </p:blipFill>
        <p:spPr>
          <a:xfrm>
            <a:off x="502920" y="1371600"/>
            <a:ext cx="7863840" cy="4209639"/>
          </a:xfrm>
          <a:prstGeom prst="rect">
            <a:avLst/>
          </a:prstGeom>
        </p:spPr>
      </p:pic>
      <p:sp>
        <p:nvSpPr>
          <p:cNvPr id="7" name="Shape 3"/>
          <p:cNvSpPr/>
          <p:nvPr/>
        </p:nvSpPr>
        <p:spPr>
          <a:xfrm>
            <a:off x="8732520" y="1426464"/>
            <a:ext cx="201168" cy="201168"/>
          </a:xfrm>
          <a:prstGeom prst="ellipse">
            <a:avLst/>
          </a:prstGeom>
          <a:solidFill>
            <a:schemeClr val="accent3"/>
          </a:solidFill>
          <a:ln w="12700">
            <a:solidFill>
              <a:schemeClr val="accent3"/>
            </a:solidFill>
            <a:prstDash val="solid"/>
          </a:ln>
        </p:spPr>
      </p:sp>
      <p:sp>
        <p:nvSpPr>
          <p:cNvPr id="8" name="Text 4"/>
          <p:cNvSpPr txBox="1"/>
          <p:nvPr/>
        </p:nvSpPr>
        <p:spPr>
          <a:xfrm>
            <a:off x="9079992" y="1371600"/>
            <a:ext cx="2608783" cy="685800"/>
          </a:xfrm>
          <a:prstGeom prst="rect">
            <a:avLst/>
          </a:prstGeom>
          <a:noFill/>
          <a:ln/>
        </p:spPr>
        <p:txBody>
          <a:bodyPr wrap="square" lIns="0" tIns="0" rIns="0" bIns="0" rtlCol="0" anchor="t"/>
          <a:lstStyle/>
          <a:p>
            <a:pPr indent="0" marL="0">
              <a:buNone/>
            </a:pPr>
            <a:r>
              <a:rPr lang="en-US" sz="1400" b="1" dirty="0">
                <a:solidFill>
                  <a:schemeClr val="tx1"/>
                </a:solidFill>
              </a:rPr>
              <a:t>Blue hills</a:t>
            </a:r>
            <a:endParaRPr lang="en-US" sz="1400" dirty="0"/>
          </a:p>
          <a:p>
            <a:pPr indent="0" marL="0">
              <a:buNone/>
            </a:pPr>
            <a:r>
              <a:rPr lang="en-US" sz="1200" dirty="0">
                <a:solidFill>
                  <a:schemeClr val="tx2"/>
                </a:solidFill>
              </a:rPr>
              <a:t>Passages from the official documents</a:t>
            </a:r>
            <a:endParaRPr lang="en-US" sz="1400" dirty="0"/>
          </a:p>
        </p:txBody>
      </p:sp>
      <p:sp>
        <p:nvSpPr>
          <p:cNvPr id="9" name="Shape 5"/>
          <p:cNvSpPr/>
          <p:nvPr/>
        </p:nvSpPr>
        <p:spPr>
          <a:xfrm>
            <a:off x="8732520" y="2212848"/>
            <a:ext cx="201168" cy="201168"/>
          </a:xfrm>
          <a:prstGeom prst="ellipse">
            <a:avLst/>
          </a:prstGeom>
          <a:solidFill>
            <a:schemeClr val="accent1"/>
          </a:solidFill>
          <a:ln w="12700">
            <a:solidFill>
              <a:schemeClr val="accent1"/>
            </a:solidFill>
            <a:prstDash val="solid"/>
          </a:ln>
        </p:spPr>
      </p:sp>
      <p:sp>
        <p:nvSpPr>
          <p:cNvPr id="10" name="Text 6"/>
          <p:cNvSpPr txBox="1"/>
          <p:nvPr/>
        </p:nvSpPr>
        <p:spPr>
          <a:xfrm>
            <a:off x="9079992" y="2157984"/>
            <a:ext cx="2608783" cy="685800"/>
          </a:xfrm>
          <a:prstGeom prst="rect">
            <a:avLst/>
          </a:prstGeom>
          <a:noFill/>
          <a:ln/>
        </p:spPr>
        <p:txBody>
          <a:bodyPr wrap="square" lIns="0" tIns="0" rIns="0" bIns="0" rtlCol="0" anchor="t"/>
          <a:lstStyle/>
          <a:p>
            <a:pPr indent="0" marL="0">
              <a:buNone/>
            </a:pPr>
            <a:r>
              <a:rPr lang="en-US" sz="1400" b="1" dirty="0">
                <a:solidFill>
                  <a:schemeClr val="tx1"/>
                </a:solidFill>
              </a:rPr>
              <a:t>Pink peaks</a:t>
            </a:r>
            <a:endParaRPr lang="en-US" sz="1400" dirty="0"/>
          </a:p>
          <a:p>
            <a:pPr indent="0" marL="0">
              <a:buNone/>
            </a:pPr>
            <a:r>
              <a:rPr lang="en-US" sz="1200" dirty="0">
                <a:solidFill>
                  <a:schemeClr val="tx2"/>
                </a:solidFill>
              </a:rPr>
              <a:t>Facts learned in conversation</a:t>
            </a:r>
            <a:endParaRPr lang="en-US" sz="1400" dirty="0"/>
          </a:p>
        </p:txBody>
      </p:sp>
      <p:pic>
        <p:nvPicPr>
          <p:cNvPr id="11" name="Image 1" descr="preencoded.png">    </p:cNvPr>
          <p:cNvPicPr>
            <a:picLocks noChangeAspect="1"/>
          </p:cNvPicPr>
          <p:nvPr/>
        </p:nvPicPr>
        <p:blipFill>
          <a:blip r:embed="rId2"/>
          <a:stretch>
            <a:fillRect/>
          </a:stretch>
        </p:blipFill>
        <p:spPr>
          <a:xfrm>
            <a:off x="8714232" y="2971800"/>
            <a:ext cx="246888" cy="246888"/>
          </a:xfrm>
          <a:prstGeom prst="rect">
            <a:avLst/>
          </a:prstGeom>
        </p:spPr>
      </p:pic>
      <p:sp>
        <p:nvSpPr>
          <p:cNvPr id="12" name="Text 7"/>
          <p:cNvSpPr txBox="1"/>
          <p:nvPr/>
        </p:nvSpPr>
        <p:spPr>
          <a:xfrm>
            <a:off x="9079992" y="2944368"/>
            <a:ext cx="2608783" cy="685800"/>
          </a:xfrm>
          <a:prstGeom prst="rect">
            <a:avLst/>
          </a:prstGeom>
          <a:noFill/>
          <a:ln/>
        </p:spPr>
        <p:txBody>
          <a:bodyPr wrap="square" lIns="0" tIns="0" rIns="0" bIns="0" rtlCol="0" anchor="t"/>
          <a:lstStyle/>
          <a:p>
            <a:pPr indent="0" marL="0">
              <a:buNone/>
            </a:pPr>
            <a:r>
              <a:rPr lang="en-US" sz="1400" b="1" dirty="0">
                <a:solidFill>
                  <a:schemeClr val="tx1"/>
                </a:solidFill>
              </a:rPr>
              <a:t>Height</a:t>
            </a:r>
            <a:endParaRPr lang="en-US" sz="1400" dirty="0"/>
          </a:p>
          <a:p>
            <a:pPr indent="0" marL="0">
              <a:buNone/>
            </a:pPr>
            <a:r>
              <a:rPr lang="en-US" sz="1200" dirty="0">
                <a:solidFill>
                  <a:schemeClr val="tx2"/>
                </a:solidFill>
              </a:rPr>
              <a:t>How strongly it's held — decays when unused</a:t>
            </a:r>
            <a:endParaRPr lang="en-US" sz="1400" dirty="0"/>
          </a:p>
        </p:txBody>
      </p:sp>
      <p:pic>
        <p:nvPicPr>
          <p:cNvPr id="13" name="Image 2" descr="preencoded.png">    </p:cNvPr>
          <p:cNvPicPr>
            <a:picLocks noChangeAspect="1"/>
          </p:cNvPicPr>
          <p:nvPr/>
        </p:nvPicPr>
        <p:blipFill>
          <a:blip r:embed="rId3"/>
          <a:stretch>
            <a:fillRect/>
          </a:stretch>
        </p:blipFill>
        <p:spPr>
          <a:xfrm>
            <a:off x="8714232" y="3758184"/>
            <a:ext cx="246888" cy="246888"/>
          </a:xfrm>
          <a:prstGeom prst="rect">
            <a:avLst/>
          </a:prstGeom>
        </p:spPr>
      </p:pic>
      <p:sp>
        <p:nvSpPr>
          <p:cNvPr id="14" name="Text 8"/>
          <p:cNvSpPr txBox="1"/>
          <p:nvPr/>
        </p:nvSpPr>
        <p:spPr>
          <a:xfrm>
            <a:off x="9079992" y="3730752"/>
            <a:ext cx="2608783" cy="685800"/>
          </a:xfrm>
          <a:prstGeom prst="rect">
            <a:avLst/>
          </a:prstGeom>
          <a:noFill/>
          <a:ln/>
        </p:spPr>
        <p:txBody>
          <a:bodyPr wrap="square" lIns="0" tIns="0" rIns="0" bIns="0" rtlCol="0" anchor="t"/>
          <a:lstStyle/>
          <a:p>
            <a:pPr indent="0" marL="0">
              <a:buNone/>
            </a:pPr>
            <a:r>
              <a:rPr lang="en-US" sz="1400" b="1" dirty="0">
                <a:solidFill>
                  <a:schemeClr val="tx1"/>
                </a:solidFill>
              </a:rPr>
              <a:t>Distance</a:t>
            </a:r>
            <a:endParaRPr lang="en-US" sz="1400" dirty="0"/>
          </a:p>
          <a:p>
            <a:pPr indent="0" marL="0">
              <a:buNone/>
            </a:pPr>
            <a:r>
              <a:rPr lang="en-US" sz="1200" dirty="0">
                <a:solidFill>
                  <a:schemeClr val="tx2"/>
                </a:solidFill>
              </a:rPr>
              <a:t>Meaning: similar items sit close together</a:t>
            </a:r>
            <a:endParaRPr lang="en-US" sz="1400" dirty="0"/>
          </a:p>
        </p:txBody>
      </p:sp>
      <p:sp>
        <p:nvSpPr>
          <p:cNvPr id="15" name="Shape 9"/>
          <p:cNvSpPr/>
          <p:nvPr/>
        </p:nvSpPr>
        <p:spPr>
          <a:xfrm>
            <a:off x="8732520" y="4562856"/>
            <a:ext cx="219456" cy="219456"/>
          </a:xfrm>
          <a:prstGeom prst="ellipse">
            <a:avLst/>
          </a:prstGeom>
          <a:ln w="15875">
            <a:solidFill>
              <a:schemeClr val="tx1"/>
            </a:solidFill>
            <a:prstDash val="dash"/>
          </a:ln>
        </p:spPr>
      </p:sp>
      <p:sp>
        <p:nvSpPr>
          <p:cNvPr id="16" name="Text 10"/>
          <p:cNvSpPr txBox="1"/>
          <p:nvPr/>
        </p:nvSpPr>
        <p:spPr>
          <a:xfrm>
            <a:off x="9079992" y="4517136"/>
            <a:ext cx="2608783" cy="685800"/>
          </a:xfrm>
          <a:prstGeom prst="rect">
            <a:avLst/>
          </a:prstGeom>
          <a:noFill/>
          <a:ln/>
        </p:spPr>
        <p:txBody>
          <a:bodyPr wrap="square" lIns="0" tIns="0" rIns="0" bIns="0" rtlCol="0" anchor="t"/>
          <a:lstStyle/>
          <a:p>
            <a:pPr indent="0" marL="0">
              <a:buNone/>
            </a:pPr>
            <a:r>
              <a:rPr lang="en-US" sz="1400" b="1" dirty="0">
                <a:solidFill>
                  <a:schemeClr val="tx1"/>
                </a:solidFill>
              </a:rPr>
              <a:t>Dashed ring</a:t>
            </a:r>
            <a:endParaRPr lang="en-US" sz="1400" dirty="0"/>
          </a:p>
          <a:p>
            <a:pPr indent="0" marL="0">
              <a:buNone/>
            </a:pPr>
            <a:r>
              <a:rPr lang="en-US" sz="1200" dirty="0">
                <a:solidFill>
                  <a:schemeClr val="tx2"/>
                </a:solidFill>
              </a:rPr>
              <a:t>An outdated fact, kept as history</a:t>
            </a:r>
            <a:endParaRPr lang="en-US" sz="1400" dirty="0"/>
          </a:p>
        </p:txBody>
      </p:sp>
      <p:sp>
        <p:nvSpPr>
          <p:cNvPr id="17" name="caption-238"/>
          <p:cNvSpPr txBox="1"/>
          <p:nvPr/>
        </p:nvSpPr>
        <p:spPr>
          <a:xfrm>
            <a:off x="8732520" y="5349240"/>
            <a:ext cx="2956255" cy="548640"/>
          </a:xfrm>
          <a:prstGeom prst="rect">
            <a:avLst/>
          </a:prstGeom>
          <a:noFill/>
          <a:ln/>
        </p:spPr>
        <p:txBody>
          <a:bodyPr wrap="square" lIns="0" tIns="0" rIns="0" bIns="0" rtlCol="0" anchor="t"/>
          <a:lstStyle/>
          <a:p>
            <a:pPr algn="l" indent="0" marL="0">
              <a:buNone/>
            </a:pPr>
            <a:r>
              <a:rPr lang="en-US" sz="1100" i="1" dirty="0">
                <a:solidFill>
                  <a:schemeClr val="tx2"/>
                </a:solidFill>
              </a:rPr>
              <a:t>Appears on four pages: landing (full screen), console inspector, memory, knowledge.</a:t>
            </a:r>
            <a:endParaRPr lang="en-US" sz="11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THE KNOWLEDGE TERRAIN · HOW IT WORKS</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How the terrain is built</a:t>
            </a:r>
            <a:endParaRPr lang="en-US" sz="3200" dirty="0"/>
          </a:p>
        </p:txBody>
      </p:sp>
      <p:sp>
        <p:nvSpPr>
          <p:cNvPr id="5" name="Shape 2"/>
          <p:cNvSpPr/>
          <p:nvPr/>
        </p:nvSpPr>
        <p:spPr>
          <a:xfrm>
            <a:off x="502920" y="1371600"/>
            <a:ext cx="6309360" cy="1069848"/>
          </a:xfrm>
          <a:prstGeom prst="roundRect">
            <a:avLst>
              <a:gd name="adj" fmla="val 8547"/>
            </a:avLst>
          </a:prstGeom>
          <a:solidFill>
            <a:schemeClr val="bg2"/>
          </a:solidFill>
          <a:ln w="12700">
            <a:solidFill>
              <a:schemeClr val="accent6"/>
            </a:solidFill>
            <a:prstDash val="solid"/>
          </a:ln>
        </p:spPr>
      </p:sp>
      <p:sp>
        <p:nvSpPr>
          <p:cNvPr id="6" name="Shape 3"/>
          <p:cNvSpPr/>
          <p:nvPr/>
        </p:nvSpPr>
        <p:spPr>
          <a:xfrm>
            <a:off x="685800" y="1627632"/>
            <a:ext cx="548640" cy="548640"/>
          </a:xfrm>
          <a:prstGeom prst="ellipse">
            <a:avLst/>
          </a:prstGeom>
          <a:solidFill>
            <a:schemeClr val="bg1"/>
          </a:solidFill>
          <a:ln w="15875">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822960" y="1764792"/>
            <a:ext cx="274320" cy="274320"/>
          </a:xfrm>
          <a:prstGeom prst="rect">
            <a:avLst/>
          </a:prstGeom>
        </p:spPr>
      </p:pic>
      <p:sp>
        <p:nvSpPr>
          <p:cNvPr id="8" name="Text 4"/>
          <p:cNvSpPr txBox="1"/>
          <p:nvPr/>
        </p:nvSpPr>
        <p:spPr>
          <a:xfrm>
            <a:off x="1417320" y="1481328"/>
            <a:ext cx="5257800" cy="868680"/>
          </a:xfrm>
          <a:prstGeom prst="rect">
            <a:avLst/>
          </a:prstGeom>
          <a:noFill/>
          <a:ln/>
        </p:spPr>
        <p:txBody>
          <a:bodyPr wrap="square" lIns="0" tIns="0" rIns="0" bIns="0" rtlCol="0" anchor="t"/>
          <a:lstStyle/>
          <a:p>
            <a:pPr indent="0" marL="0">
              <a:buNone/>
            </a:pPr>
            <a:r>
              <a:rPr lang="en-US" sz="1500" b="1" dirty="0">
                <a:solidFill>
                  <a:schemeClr val="tx1"/>
                </a:solidFill>
              </a:rPr>
              <a:t>1 · Embed</a:t>
            </a:r>
            <a:endParaRPr lang="en-US" sz="1500" dirty="0"/>
          </a:p>
          <a:p>
            <a:pPr indent="0" marL="0">
              <a:buNone/>
            </a:pPr>
            <a:r>
              <a:rPr lang="en-US" sz="1200" dirty="0">
                <a:solidFill>
                  <a:schemeClr val="tx2"/>
                </a:solidFill>
              </a:rPr>
              <a:t>Each passage and memory becomes a 384-number vector from the MiniLM sentence model.</a:t>
            </a:r>
            <a:endParaRPr lang="en-US" sz="1500" dirty="0"/>
          </a:p>
        </p:txBody>
      </p:sp>
      <p:sp>
        <p:nvSpPr>
          <p:cNvPr id="9" name="Shape 5"/>
          <p:cNvSpPr/>
          <p:nvPr/>
        </p:nvSpPr>
        <p:spPr>
          <a:xfrm>
            <a:off x="502920" y="2578608"/>
            <a:ext cx="6309360" cy="1069848"/>
          </a:xfrm>
          <a:prstGeom prst="roundRect">
            <a:avLst>
              <a:gd name="adj" fmla="val 8547"/>
            </a:avLst>
          </a:prstGeom>
          <a:solidFill>
            <a:schemeClr val="bg2"/>
          </a:solidFill>
          <a:ln w="12700">
            <a:solidFill>
              <a:schemeClr val="accent6"/>
            </a:solidFill>
            <a:prstDash val="solid"/>
          </a:ln>
        </p:spPr>
      </p:sp>
      <p:sp>
        <p:nvSpPr>
          <p:cNvPr id="10" name="Shape 6"/>
          <p:cNvSpPr/>
          <p:nvPr/>
        </p:nvSpPr>
        <p:spPr>
          <a:xfrm>
            <a:off x="685800" y="2834640"/>
            <a:ext cx="548640" cy="548640"/>
          </a:xfrm>
          <a:prstGeom prst="ellipse">
            <a:avLst/>
          </a:prstGeom>
          <a:solidFill>
            <a:schemeClr val="bg1"/>
          </a:solidFill>
          <a:ln w="15875">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822960" y="2971800"/>
            <a:ext cx="274320" cy="274320"/>
          </a:xfrm>
          <a:prstGeom prst="rect">
            <a:avLst/>
          </a:prstGeom>
        </p:spPr>
      </p:pic>
      <p:sp>
        <p:nvSpPr>
          <p:cNvPr id="12" name="Text 7"/>
          <p:cNvSpPr txBox="1"/>
          <p:nvPr/>
        </p:nvSpPr>
        <p:spPr>
          <a:xfrm>
            <a:off x="1417320" y="2688336"/>
            <a:ext cx="5257800" cy="868680"/>
          </a:xfrm>
          <a:prstGeom prst="rect">
            <a:avLst/>
          </a:prstGeom>
          <a:noFill/>
          <a:ln/>
        </p:spPr>
        <p:txBody>
          <a:bodyPr wrap="square" lIns="0" tIns="0" rIns="0" bIns="0" rtlCol="0" anchor="t"/>
          <a:lstStyle/>
          <a:p>
            <a:pPr indent="0" marL="0">
              <a:buNone/>
            </a:pPr>
            <a:r>
              <a:rPr lang="en-US" sz="1500" b="1" dirty="0">
                <a:solidFill>
                  <a:schemeClr val="tx1"/>
                </a:solidFill>
              </a:rPr>
              <a:t>2 · Place</a:t>
            </a:r>
            <a:endParaRPr lang="en-US" sz="1500" dirty="0"/>
          </a:p>
          <a:p>
            <a:pPr indent="0" marL="0">
              <a:buNone/>
            </a:pPr>
            <a:r>
              <a:rPr lang="en-US" sz="1200" dirty="0">
                <a:solidFill>
                  <a:schemeClr val="tx2"/>
                </a:solidFill>
              </a:rPr>
              <a:t>Classical MDS on cosine distance → x, y. New items are placed beside their nearest neighbours.</a:t>
            </a:r>
            <a:endParaRPr lang="en-US" sz="1500" dirty="0"/>
          </a:p>
        </p:txBody>
      </p:sp>
      <p:sp>
        <p:nvSpPr>
          <p:cNvPr id="13" name="Shape 8"/>
          <p:cNvSpPr/>
          <p:nvPr/>
        </p:nvSpPr>
        <p:spPr>
          <a:xfrm>
            <a:off x="502920" y="3785616"/>
            <a:ext cx="6309360" cy="1069848"/>
          </a:xfrm>
          <a:prstGeom prst="roundRect">
            <a:avLst>
              <a:gd name="adj" fmla="val 8547"/>
            </a:avLst>
          </a:prstGeom>
          <a:solidFill>
            <a:schemeClr val="bg2"/>
          </a:solidFill>
          <a:ln w="12700">
            <a:solidFill>
              <a:schemeClr val="accent6"/>
            </a:solidFill>
            <a:prstDash val="solid"/>
          </a:ln>
        </p:spPr>
      </p:sp>
      <p:sp>
        <p:nvSpPr>
          <p:cNvPr id="14" name="Shape 9"/>
          <p:cNvSpPr/>
          <p:nvPr/>
        </p:nvSpPr>
        <p:spPr>
          <a:xfrm>
            <a:off x="685800" y="4041648"/>
            <a:ext cx="548640" cy="548640"/>
          </a:xfrm>
          <a:prstGeom prst="ellipse">
            <a:avLst/>
          </a:prstGeom>
          <a:solidFill>
            <a:schemeClr val="bg1"/>
          </a:solidFill>
          <a:ln w="15875">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822960" y="4178808"/>
            <a:ext cx="274320" cy="274320"/>
          </a:xfrm>
          <a:prstGeom prst="rect">
            <a:avLst/>
          </a:prstGeom>
        </p:spPr>
      </p:pic>
      <p:sp>
        <p:nvSpPr>
          <p:cNvPr id="16" name="Text 10"/>
          <p:cNvSpPr txBox="1"/>
          <p:nvPr/>
        </p:nvSpPr>
        <p:spPr>
          <a:xfrm>
            <a:off x="1417320" y="3895344"/>
            <a:ext cx="5257800" cy="868680"/>
          </a:xfrm>
          <a:prstGeom prst="rect">
            <a:avLst/>
          </a:prstGeom>
          <a:noFill/>
          <a:ln/>
        </p:spPr>
        <p:txBody>
          <a:bodyPr wrap="square" lIns="0" tIns="0" rIns="0" bIns="0" rtlCol="0" anchor="t"/>
          <a:lstStyle/>
          <a:p>
            <a:pPr indent="0" marL="0">
              <a:buNone/>
            </a:pPr>
            <a:r>
              <a:rPr lang="en-US" sz="1500" b="1" dirty="0">
                <a:solidFill>
                  <a:schemeClr val="tx1"/>
                </a:solidFill>
              </a:rPr>
              <a:t>3 · Height</a:t>
            </a:r>
            <a:endParaRPr lang="en-US" sz="1500" dirty="0"/>
          </a:p>
          <a:p>
            <a:pPr indent="0" marL="0">
              <a:buNone/>
            </a:pPr>
            <a:r>
              <a:rPr lang="en-US" sz="1200" dirty="0">
                <a:solidFill>
                  <a:schemeClr val="tx2"/>
                </a:solidFill>
              </a:rPr>
              <a:t>Memory: 0.22 + 0.85 × strength</a:t>
            </a:r>
            <a:endParaRPr lang="en-US" sz="1500" dirty="0"/>
          </a:p>
          <a:p>
            <a:pPr indent="0" marL="0">
              <a:buNone/>
            </a:pPr>
            <a:r>
              <a:rPr lang="en-US" sz="1200" dirty="0">
                <a:solidFill>
                  <a:schemeClr val="tx2"/>
                </a:solidFill>
              </a:rPr>
              <a:t>Passage: (0.34 + 0.3·importance) × (0.55 + 0.45·reliability)</a:t>
            </a:r>
            <a:endParaRPr lang="en-US" sz="1500" dirty="0"/>
          </a:p>
        </p:txBody>
      </p:sp>
      <p:sp>
        <p:nvSpPr>
          <p:cNvPr id="17" name="Shape 11"/>
          <p:cNvSpPr/>
          <p:nvPr/>
        </p:nvSpPr>
        <p:spPr>
          <a:xfrm>
            <a:off x="502920" y="4992624"/>
            <a:ext cx="6309360" cy="1069848"/>
          </a:xfrm>
          <a:prstGeom prst="roundRect">
            <a:avLst>
              <a:gd name="adj" fmla="val 8547"/>
            </a:avLst>
          </a:prstGeom>
          <a:solidFill>
            <a:schemeClr val="bg2"/>
          </a:solidFill>
          <a:ln w="12700">
            <a:solidFill>
              <a:schemeClr val="accent6"/>
            </a:solidFill>
            <a:prstDash val="solid"/>
          </a:ln>
        </p:spPr>
      </p:sp>
      <p:sp>
        <p:nvSpPr>
          <p:cNvPr id="18" name="Shape 12"/>
          <p:cNvSpPr/>
          <p:nvPr/>
        </p:nvSpPr>
        <p:spPr>
          <a:xfrm>
            <a:off x="685800" y="5248656"/>
            <a:ext cx="548640" cy="548640"/>
          </a:xfrm>
          <a:prstGeom prst="ellipse">
            <a:avLst/>
          </a:prstGeom>
          <a:solidFill>
            <a:schemeClr val="bg1"/>
          </a:solidFill>
          <a:ln w="15875">
            <a:solidFill>
              <a:schemeClr val="accent1"/>
            </a:solidFill>
            <a:prstDash val="solid"/>
          </a:ln>
        </p:spPr>
      </p:sp>
      <p:pic>
        <p:nvPicPr>
          <p:cNvPr id="19" name="Image 3" descr="preencoded.png">    </p:cNvPr>
          <p:cNvPicPr>
            <a:picLocks noChangeAspect="1"/>
          </p:cNvPicPr>
          <p:nvPr/>
        </p:nvPicPr>
        <p:blipFill>
          <a:blip r:embed="rId4"/>
          <a:stretch>
            <a:fillRect/>
          </a:stretch>
        </p:blipFill>
        <p:spPr>
          <a:xfrm>
            <a:off x="822960" y="5385816"/>
            <a:ext cx="274320" cy="274320"/>
          </a:xfrm>
          <a:prstGeom prst="rect">
            <a:avLst/>
          </a:prstGeom>
        </p:spPr>
      </p:pic>
      <p:sp>
        <p:nvSpPr>
          <p:cNvPr id="20" name="Text 13"/>
          <p:cNvSpPr txBox="1"/>
          <p:nvPr/>
        </p:nvSpPr>
        <p:spPr>
          <a:xfrm>
            <a:off x="1417320" y="5102352"/>
            <a:ext cx="5257800" cy="868680"/>
          </a:xfrm>
          <a:prstGeom prst="rect">
            <a:avLst/>
          </a:prstGeom>
          <a:noFill/>
          <a:ln/>
        </p:spPr>
        <p:txBody>
          <a:bodyPr wrap="square" lIns="0" tIns="0" rIns="0" bIns="0" rtlCol="0" anchor="t"/>
          <a:lstStyle/>
          <a:p>
            <a:pPr indent="0" marL="0">
              <a:buNone/>
            </a:pPr>
            <a:r>
              <a:rPr lang="en-US" sz="1500" b="1" dirty="0">
                <a:solidFill>
                  <a:schemeClr val="tx1"/>
                </a:solidFill>
              </a:rPr>
              <a:t>4 · Render on the GPU</a:t>
            </a:r>
            <a:endParaRPr lang="en-US" sz="1500" dirty="0"/>
          </a:p>
          <a:p>
            <a:pPr indent="0" marL="0">
              <a:buNone/>
            </a:pPr>
            <a:r>
              <a:rPr lang="en-US" sz="1200" dirty="0">
                <a:solidFill>
                  <a:schemeClr val="tx2"/>
                </a:solidFill>
              </a:rPr>
              <a:t>Sum of Gaussian peaks on a 260×150 grid, normalised; 14 contour levels; colour blue → pink by memory share.</a:t>
            </a:r>
            <a:endParaRPr lang="en-US" sz="1500" dirty="0"/>
          </a:p>
        </p:txBody>
      </p:sp>
      <p:sp>
        <p:nvSpPr>
          <p:cNvPr id="21" name="frame-239"/>
          <p:cNvSpPr/>
          <p:nvPr/>
        </p:nvSpPr>
        <p:spPr>
          <a:xfrm>
            <a:off x="7086600" y="1325880"/>
            <a:ext cx="4647895" cy="3139551"/>
          </a:xfrm>
          <a:prstGeom prst="roundRect">
            <a:avLst>
              <a:gd name="adj" fmla="val 2039"/>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22" name="shot-240" descr="Console memory map with ping and ranked rings">    </p:cNvPr>
          <p:cNvPicPr>
            <a:picLocks noChangeAspect="1"/>
          </p:cNvPicPr>
          <p:nvPr/>
        </p:nvPicPr>
        <p:blipFill>
          <a:blip r:embed="rId5"/>
          <a:stretch>
            <a:fillRect/>
          </a:stretch>
        </p:blipFill>
        <p:spPr>
          <a:xfrm>
            <a:off x="7132320" y="1371600"/>
            <a:ext cx="4556455" cy="3048111"/>
          </a:xfrm>
          <a:prstGeom prst="rect">
            <a:avLst/>
          </a:prstGeom>
        </p:spPr>
      </p:pic>
      <p:sp>
        <p:nvSpPr>
          <p:cNvPr id="23" name="callout-241"/>
          <p:cNvSpPr txBox="1"/>
          <p:nvPr/>
        </p:nvSpPr>
        <p:spPr>
          <a:xfrm>
            <a:off x="7086600" y="4694031"/>
            <a:ext cx="4602175" cy="87252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Live signals on the map</a:t>
            </a:r>
            <a:endParaRPr lang="en-US" sz="1400" dirty="0"/>
          </a:p>
          <a:p>
            <a:pPr indent="0" marL="0">
              <a:spcAft>
                <a:spcPts val="200"/>
              </a:spcAft>
              <a:buNone/>
            </a:pPr>
            <a:r>
              <a:rPr lang="en-US" sz="1200" dirty="0">
                <a:solidFill>
                  <a:schemeClr val="tx2"/>
                </a:solidFill>
              </a:rPr>
              <a:t>Amber ping = where a question lands. Numbered rings = the sources used. Ripples = a memory was added, replaced, flagged or expired.</a:t>
            </a:r>
            <a:endParaRPr lang="en-US" sz="14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MEMORY · FORGETTING</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Memories fade unless they're used</a:t>
            </a:r>
            <a:endParaRPr lang="en-US" sz="3200" dirty="0"/>
          </a:p>
        </p:txBody>
      </p:sp>
      <p:graphicFrame>
        <p:nvGraphicFramePr>
          <p:cNvPr id="5" name="Chart 0" descr=""/>
          <p:cNvGraphicFramePr/>
          <p:nvPr/>
        </p:nvGraphicFramePr>
        <p:xfrm>
          <a:off x="502920" y="1371600"/>
          <a:ext cx="6766560" cy="48006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635240" y="1371600"/>
            <a:ext cx="4053535" cy="1188720"/>
          </a:xfrm>
          <a:prstGeom prst="roundRect">
            <a:avLst>
              <a:gd name="adj" fmla="val 7692"/>
            </a:avLst>
          </a:prstGeom>
          <a:solidFill>
            <a:schemeClr val="bg2"/>
          </a:solidFill>
          <a:ln w="12700">
            <a:solidFill>
              <a:schemeClr val="accent2"/>
            </a:solidFill>
            <a:prstDash val="solid"/>
          </a:ln>
        </p:spPr>
      </p:sp>
      <p:sp>
        <p:nvSpPr>
          <p:cNvPr id="7" name="Text 3"/>
          <p:cNvSpPr txBox="1"/>
          <p:nvPr/>
        </p:nvSpPr>
        <p:spPr>
          <a:xfrm>
            <a:off x="7772400" y="1481328"/>
            <a:ext cx="3779215" cy="1005840"/>
          </a:xfrm>
          <a:prstGeom prst="rect">
            <a:avLst/>
          </a:prstGeom>
          <a:noFill/>
          <a:ln/>
        </p:spPr>
        <p:txBody>
          <a:bodyPr wrap="square" lIns="0" tIns="0" rIns="0" bIns="0" rtlCol="0" anchor="t"/>
          <a:lstStyle/>
          <a:p>
            <a:pPr indent="0" marL="0">
              <a:buNone/>
            </a:pPr>
            <a:r>
              <a:rPr lang="en-US" sz="1300" b="1" dirty="0">
                <a:solidFill>
                  <a:schemeClr val="tx1"/>
                </a:solidFill>
              </a:rPr>
              <a:t>strength = importance × confidence × e^(−Δt/τ)</a:t>
            </a:r>
            <a:endParaRPr lang="en-US" sz="1300" dirty="0"/>
          </a:p>
          <a:p>
            <a:pPr indent="0" marL="0">
              <a:buNone/>
            </a:pPr>
            <a:r>
              <a:rPr lang="en-US" sz="1300" b="1" dirty="0">
                <a:solidFill>
                  <a:schemeClr val="tx1"/>
                </a:solidFill>
              </a:rPr>
              <a:t>τ = base(class) × 1.2^uses</a:t>
            </a:r>
            <a:endParaRPr lang="en-US" sz="1300" dirty="0"/>
          </a:p>
          <a:p>
            <a:pPr indent="0" marL="0">
              <a:buNone/>
            </a:pPr>
            <a:r>
              <a:rPr lang="en-US" sz="1200" dirty="0">
                <a:solidFill>
                  <a:schemeClr val="tx2"/>
                </a:solidFill>
              </a:rPr>
              <a:t>Each use stretches τ by 20% (up to 8 uses).</a:t>
            </a:r>
            <a:endParaRPr lang="en-US" sz="1300" dirty="0"/>
          </a:p>
        </p:txBody>
      </p:sp>
      <p:sp>
        <p:nvSpPr>
          <p:cNvPr id="8" name="badge-242"/>
          <p:cNvSpPr/>
          <p:nvPr/>
        </p:nvSpPr>
        <p:spPr>
          <a:xfrm>
            <a:off x="7635240" y="284378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9" name="callout-243"/>
          <p:cNvSpPr txBox="1"/>
          <p:nvPr/>
        </p:nvSpPr>
        <p:spPr>
          <a:xfrm>
            <a:off x="8055864" y="2834640"/>
            <a:ext cx="3632911" cy="479054"/>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Corrections last longest</a:t>
            </a:r>
            <a:endParaRPr lang="en-US" sz="1300" dirty="0"/>
          </a:p>
          <a:p>
            <a:pPr indent="0" marL="0">
              <a:spcAft>
                <a:spcPts val="200"/>
              </a:spcAft>
              <a:buNone/>
            </a:pPr>
            <a:r>
              <a:rPr lang="en-US" sz="1200" dirty="0">
                <a:solidFill>
                  <a:schemeClr val="tx2"/>
                </a:solidFill>
              </a:rPr>
              <a:t>τ = 90 days; persistent 60; important 45.</a:t>
            </a:r>
            <a:endParaRPr lang="en-US" sz="1300" dirty="0"/>
          </a:p>
        </p:txBody>
      </p:sp>
      <p:sp>
        <p:nvSpPr>
          <p:cNvPr id="10" name="badge-244"/>
          <p:cNvSpPr/>
          <p:nvPr/>
        </p:nvSpPr>
        <p:spPr>
          <a:xfrm>
            <a:off x="7635240" y="3505718"/>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callout-245"/>
          <p:cNvSpPr txBox="1"/>
          <p:nvPr/>
        </p:nvSpPr>
        <p:spPr>
          <a:xfrm>
            <a:off x="8055864" y="3496574"/>
            <a:ext cx="3632911" cy="66778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Temporary facts expire</a:t>
            </a:r>
            <a:endParaRPr lang="en-US" sz="1300" dirty="0"/>
          </a:p>
          <a:p>
            <a:pPr indent="0" marL="0">
              <a:spcAft>
                <a:spcPts val="200"/>
              </a:spcAft>
              <a:buNone/>
            </a:pPr>
            <a:r>
              <a:rPr lang="en-US" sz="1200" dirty="0">
                <a:solidFill>
                  <a:schemeClr val="tx2"/>
                </a:solidFill>
              </a:rPr>
              <a:t>“DBMS exam tomorrow” is kept until the end of tomorrow.</a:t>
            </a:r>
            <a:endParaRPr lang="en-US" sz="1300" dirty="0"/>
          </a:p>
        </p:txBody>
      </p:sp>
      <p:sp>
        <p:nvSpPr>
          <p:cNvPr id="12" name="badge-246"/>
          <p:cNvSpPr/>
          <p:nvPr/>
        </p:nvSpPr>
        <p:spPr>
          <a:xfrm>
            <a:off x="7635240" y="435638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3" name="callout-247"/>
          <p:cNvSpPr txBox="1"/>
          <p:nvPr/>
        </p:nvSpPr>
        <p:spPr>
          <a:xfrm>
            <a:off x="8055864" y="4347240"/>
            <a:ext cx="3632911" cy="66778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Time travel to test it</a:t>
            </a:r>
            <a:endParaRPr lang="en-US" sz="1300" dirty="0"/>
          </a:p>
          <a:p>
            <a:pPr indent="0" marL="0">
              <a:spcAft>
                <a:spcPts val="200"/>
              </a:spcAft>
              <a:buNone/>
            </a:pPr>
            <a:r>
              <a:rPr lang="en-US" sz="1200" dirty="0">
                <a:solidFill>
                  <a:schemeClr val="tx2"/>
                </a:solidFill>
              </a:rPr>
              <a:t>+1 h / +1 d / +1 w or demo step 9 jumps the clock past the exam.</a:t>
            </a:r>
            <a:endParaRPr lang="en-US" sz="1300" dirty="0"/>
          </a:p>
        </p:txBody>
      </p:sp>
      <p:sp>
        <p:nvSpPr>
          <p:cNvPr id="14" name="badge-248"/>
          <p:cNvSpPr/>
          <p:nvPr/>
        </p:nvSpPr>
        <p:spPr>
          <a:xfrm>
            <a:off x="7635240" y="5207051"/>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5" name="callout-249"/>
          <p:cNvSpPr txBox="1"/>
          <p:nvPr/>
        </p:nvSpPr>
        <p:spPr>
          <a:xfrm>
            <a:off x="8055864" y="5197907"/>
            <a:ext cx="3632911" cy="479054"/>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Pin to keep forever</a:t>
            </a:r>
            <a:endParaRPr lang="en-US" sz="1300" dirty="0"/>
          </a:p>
          <a:p>
            <a:pPr indent="0" marL="0">
              <a:spcAft>
                <a:spcPts val="200"/>
              </a:spcAft>
              <a:buNone/>
            </a:pPr>
            <a:r>
              <a:rPr lang="en-US" sz="1200" dirty="0">
                <a:solidFill>
                  <a:schemeClr val="tx2"/>
                </a:solidFill>
              </a:rPr>
              <a:t>Pinned memories don't decay.</a:t>
            </a:r>
            <a:endParaRPr lang="en-US" sz="13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MEMORY · BANK + VERSION CHAINS</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Memory bank and facts that changed</a:t>
            </a:r>
            <a:endParaRPr lang="en-US" sz="3200" dirty="0"/>
          </a:p>
        </p:txBody>
      </p:sp>
      <p:sp>
        <p:nvSpPr>
          <p:cNvPr id="5" name="frame-250"/>
          <p:cNvSpPr/>
          <p:nvPr/>
        </p:nvSpPr>
        <p:spPr>
          <a:xfrm>
            <a:off x="457200" y="1325880"/>
            <a:ext cx="7040880" cy="4578480"/>
          </a:xfrm>
          <a:prstGeom prst="roundRect">
            <a:avLst>
              <a:gd name="adj" fmla="val 1398"/>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251" descr="Memory bank cards">    </p:cNvPr>
          <p:cNvPicPr>
            <a:picLocks noChangeAspect="1"/>
          </p:cNvPicPr>
          <p:nvPr/>
        </p:nvPicPr>
        <p:blipFill>
          <a:blip r:embed="rId1"/>
          <a:stretch>
            <a:fillRect/>
          </a:stretch>
        </p:blipFill>
        <p:spPr>
          <a:xfrm>
            <a:off x="502920" y="1371600"/>
            <a:ext cx="6949440" cy="4487040"/>
          </a:xfrm>
          <a:prstGeom prst="rect">
            <a:avLst/>
          </a:prstGeom>
        </p:spPr>
      </p:pic>
      <p:sp>
        <p:nvSpPr>
          <p:cNvPr id="7" name="frame-252"/>
          <p:cNvSpPr/>
          <p:nvPr/>
        </p:nvSpPr>
        <p:spPr>
          <a:xfrm>
            <a:off x="7772400" y="1325880"/>
            <a:ext cx="3848192" cy="2926080"/>
          </a:xfrm>
          <a:prstGeom prst="roundRect">
            <a:avLst>
              <a:gd name="adj" fmla="val 2188"/>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8" name="shot-253" descr="Facts that changed">    </p:cNvPr>
          <p:cNvPicPr>
            <a:picLocks noChangeAspect="1"/>
          </p:cNvPicPr>
          <p:nvPr/>
        </p:nvPicPr>
        <p:blipFill>
          <a:blip r:embed="rId2"/>
          <a:stretch>
            <a:fillRect/>
          </a:stretch>
        </p:blipFill>
        <p:spPr>
          <a:xfrm>
            <a:off x="7818120" y="1371600"/>
            <a:ext cx="3756752" cy="2834640"/>
          </a:xfrm>
          <a:prstGeom prst="rect">
            <a:avLst/>
          </a:prstGeom>
        </p:spPr>
      </p:pic>
      <p:sp>
        <p:nvSpPr>
          <p:cNvPr id="9" name="marker-254"/>
          <p:cNvSpPr/>
          <p:nvPr/>
        </p:nvSpPr>
        <p:spPr>
          <a:xfrm>
            <a:off x="347472" y="1216152"/>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marker-255"/>
          <p:cNvSpPr/>
          <p:nvPr/>
        </p:nvSpPr>
        <p:spPr>
          <a:xfrm>
            <a:off x="7662672" y="1216152"/>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badge-256"/>
          <p:cNvSpPr/>
          <p:nvPr/>
        </p:nvSpPr>
        <p:spPr>
          <a:xfrm>
            <a:off x="7818120" y="4489704"/>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2" name="callout-257"/>
          <p:cNvSpPr txBox="1"/>
          <p:nvPr/>
        </p:nvSpPr>
        <p:spPr>
          <a:xfrm>
            <a:off x="8238744" y="4480560"/>
            <a:ext cx="3450031" cy="66778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Cards with strength bars</a:t>
            </a:r>
            <a:endParaRPr lang="en-US" sz="1300" dirty="0"/>
          </a:p>
          <a:p>
            <a:pPr indent="0" marL="0">
              <a:spcAft>
                <a:spcPts val="200"/>
              </a:spcAft>
              <a:buNone/>
            </a:pPr>
            <a:r>
              <a:rPr lang="en-US" sz="1200" dirty="0">
                <a:solidFill>
                  <a:schemeClr val="tx2"/>
                </a:solidFill>
              </a:rPr>
              <a:t>Filter by type and status (Current · Replaced &amp; expired · Everything).</a:t>
            </a:r>
            <a:endParaRPr lang="en-US" sz="1300" dirty="0"/>
          </a:p>
        </p:txBody>
      </p:sp>
      <p:sp>
        <p:nvSpPr>
          <p:cNvPr id="13" name="badge-258"/>
          <p:cNvSpPr/>
          <p:nvPr/>
        </p:nvSpPr>
        <p:spPr>
          <a:xfrm>
            <a:off x="7818120" y="5294650"/>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 name="callout-259"/>
          <p:cNvSpPr txBox="1"/>
          <p:nvPr/>
        </p:nvSpPr>
        <p:spPr>
          <a:xfrm>
            <a:off x="8238744" y="5285506"/>
            <a:ext cx="3450031" cy="66778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Version chains</a:t>
            </a:r>
            <a:endParaRPr lang="en-US" sz="1300" dirty="0"/>
          </a:p>
          <a:p>
            <a:pPr indent="0" marL="0">
              <a:spcAft>
                <a:spcPts val="200"/>
              </a:spcAft>
              <a:buNone/>
            </a:pPr>
            <a:r>
              <a:rPr lang="en-US" sz="1200" dirty="0">
                <a:solidFill>
                  <a:schemeClr val="tx2"/>
                </a:solidFill>
              </a:rPr>
              <a:t>Old value struck through → current value, with source, date and confidence.</a:t>
            </a:r>
            <a:endParaRPr lang="en-US" sz="13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MEMORY · TIMELINE + ACTIVITY</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Rewind memory to any moment</a:t>
            </a:r>
            <a:endParaRPr lang="en-US" sz="3200" dirty="0"/>
          </a:p>
        </p:txBody>
      </p:sp>
      <p:sp>
        <p:nvSpPr>
          <p:cNvPr id="5" name="frame-260"/>
          <p:cNvSpPr/>
          <p:nvPr/>
        </p:nvSpPr>
        <p:spPr>
          <a:xfrm>
            <a:off x="457200" y="1371600"/>
            <a:ext cx="7498080" cy="639531"/>
          </a:xfrm>
          <a:prstGeom prst="roundRect">
            <a:avLst>
              <a:gd name="adj" fmla="val 10009"/>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261" descr="As-of timeline">    </p:cNvPr>
          <p:cNvPicPr>
            <a:picLocks noChangeAspect="1"/>
          </p:cNvPicPr>
          <p:nvPr/>
        </p:nvPicPr>
        <p:blipFill>
          <a:blip r:embed="rId1"/>
          <a:stretch>
            <a:fillRect/>
          </a:stretch>
        </p:blipFill>
        <p:spPr>
          <a:xfrm>
            <a:off x="502920" y="1417320"/>
            <a:ext cx="7406640" cy="548091"/>
          </a:xfrm>
          <a:prstGeom prst="rect">
            <a:avLst/>
          </a:prstGeom>
        </p:spPr>
      </p:pic>
      <p:sp>
        <p:nvSpPr>
          <p:cNvPr id="7" name="marker-262"/>
          <p:cNvSpPr/>
          <p:nvPr/>
        </p:nvSpPr>
        <p:spPr>
          <a:xfrm>
            <a:off x="347472" y="1261872"/>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caption-263"/>
          <p:cNvSpPr txBox="1"/>
          <p:nvPr/>
        </p:nvSpPr>
        <p:spPr>
          <a:xfrm>
            <a:off x="502920" y="2102571"/>
            <a:ext cx="7406640" cy="274320"/>
          </a:xfrm>
          <a:prstGeom prst="rect">
            <a:avLst/>
          </a:prstGeom>
          <a:noFill/>
          <a:ln/>
        </p:spPr>
        <p:txBody>
          <a:bodyPr wrap="square" lIns="0" tIns="0" rIns="0" bIns="0" rtlCol="0" anchor="t"/>
          <a:lstStyle/>
          <a:p>
            <a:pPr algn="l" indent="0" marL="0">
              <a:buNone/>
            </a:pPr>
            <a:r>
              <a:rPr lang="en-US" sz="1300" dirty="0">
                <a:solidFill>
                  <a:schemeClr val="tx1"/>
                </a:solidFill>
              </a:rPr>
              <a:t>“As of” timeline — every tick is a memory event; drag to rewind, ▷ to replay</a:t>
            </a:r>
            <a:endParaRPr lang="en-US" sz="1300" dirty="0"/>
          </a:p>
        </p:txBody>
      </p:sp>
      <p:sp>
        <p:nvSpPr>
          <p:cNvPr id="9" name="frame-264"/>
          <p:cNvSpPr/>
          <p:nvPr/>
        </p:nvSpPr>
        <p:spPr>
          <a:xfrm>
            <a:off x="457200" y="2651211"/>
            <a:ext cx="7498080" cy="1102956"/>
          </a:xfrm>
          <a:prstGeom prst="roundRect">
            <a:avLst>
              <a:gd name="adj" fmla="val 5803"/>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10" name="shot-265" descr="Counters">    </p:cNvPr>
          <p:cNvPicPr>
            <a:picLocks noChangeAspect="1"/>
          </p:cNvPicPr>
          <p:nvPr/>
        </p:nvPicPr>
        <p:blipFill>
          <a:blip r:embed="rId2"/>
          <a:stretch>
            <a:fillRect/>
          </a:stretch>
        </p:blipFill>
        <p:spPr>
          <a:xfrm>
            <a:off x="502920" y="2696931"/>
            <a:ext cx="7406640" cy="1011516"/>
          </a:xfrm>
          <a:prstGeom prst="rect">
            <a:avLst/>
          </a:prstGeom>
        </p:spPr>
      </p:pic>
      <p:sp>
        <p:nvSpPr>
          <p:cNvPr id="11" name="marker-266"/>
          <p:cNvSpPr/>
          <p:nvPr/>
        </p:nvSpPr>
        <p:spPr>
          <a:xfrm>
            <a:off x="347472" y="2541483"/>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caption-267"/>
          <p:cNvSpPr txBox="1"/>
          <p:nvPr/>
        </p:nvSpPr>
        <p:spPr>
          <a:xfrm>
            <a:off x="502920" y="3845608"/>
            <a:ext cx="7406640" cy="274320"/>
          </a:xfrm>
          <a:prstGeom prst="rect">
            <a:avLst/>
          </a:prstGeom>
          <a:noFill/>
          <a:ln/>
        </p:spPr>
        <p:txBody>
          <a:bodyPr wrap="square" lIns="0" tIns="0" rIns="0" bIns="0" rtlCol="0" anchor="t"/>
          <a:lstStyle/>
          <a:p>
            <a:pPr algn="l" indent="0" marL="0">
              <a:buNone/>
            </a:pPr>
            <a:r>
              <a:rPr lang="en-US" sz="1300" dirty="0">
                <a:solidFill>
                  <a:schemeClr val="tx1"/>
                </a:solidFill>
              </a:rPr>
              <a:t>Counters with 12-day sparklines and day-over-day change</a:t>
            </a:r>
            <a:endParaRPr lang="en-US" sz="1300" dirty="0"/>
          </a:p>
        </p:txBody>
      </p:sp>
      <p:sp>
        <p:nvSpPr>
          <p:cNvPr id="13" name="frame-268"/>
          <p:cNvSpPr/>
          <p:nvPr/>
        </p:nvSpPr>
        <p:spPr>
          <a:xfrm>
            <a:off x="8187893" y="1325880"/>
            <a:ext cx="3546602" cy="4937760"/>
          </a:xfrm>
          <a:prstGeom prst="roundRect">
            <a:avLst>
              <a:gd name="adj" fmla="val 1805"/>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14" name="shot-269" descr="Activity feed">    </p:cNvPr>
          <p:cNvPicPr>
            <a:picLocks noChangeAspect="1"/>
          </p:cNvPicPr>
          <p:nvPr/>
        </p:nvPicPr>
        <p:blipFill>
          <a:blip r:embed="rId3"/>
          <a:stretch>
            <a:fillRect/>
          </a:stretch>
        </p:blipFill>
        <p:spPr>
          <a:xfrm>
            <a:off x="8233613" y="1371600"/>
            <a:ext cx="3455162" cy="4846320"/>
          </a:xfrm>
          <a:prstGeom prst="rect">
            <a:avLst/>
          </a:prstGeom>
        </p:spPr>
      </p:pic>
      <p:sp>
        <p:nvSpPr>
          <p:cNvPr id="15" name="marker-270"/>
          <p:cNvSpPr/>
          <p:nvPr/>
        </p:nvSpPr>
        <p:spPr>
          <a:xfrm>
            <a:off x="8078165" y="1216152"/>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badge-271"/>
          <p:cNvSpPr/>
          <p:nvPr/>
        </p:nvSpPr>
        <p:spPr>
          <a:xfrm>
            <a:off x="502920" y="4311952"/>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callout-272"/>
          <p:cNvSpPr txBox="1"/>
          <p:nvPr/>
        </p:nvSpPr>
        <p:spPr>
          <a:xfrm>
            <a:off x="923544" y="4302808"/>
            <a:ext cx="6986016" cy="49505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Activity feed</a:t>
            </a:r>
            <a:endParaRPr lang="en-US" sz="1400" dirty="0"/>
          </a:p>
          <a:p>
            <a:pPr indent="0" marL="0">
              <a:spcAft>
                <a:spcPts val="200"/>
              </a:spcAft>
              <a:buNone/>
            </a:pPr>
            <a:r>
              <a:rPr lang="en-US" sz="1200" dirty="0">
                <a:solidFill>
                  <a:schemeClr val="tx2"/>
                </a:solidFill>
              </a:rPr>
              <a:t>Every memory event, newest first: kept, expired, added, corrected, updated.</a:t>
            </a:r>
            <a:endParaRPr lang="en-US" sz="1400" dirty="0"/>
          </a:p>
        </p:txBody>
      </p:sp>
      <p:sp>
        <p:nvSpPr>
          <p:cNvPr id="18" name="Text 12"/>
          <p:cNvSpPr txBox="1"/>
          <p:nvPr/>
        </p:nvSpPr>
        <p:spPr>
          <a:xfrm>
            <a:off x="502920" y="5034328"/>
            <a:ext cx="7406640" cy="822960"/>
          </a:xfrm>
          <a:prstGeom prst="rect">
            <a:avLst/>
          </a:prstGeom>
          <a:noFill/>
          <a:ln/>
        </p:spPr>
        <p:txBody>
          <a:bodyPr wrap="square" lIns="0" tIns="0" rIns="0" bIns="0" rtlCol="0" anchor="t"/>
          <a:lstStyle/>
          <a:p>
            <a:pPr indent="0" marL="0">
              <a:buNone/>
            </a:pPr>
            <a:r>
              <a:rPr lang="en-US" sz="1300" b="1" dirty="0">
                <a:solidFill>
                  <a:schemeClr val="tx1"/>
                </a:solidFill>
              </a:rPr>
              <a:t>Rewinding recomputes everything. </a:t>
            </a:r>
            <a:pPr indent="0" marL="0">
              <a:buNone/>
            </a:pPr>
            <a:r>
              <a:rPr lang="en-US" sz="1300" dirty="0">
                <a:solidFill>
                  <a:schemeClr val="tx2"/>
                </a:solidFill>
              </a:rPr>
              <a:t>Terrain heights, card status and counters are recalculated for that moment. </a:t>
            </a:r>
            <a:pPr indent="0" marL="0">
              <a:buNone/>
            </a:pPr>
            <a:r>
              <a:rPr lang="en-US" sz="1300" b="1" dirty="0">
                <a:solidFill>
                  <a:schemeClr val="tx1"/>
                </a:solidFill>
              </a:rPr>
              <a:t>Replay: </a:t>
            </a:r>
            <a:pPr indent="0" marL="0">
              <a:buNone/>
            </a:pPr>
            <a:r>
              <a:rPr lang="en-US" sz="1300" dirty="0">
                <a:solidFill>
                  <a:schemeClr val="tx2"/>
                </a:solidFill>
              </a:rPr>
              <a:t>press ▷ to watch memory evolve from the first day to now.</a:t>
            </a:r>
            <a:endParaRPr lang="en-US" sz="13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RETRIEVAL LAB</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The ranking formula, four signals</a:t>
            </a:r>
            <a:endParaRPr lang="en-US" sz="3200" dirty="0"/>
          </a:p>
        </p:txBody>
      </p:sp>
      <p:sp>
        <p:nvSpPr>
          <p:cNvPr id="5" name="Shape 2"/>
          <p:cNvSpPr/>
          <p:nvPr/>
        </p:nvSpPr>
        <p:spPr>
          <a:xfrm>
            <a:off x="502920" y="1371600"/>
            <a:ext cx="11185855" cy="914400"/>
          </a:xfrm>
          <a:prstGeom prst="roundRect">
            <a:avLst>
              <a:gd name="adj" fmla="val 10000"/>
            </a:avLst>
          </a:prstGeom>
          <a:solidFill>
            <a:schemeClr val="bg2"/>
          </a:solidFill>
          <a:ln w="12700">
            <a:solidFill>
              <a:schemeClr val="accent6"/>
            </a:solidFill>
            <a:prstDash val="solid"/>
          </a:ln>
        </p:spPr>
      </p:sp>
      <p:sp>
        <p:nvSpPr>
          <p:cNvPr id="6" name="Text 3"/>
          <p:cNvSpPr txBox="1"/>
          <p:nvPr/>
        </p:nvSpPr>
        <p:spPr>
          <a:xfrm>
            <a:off x="502920" y="1371600"/>
            <a:ext cx="11185855" cy="914400"/>
          </a:xfrm>
          <a:prstGeom prst="rect">
            <a:avLst/>
          </a:prstGeom>
          <a:noFill/>
          <a:ln/>
        </p:spPr>
        <p:txBody>
          <a:bodyPr wrap="square" lIns="0" tIns="0" rIns="0" bIns="0" rtlCol="0" anchor="ctr"/>
          <a:lstStyle/>
          <a:p>
            <a:pPr algn="ctr" indent="0" marL="0">
              <a:buNone/>
            </a:pPr>
            <a:r>
              <a:rPr lang="en-US" sz="3000" dirty="0">
                <a:solidFill>
                  <a:schemeClr val="tx2"/>
                </a:solidFill>
              </a:rPr>
              <a:t>score  =  </a:t>
            </a:r>
            <a:pPr algn="ctr" indent="0" marL="0">
              <a:buNone/>
            </a:pPr>
            <a:r>
              <a:rPr lang="en-US" sz="3000" b="1" dirty="0">
                <a:solidFill>
                  <a:schemeClr val="accent2"/>
                </a:solidFill>
              </a:rPr>
              <a:t>w₁·S</a:t>
            </a:r>
            <a:pPr algn="ctr" indent="0" marL="0">
              <a:buNone/>
            </a:pPr>
            <a:r>
              <a:rPr lang="en-US" sz="3000" dirty="0">
                <a:solidFill>
                  <a:schemeClr val="tx2"/>
                </a:solidFill>
              </a:rPr>
              <a:t>  +  </a:t>
            </a:r>
            <a:pPr algn="ctr" indent="0" marL="0">
              <a:buNone/>
            </a:pPr>
            <a:r>
              <a:rPr lang="en-US" sz="3000" b="1" dirty="0">
                <a:solidFill>
                  <a:schemeClr val="accent4"/>
                </a:solidFill>
              </a:rPr>
              <a:t>w₂·R</a:t>
            </a:r>
            <a:pPr algn="ctr" indent="0" marL="0">
              <a:buNone/>
            </a:pPr>
            <a:r>
              <a:rPr lang="en-US" sz="3000" dirty="0">
                <a:solidFill>
                  <a:schemeClr val="tx2"/>
                </a:solidFill>
              </a:rPr>
              <a:t>  +  </a:t>
            </a:r>
            <a:pPr algn="ctr" indent="0" marL="0">
              <a:buNone/>
            </a:pPr>
            <a:r>
              <a:rPr lang="en-US" sz="3000" b="1" dirty="0">
                <a:solidFill>
                  <a:schemeClr val="accent5"/>
                </a:solidFill>
              </a:rPr>
              <a:t>w₃·C</a:t>
            </a:r>
            <a:pPr algn="ctr" indent="0" marL="0">
              <a:buNone/>
            </a:pPr>
            <a:r>
              <a:rPr lang="en-US" sz="3000" dirty="0">
                <a:solidFill>
                  <a:schemeClr val="tx2"/>
                </a:solidFill>
              </a:rPr>
              <a:t>  +  </a:t>
            </a:r>
            <a:pPr algn="ctr" indent="0" marL="0">
              <a:buNone/>
            </a:pPr>
            <a:r>
              <a:rPr lang="en-US" sz="3000" b="1" dirty="0">
                <a:solidFill>
                  <a:schemeClr val="accent1"/>
                </a:solidFill>
              </a:rPr>
              <a:t>w₄·I</a:t>
            </a:r>
            <a:endParaRPr lang="en-US" sz="3000" dirty="0"/>
          </a:p>
        </p:txBody>
      </p:sp>
      <p:sp>
        <p:nvSpPr>
          <p:cNvPr id="7" name="Shape 4"/>
          <p:cNvSpPr/>
          <p:nvPr/>
        </p:nvSpPr>
        <p:spPr>
          <a:xfrm>
            <a:off x="502920" y="2560320"/>
            <a:ext cx="2606040" cy="1783080"/>
          </a:xfrm>
          <a:prstGeom prst="roundRect">
            <a:avLst>
              <a:gd name="adj" fmla="val 5128"/>
            </a:avLst>
          </a:prstGeom>
          <a:solidFill>
            <a:schemeClr val="bg2"/>
          </a:solidFill>
          <a:ln w="15875">
            <a:solidFill>
              <a:schemeClr val="accent2"/>
            </a:solidFill>
            <a:prstDash val="solid"/>
          </a:ln>
        </p:spPr>
      </p:sp>
      <p:sp>
        <p:nvSpPr>
          <p:cNvPr id="8" name="Text 5"/>
          <p:cNvSpPr txBox="1"/>
          <p:nvPr/>
        </p:nvSpPr>
        <p:spPr>
          <a:xfrm>
            <a:off x="685800" y="2697480"/>
            <a:ext cx="731520" cy="685800"/>
          </a:xfrm>
          <a:prstGeom prst="rect">
            <a:avLst/>
          </a:prstGeom>
          <a:noFill/>
          <a:ln/>
        </p:spPr>
        <p:txBody>
          <a:bodyPr wrap="square" lIns="0" tIns="0" rIns="0" bIns="0" rtlCol="0" anchor="t"/>
          <a:lstStyle/>
          <a:p>
            <a:pPr indent="0" marL="0">
              <a:buNone/>
            </a:pPr>
            <a:r>
              <a:rPr lang="en-US" sz="4000" b="1" dirty="0">
                <a:solidFill>
                  <a:schemeClr val="accent2"/>
                </a:solidFill>
              </a:rPr>
              <a:t>S</a:t>
            </a:r>
            <a:endParaRPr lang="en-US" sz="4000" dirty="0"/>
          </a:p>
        </p:txBody>
      </p:sp>
      <p:sp>
        <p:nvSpPr>
          <p:cNvPr id="9" name="Text 6"/>
          <p:cNvSpPr txBox="1"/>
          <p:nvPr/>
        </p:nvSpPr>
        <p:spPr>
          <a:xfrm>
            <a:off x="1417320" y="2834640"/>
            <a:ext cx="1508760" cy="365760"/>
          </a:xfrm>
          <a:prstGeom prst="rect">
            <a:avLst/>
          </a:prstGeom>
          <a:noFill/>
          <a:ln/>
        </p:spPr>
        <p:txBody>
          <a:bodyPr wrap="square" lIns="0" tIns="0" rIns="0" bIns="0" rtlCol="0" anchor="ctr"/>
          <a:lstStyle/>
          <a:p>
            <a:pPr algn="r" indent="0" marL="0">
              <a:buNone/>
            </a:pPr>
            <a:r>
              <a:rPr lang="en-US" sz="1100" dirty="0">
                <a:solidFill>
                  <a:schemeClr val="tx2"/>
                </a:solidFill>
              </a:rPr>
              <a:t>weight now 0.45</a:t>
            </a:r>
            <a:endParaRPr lang="en-US" sz="1100" dirty="0"/>
          </a:p>
        </p:txBody>
      </p:sp>
      <p:sp>
        <p:nvSpPr>
          <p:cNvPr id="10" name="Text 7"/>
          <p:cNvSpPr txBox="1"/>
          <p:nvPr/>
        </p:nvSpPr>
        <p:spPr>
          <a:xfrm>
            <a:off x="685800" y="3429000"/>
            <a:ext cx="2240280" cy="777240"/>
          </a:xfrm>
          <a:prstGeom prst="rect">
            <a:avLst/>
          </a:prstGeom>
          <a:noFill/>
          <a:ln/>
        </p:spPr>
        <p:txBody>
          <a:bodyPr wrap="square" lIns="0" tIns="0" rIns="0" bIns="0" rtlCol="0" anchor="t"/>
          <a:lstStyle/>
          <a:p>
            <a:pPr indent="0" marL="0">
              <a:buNone/>
            </a:pPr>
            <a:r>
              <a:rPr lang="en-US" sz="1600" b="1" dirty="0">
                <a:solidFill>
                  <a:schemeClr val="tx1"/>
                </a:solidFill>
              </a:rPr>
              <a:t>Similarity</a:t>
            </a:r>
            <a:endParaRPr lang="en-US" sz="1600" dirty="0"/>
          </a:p>
          <a:p>
            <a:pPr indent="0" marL="0">
              <a:buNone/>
            </a:pPr>
            <a:r>
              <a:rPr lang="en-US" sz="1200" dirty="0">
                <a:solidFill>
                  <a:schemeClr val="tx2"/>
                </a:solidFill>
              </a:rPr>
              <a:t>Calibrated cosine similarity between the question and the item's embedding.</a:t>
            </a:r>
            <a:endParaRPr lang="en-US" sz="1600" dirty="0"/>
          </a:p>
        </p:txBody>
      </p:sp>
      <p:sp>
        <p:nvSpPr>
          <p:cNvPr id="11" name="Shape 8"/>
          <p:cNvSpPr/>
          <p:nvPr/>
        </p:nvSpPr>
        <p:spPr>
          <a:xfrm>
            <a:off x="3364992" y="2560320"/>
            <a:ext cx="2606040" cy="1783080"/>
          </a:xfrm>
          <a:prstGeom prst="roundRect">
            <a:avLst>
              <a:gd name="adj" fmla="val 5128"/>
            </a:avLst>
          </a:prstGeom>
          <a:solidFill>
            <a:schemeClr val="bg2"/>
          </a:solidFill>
          <a:ln w="15875">
            <a:solidFill>
              <a:schemeClr val="accent4"/>
            </a:solidFill>
            <a:prstDash val="solid"/>
          </a:ln>
        </p:spPr>
      </p:sp>
      <p:sp>
        <p:nvSpPr>
          <p:cNvPr id="12" name="Text 9"/>
          <p:cNvSpPr txBox="1"/>
          <p:nvPr/>
        </p:nvSpPr>
        <p:spPr>
          <a:xfrm>
            <a:off x="3547872" y="2697480"/>
            <a:ext cx="731520" cy="685800"/>
          </a:xfrm>
          <a:prstGeom prst="rect">
            <a:avLst/>
          </a:prstGeom>
          <a:noFill/>
          <a:ln/>
        </p:spPr>
        <p:txBody>
          <a:bodyPr wrap="square" lIns="0" tIns="0" rIns="0" bIns="0" rtlCol="0" anchor="t"/>
          <a:lstStyle/>
          <a:p>
            <a:pPr indent="0" marL="0">
              <a:buNone/>
            </a:pPr>
            <a:r>
              <a:rPr lang="en-US" sz="4000" b="1" dirty="0">
                <a:solidFill>
                  <a:schemeClr val="accent4"/>
                </a:solidFill>
              </a:rPr>
              <a:t>R</a:t>
            </a:r>
            <a:endParaRPr lang="en-US" sz="4000" dirty="0"/>
          </a:p>
        </p:txBody>
      </p:sp>
      <p:sp>
        <p:nvSpPr>
          <p:cNvPr id="13" name="Text 10"/>
          <p:cNvSpPr txBox="1"/>
          <p:nvPr/>
        </p:nvSpPr>
        <p:spPr>
          <a:xfrm>
            <a:off x="4279392" y="2834640"/>
            <a:ext cx="1508760" cy="365760"/>
          </a:xfrm>
          <a:prstGeom prst="rect">
            <a:avLst/>
          </a:prstGeom>
          <a:noFill/>
          <a:ln/>
        </p:spPr>
        <p:txBody>
          <a:bodyPr wrap="square" lIns="0" tIns="0" rIns="0" bIns="0" rtlCol="0" anchor="ctr"/>
          <a:lstStyle/>
          <a:p>
            <a:pPr algn="r" indent="0" marL="0">
              <a:buNone/>
            </a:pPr>
            <a:r>
              <a:rPr lang="en-US" sz="1100" dirty="0">
                <a:solidFill>
                  <a:schemeClr val="tx2"/>
                </a:solidFill>
              </a:rPr>
              <a:t>weight now 0.15</a:t>
            </a:r>
            <a:endParaRPr lang="en-US" sz="1100" dirty="0"/>
          </a:p>
        </p:txBody>
      </p:sp>
      <p:sp>
        <p:nvSpPr>
          <p:cNvPr id="14" name="Text 11"/>
          <p:cNvSpPr txBox="1"/>
          <p:nvPr/>
        </p:nvSpPr>
        <p:spPr>
          <a:xfrm>
            <a:off x="3547872" y="3429000"/>
            <a:ext cx="2240280" cy="777240"/>
          </a:xfrm>
          <a:prstGeom prst="rect">
            <a:avLst/>
          </a:prstGeom>
          <a:noFill/>
          <a:ln/>
        </p:spPr>
        <p:txBody>
          <a:bodyPr wrap="square" lIns="0" tIns="0" rIns="0" bIns="0" rtlCol="0" anchor="t"/>
          <a:lstStyle/>
          <a:p>
            <a:pPr indent="0" marL="0">
              <a:buNone/>
            </a:pPr>
            <a:r>
              <a:rPr lang="en-US" sz="1600" b="1" dirty="0">
                <a:solidFill>
                  <a:schemeClr val="tx1"/>
                </a:solidFill>
              </a:rPr>
              <a:t>Recency</a:t>
            </a:r>
            <a:endParaRPr lang="en-US" sz="1600" dirty="0"/>
          </a:p>
          <a:p>
            <a:pPr indent="0" marL="0">
              <a:buNone/>
            </a:pPr>
            <a:r>
              <a:rPr lang="en-US" sz="1200" dirty="0">
                <a:solidFill>
                  <a:schemeClr val="tx2"/>
                </a:solidFill>
              </a:rPr>
              <a:t>e^(−age/τ): τ = 30 days for memories, 365 for documents.</a:t>
            </a:r>
            <a:endParaRPr lang="en-US" sz="1600" dirty="0"/>
          </a:p>
        </p:txBody>
      </p:sp>
      <p:sp>
        <p:nvSpPr>
          <p:cNvPr id="15" name="Shape 12"/>
          <p:cNvSpPr/>
          <p:nvPr/>
        </p:nvSpPr>
        <p:spPr>
          <a:xfrm>
            <a:off x="6227064" y="2560320"/>
            <a:ext cx="2606040" cy="1783080"/>
          </a:xfrm>
          <a:prstGeom prst="roundRect">
            <a:avLst>
              <a:gd name="adj" fmla="val 5128"/>
            </a:avLst>
          </a:prstGeom>
          <a:solidFill>
            <a:schemeClr val="bg2"/>
          </a:solidFill>
          <a:ln w="15875">
            <a:solidFill>
              <a:schemeClr val="accent5"/>
            </a:solidFill>
            <a:prstDash val="solid"/>
          </a:ln>
        </p:spPr>
      </p:sp>
      <p:sp>
        <p:nvSpPr>
          <p:cNvPr id="16" name="Text 13"/>
          <p:cNvSpPr txBox="1"/>
          <p:nvPr/>
        </p:nvSpPr>
        <p:spPr>
          <a:xfrm>
            <a:off x="6409944" y="2697480"/>
            <a:ext cx="731520" cy="685800"/>
          </a:xfrm>
          <a:prstGeom prst="rect">
            <a:avLst/>
          </a:prstGeom>
          <a:noFill/>
          <a:ln/>
        </p:spPr>
        <p:txBody>
          <a:bodyPr wrap="square" lIns="0" tIns="0" rIns="0" bIns="0" rtlCol="0" anchor="t"/>
          <a:lstStyle/>
          <a:p>
            <a:pPr indent="0" marL="0">
              <a:buNone/>
            </a:pPr>
            <a:r>
              <a:rPr lang="en-US" sz="4000" b="1" dirty="0">
                <a:solidFill>
                  <a:schemeClr val="accent5"/>
                </a:solidFill>
              </a:rPr>
              <a:t>C</a:t>
            </a:r>
            <a:endParaRPr lang="en-US" sz="4000" dirty="0"/>
          </a:p>
        </p:txBody>
      </p:sp>
      <p:sp>
        <p:nvSpPr>
          <p:cNvPr id="17" name="Text 14"/>
          <p:cNvSpPr txBox="1"/>
          <p:nvPr/>
        </p:nvSpPr>
        <p:spPr>
          <a:xfrm>
            <a:off x="7141464" y="2834640"/>
            <a:ext cx="1508760" cy="365760"/>
          </a:xfrm>
          <a:prstGeom prst="rect">
            <a:avLst/>
          </a:prstGeom>
          <a:noFill/>
          <a:ln/>
        </p:spPr>
        <p:txBody>
          <a:bodyPr wrap="square" lIns="0" tIns="0" rIns="0" bIns="0" rtlCol="0" anchor="ctr"/>
          <a:lstStyle/>
          <a:p>
            <a:pPr algn="r" indent="0" marL="0">
              <a:buNone/>
            </a:pPr>
            <a:r>
              <a:rPr lang="en-US" sz="1100" dirty="0">
                <a:solidFill>
                  <a:schemeClr val="tx2"/>
                </a:solidFill>
              </a:rPr>
              <a:t>weight now 0.25</a:t>
            </a:r>
            <a:endParaRPr lang="en-US" sz="1100" dirty="0"/>
          </a:p>
        </p:txBody>
      </p:sp>
      <p:sp>
        <p:nvSpPr>
          <p:cNvPr id="18" name="Text 15"/>
          <p:cNvSpPr txBox="1"/>
          <p:nvPr/>
        </p:nvSpPr>
        <p:spPr>
          <a:xfrm>
            <a:off x="6409944" y="3429000"/>
            <a:ext cx="2240280" cy="777240"/>
          </a:xfrm>
          <a:prstGeom prst="rect">
            <a:avLst/>
          </a:prstGeom>
          <a:noFill/>
          <a:ln/>
        </p:spPr>
        <p:txBody>
          <a:bodyPr wrap="square" lIns="0" tIns="0" rIns="0" bIns="0" rtlCol="0" anchor="t"/>
          <a:lstStyle/>
          <a:p>
            <a:pPr indent="0" marL="0">
              <a:buNone/>
            </a:pPr>
            <a:r>
              <a:rPr lang="en-US" sz="1600" b="1" dirty="0">
                <a:solidFill>
                  <a:schemeClr val="tx1"/>
                </a:solidFill>
              </a:rPr>
              <a:t>Confidence</a:t>
            </a:r>
            <a:endParaRPr lang="en-US" sz="1600" dirty="0"/>
          </a:p>
          <a:p>
            <a:pPr indent="0" marL="0">
              <a:buNone/>
            </a:pPr>
            <a:r>
              <a:rPr lang="en-US" sz="1200" dirty="0">
                <a:solidFill>
                  <a:schemeClr val="tx2"/>
                </a:solidFill>
              </a:rPr>
              <a:t>Confidence × reliability — the part feedback changes.</a:t>
            </a:r>
            <a:endParaRPr lang="en-US" sz="1600" dirty="0"/>
          </a:p>
        </p:txBody>
      </p:sp>
      <p:sp>
        <p:nvSpPr>
          <p:cNvPr id="19" name="Shape 16"/>
          <p:cNvSpPr/>
          <p:nvPr/>
        </p:nvSpPr>
        <p:spPr>
          <a:xfrm>
            <a:off x="9089136" y="2560320"/>
            <a:ext cx="2606040" cy="1783080"/>
          </a:xfrm>
          <a:prstGeom prst="roundRect">
            <a:avLst>
              <a:gd name="adj" fmla="val 5128"/>
            </a:avLst>
          </a:prstGeom>
          <a:solidFill>
            <a:schemeClr val="bg2"/>
          </a:solidFill>
          <a:ln w="15875">
            <a:solidFill>
              <a:schemeClr val="accent1"/>
            </a:solidFill>
            <a:prstDash val="solid"/>
          </a:ln>
        </p:spPr>
      </p:sp>
      <p:sp>
        <p:nvSpPr>
          <p:cNvPr id="20" name="Text 17"/>
          <p:cNvSpPr txBox="1"/>
          <p:nvPr/>
        </p:nvSpPr>
        <p:spPr>
          <a:xfrm>
            <a:off x="9272016" y="2697480"/>
            <a:ext cx="731520" cy="685800"/>
          </a:xfrm>
          <a:prstGeom prst="rect">
            <a:avLst/>
          </a:prstGeom>
          <a:noFill/>
          <a:ln/>
        </p:spPr>
        <p:txBody>
          <a:bodyPr wrap="square" lIns="0" tIns="0" rIns="0" bIns="0" rtlCol="0" anchor="t"/>
          <a:lstStyle/>
          <a:p>
            <a:pPr indent="0" marL="0">
              <a:buNone/>
            </a:pPr>
            <a:r>
              <a:rPr lang="en-US" sz="4000" b="1" dirty="0">
                <a:solidFill>
                  <a:schemeClr val="accent1"/>
                </a:solidFill>
              </a:rPr>
              <a:t>I</a:t>
            </a:r>
            <a:endParaRPr lang="en-US" sz="4000" dirty="0"/>
          </a:p>
        </p:txBody>
      </p:sp>
      <p:sp>
        <p:nvSpPr>
          <p:cNvPr id="21" name="Text 18"/>
          <p:cNvSpPr txBox="1"/>
          <p:nvPr/>
        </p:nvSpPr>
        <p:spPr>
          <a:xfrm>
            <a:off x="10003536" y="2834640"/>
            <a:ext cx="1508760" cy="365760"/>
          </a:xfrm>
          <a:prstGeom prst="rect">
            <a:avLst/>
          </a:prstGeom>
          <a:noFill/>
          <a:ln/>
        </p:spPr>
        <p:txBody>
          <a:bodyPr wrap="square" lIns="0" tIns="0" rIns="0" bIns="0" rtlCol="0" anchor="ctr"/>
          <a:lstStyle/>
          <a:p>
            <a:pPr algn="r" indent="0" marL="0">
              <a:buNone/>
            </a:pPr>
            <a:r>
              <a:rPr lang="en-US" sz="1100" dirty="0">
                <a:solidFill>
                  <a:schemeClr val="tx2"/>
                </a:solidFill>
              </a:rPr>
              <a:t>weight now 0.15</a:t>
            </a:r>
            <a:endParaRPr lang="en-US" sz="1100" dirty="0"/>
          </a:p>
        </p:txBody>
      </p:sp>
      <p:sp>
        <p:nvSpPr>
          <p:cNvPr id="22" name="Text 19"/>
          <p:cNvSpPr txBox="1"/>
          <p:nvPr/>
        </p:nvSpPr>
        <p:spPr>
          <a:xfrm>
            <a:off x="9272016" y="3429000"/>
            <a:ext cx="2240280" cy="777240"/>
          </a:xfrm>
          <a:prstGeom prst="rect">
            <a:avLst/>
          </a:prstGeom>
          <a:noFill/>
          <a:ln/>
        </p:spPr>
        <p:txBody>
          <a:bodyPr wrap="square" lIns="0" tIns="0" rIns="0" bIns="0" rtlCol="0" anchor="t"/>
          <a:lstStyle/>
          <a:p>
            <a:pPr indent="0" marL="0">
              <a:buNone/>
            </a:pPr>
            <a:r>
              <a:rPr lang="en-US" sz="1600" b="1" dirty="0">
                <a:solidFill>
                  <a:schemeClr val="tx1"/>
                </a:solidFill>
              </a:rPr>
              <a:t>Importance</a:t>
            </a:r>
            <a:endParaRPr lang="en-US" sz="1600" dirty="0"/>
          </a:p>
          <a:p>
            <a:pPr indent="0" marL="0">
              <a:buNone/>
            </a:pPr>
            <a:r>
              <a:rPr lang="en-US" sz="1200" dirty="0">
                <a:solidFill>
                  <a:schemeClr val="tx2"/>
                </a:solidFill>
              </a:rPr>
              <a:t>From the memory class or the document section.</a:t>
            </a:r>
            <a:endParaRPr lang="en-US" sz="1600" dirty="0"/>
          </a:p>
        </p:txBody>
      </p:sp>
      <p:pic>
        <p:nvPicPr>
          <p:cNvPr id="23" name="Image 0" descr="preencoded.png">    </p:cNvPr>
          <p:cNvPicPr>
            <a:picLocks noChangeAspect="1"/>
          </p:cNvPicPr>
          <p:nvPr/>
        </p:nvPicPr>
        <p:blipFill>
          <a:blip r:embed="rId1"/>
          <a:stretch>
            <a:fillRect/>
          </a:stretch>
        </p:blipFill>
        <p:spPr>
          <a:xfrm>
            <a:off x="502920" y="4709160"/>
            <a:ext cx="347472" cy="347472"/>
          </a:xfrm>
          <a:prstGeom prst="rect">
            <a:avLst/>
          </a:prstGeom>
        </p:spPr>
      </p:pic>
      <p:sp>
        <p:nvSpPr>
          <p:cNvPr id="24" name="Text 20"/>
          <p:cNvSpPr txBox="1"/>
          <p:nvPr/>
        </p:nvSpPr>
        <p:spPr>
          <a:xfrm>
            <a:off x="1005840" y="4636008"/>
            <a:ext cx="10682935" cy="1005840"/>
          </a:xfrm>
          <a:prstGeom prst="rect">
            <a:avLst/>
          </a:prstGeom>
          <a:noFill/>
          <a:ln/>
        </p:spPr>
        <p:txBody>
          <a:bodyPr wrap="square" lIns="0" tIns="0" rIns="0" bIns="0" rtlCol="0" anchor="t"/>
          <a:lstStyle/>
          <a:p>
            <a:pPr indent="0" marL="0">
              <a:buNone/>
            </a:pPr>
            <a:r>
              <a:rPr lang="en-US" sz="1300" b="1" dirty="0">
                <a:solidFill>
                  <a:schemeClr val="tx1"/>
                </a:solidFill>
              </a:rPr>
              <a:t>Two-stage retrieval: </a:t>
            </a:r>
            <a:pPr indent="0" marL="0">
              <a:buNone/>
            </a:pPr>
            <a:r>
              <a:rPr lang="en-US" sz="1300" dirty="0">
                <a:solidFill>
                  <a:schemeClr val="tx2"/>
                </a:solidFill>
              </a:rPr>
              <a:t>vector search keeps the 12 nearest items (similarity ≥ 0.2), the formula re-ranks them, the top 5 go to the model. In the lab, “Try your own” lets you drag the weights (they always sum to 1) and watch rows move ▲▼ before applying them to the assistant.</a:t>
            </a:r>
            <a:endParaRPr lang="en-US" sz="13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RETRIEVAL LAB · LEARNING</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What feedback changes</a:t>
            </a:r>
            <a:endParaRPr lang="en-US" sz="3200" dirty="0"/>
          </a:p>
        </p:txBody>
      </p:sp>
      <p:sp>
        <p:nvSpPr>
          <p:cNvPr id="5" name="frame-273"/>
          <p:cNvSpPr/>
          <p:nvPr/>
        </p:nvSpPr>
        <p:spPr>
          <a:xfrm>
            <a:off x="457200" y="1325880"/>
            <a:ext cx="7132320" cy="2291715"/>
          </a:xfrm>
          <a:prstGeom prst="roundRect">
            <a:avLst>
              <a:gd name="adj" fmla="val 2793"/>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274" descr="Learning curve of the weights">    </p:cNvPr>
          <p:cNvPicPr>
            <a:picLocks noChangeAspect="1"/>
          </p:cNvPicPr>
          <p:nvPr/>
        </p:nvPicPr>
        <p:blipFill>
          <a:blip r:embed="rId1"/>
          <a:stretch>
            <a:fillRect/>
          </a:stretch>
        </p:blipFill>
        <p:spPr>
          <a:xfrm>
            <a:off x="502920" y="1371600"/>
            <a:ext cx="7040880" cy="2200275"/>
          </a:xfrm>
          <a:prstGeom prst="rect">
            <a:avLst/>
          </a:prstGeom>
        </p:spPr>
      </p:pic>
      <p:sp>
        <p:nvSpPr>
          <p:cNvPr id="7" name="caption-275"/>
          <p:cNvSpPr txBox="1"/>
          <p:nvPr/>
        </p:nvSpPr>
        <p:spPr>
          <a:xfrm>
            <a:off x="502920" y="3709035"/>
            <a:ext cx="7040880" cy="274320"/>
          </a:xfrm>
          <a:prstGeom prst="rect">
            <a:avLst/>
          </a:prstGeom>
          <a:noFill/>
          <a:ln/>
        </p:spPr>
        <p:txBody>
          <a:bodyPr wrap="square" lIns="0" tIns="0" rIns="0" bIns="0" rtlCol="0" anchor="t"/>
          <a:lstStyle/>
          <a:p>
            <a:pPr algn="l" indent="0" marL="0">
              <a:buNone/>
            </a:pPr>
            <a:r>
              <a:rPr lang="en-US" sz="1200" dirty="0">
                <a:solidFill>
                  <a:schemeClr val="tx1"/>
                </a:solidFill>
              </a:rPr>
              <a:t>How feedback moved the weights — 10 feedback events since 21 Aug</a:t>
            </a:r>
            <a:endParaRPr lang="en-US" sz="1200" dirty="0"/>
          </a:p>
        </p:txBody>
      </p:sp>
      <p:sp>
        <p:nvSpPr>
          <p:cNvPr id="8" name="badge-276"/>
          <p:cNvSpPr/>
          <p:nvPr/>
        </p:nvSpPr>
        <p:spPr>
          <a:xfrm>
            <a:off x="502920" y="4175379"/>
            <a:ext cx="274320" cy="2743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9" name="callout-277"/>
          <p:cNvSpPr txBox="1"/>
          <p:nvPr/>
        </p:nvSpPr>
        <p:spPr>
          <a:xfrm>
            <a:off x="923544" y="4166235"/>
            <a:ext cx="6620256" cy="479054"/>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Similarity ↑ 0.40 → 0.48</a:t>
            </a:r>
            <a:endParaRPr lang="en-US" sz="1300" dirty="0"/>
          </a:p>
          <a:p>
            <a:pPr indent="0" marL="0">
              <a:spcAft>
                <a:spcPts val="200"/>
              </a:spcAft>
              <a:buNone/>
            </a:pPr>
            <a:r>
              <a:rPr lang="en-US" sz="1200" dirty="0">
                <a:solidFill>
                  <a:schemeClr val="tx2"/>
                </a:solidFill>
              </a:rPr>
              <a:t>Feedback rewarded sources that matched the question closely.</a:t>
            </a:r>
            <a:endParaRPr lang="en-US" sz="1300" dirty="0"/>
          </a:p>
        </p:txBody>
      </p:sp>
      <p:sp>
        <p:nvSpPr>
          <p:cNvPr id="10" name="badge-278"/>
          <p:cNvSpPr/>
          <p:nvPr/>
        </p:nvSpPr>
        <p:spPr>
          <a:xfrm>
            <a:off x="502920" y="4764161"/>
            <a:ext cx="274320" cy="274320"/>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callout-279"/>
          <p:cNvSpPr txBox="1"/>
          <p:nvPr/>
        </p:nvSpPr>
        <p:spPr>
          <a:xfrm>
            <a:off x="923544" y="4755017"/>
            <a:ext cx="6620256" cy="479054"/>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Recency ↓ 0.20 → 0.10</a:t>
            </a:r>
            <a:endParaRPr lang="en-US" sz="1300" dirty="0"/>
          </a:p>
          <a:p>
            <a:pPr indent="0" marL="0">
              <a:spcAft>
                <a:spcPts val="200"/>
              </a:spcAft>
              <a:buNone/>
            </a:pPr>
            <a:r>
              <a:rPr lang="en-US" sz="1200" dirty="0">
                <a:solidFill>
                  <a:schemeClr val="tx2"/>
                </a:solidFill>
              </a:rPr>
              <a:t>Newer wasn't always better for these questions.</a:t>
            </a:r>
            <a:endParaRPr lang="en-US" sz="1300" dirty="0"/>
          </a:p>
        </p:txBody>
      </p:sp>
      <p:sp>
        <p:nvSpPr>
          <p:cNvPr id="12" name="frame-280"/>
          <p:cNvSpPr/>
          <p:nvPr/>
        </p:nvSpPr>
        <p:spPr>
          <a:xfrm>
            <a:off x="7818120" y="1325880"/>
            <a:ext cx="3916375" cy="3293711"/>
          </a:xfrm>
          <a:prstGeom prst="roundRect">
            <a:avLst>
              <a:gd name="adj" fmla="val 1943"/>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13" name="shot-281" descr="Source reliability panel">    </p:cNvPr>
          <p:cNvPicPr>
            <a:picLocks noChangeAspect="1"/>
          </p:cNvPicPr>
          <p:nvPr/>
        </p:nvPicPr>
        <p:blipFill>
          <a:blip r:embed="rId2"/>
          <a:stretch>
            <a:fillRect/>
          </a:stretch>
        </p:blipFill>
        <p:spPr>
          <a:xfrm>
            <a:off x="7863840" y="1371600"/>
            <a:ext cx="3824935" cy="3202271"/>
          </a:xfrm>
          <a:prstGeom prst="rect">
            <a:avLst/>
          </a:prstGeom>
        </p:spPr>
      </p:pic>
      <p:sp>
        <p:nvSpPr>
          <p:cNvPr id="14" name="caption-282"/>
          <p:cNvSpPr txBox="1"/>
          <p:nvPr/>
        </p:nvSpPr>
        <p:spPr>
          <a:xfrm>
            <a:off x="7863840" y="4800600"/>
            <a:ext cx="3824935" cy="548640"/>
          </a:xfrm>
          <a:prstGeom prst="rect">
            <a:avLst/>
          </a:prstGeom>
          <a:noFill/>
          <a:ln/>
        </p:spPr>
        <p:txBody>
          <a:bodyPr wrap="square" lIns="0" tIns="0" rIns="0" bIns="0" rtlCol="0" anchor="t"/>
          <a:lstStyle/>
          <a:p>
            <a:pPr algn="l" indent="0" marL="0">
              <a:buNone/>
            </a:pPr>
            <a:r>
              <a:rPr lang="en-US" sz="1200" dirty="0">
                <a:solidFill>
                  <a:schemeClr val="tx2"/>
                </a:solidFill>
              </a:rPr>
              <a:t>Source reliability: trust lowered by feedback multiplies a source's confidence (C).</a:t>
            </a:r>
            <a:endParaRPr lang="en-US" sz="12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RETRIEVAL LAB · MEMORY CLASSIFIER</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The classifier, tested on sentences it never saw</a:t>
            </a:r>
            <a:endParaRPr lang="en-US" sz="3200" dirty="0"/>
          </a:p>
        </p:txBody>
      </p:sp>
      <p:sp>
        <p:nvSpPr>
          <p:cNvPr id="5" name="frame-283"/>
          <p:cNvSpPr/>
          <p:nvPr/>
        </p:nvSpPr>
        <p:spPr>
          <a:xfrm>
            <a:off x="1462499" y="1325880"/>
            <a:ext cx="9266698" cy="3337560"/>
          </a:xfrm>
          <a:prstGeom prst="roundRect">
            <a:avLst>
              <a:gd name="adj" fmla="val 1918"/>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284" descr="Classifier playground and confusion matrix">    </p:cNvPr>
          <p:cNvPicPr>
            <a:picLocks noChangeAspect="1"/>
          </p:cNvPicPr>
          <p:nvPr/>
        </p:nvPicPr>
        <p:blipFill>
          <a:blip r:embed="rId1"/>
          <a:stretch>
            <a:fillRect/>
          </a:stretch>
        </p:blipFill>
        <p:spPr>
          <a:xfrm>
            <a:off x="1508219" y="1371600"/>
            <a:ext cx="9175258" cy="3246120"/>
          </a:xfrm>
          <a:prstGeom prst="rect">
            <a:avLst/>
          </a:prstGeom>
        </p:spPr>
      </p:pic>
      <p:sp>
        <p:nvSpPr>
          <p:cNvPr id="7" name="Text 3"/>
          <p:cNvSpPr txBox="1"/>
          <p:nvPr/>
        </p:nvSpPr>
        <p:spPr>
          <a:xfrm>
            <a:off x="502920" y="4846320"/>
            <a:ext cx="1554480" cy="685800"/>
          </a:xfrm>
          <a:prstGeom prst="rect">
            <a:avLst/>
          </a:prstGeom>
          <a:noFill/>
          <a:ln/>
        </p:spPr>
        <p:txBody>
          <a:bodyPr wrap="square" lIns="0" tIns="0" rIns="0" bIns="0" rtlCol="0" anchor="ctr"/>
          <a:lstStyle/>
          <a:p>
            <a:pPr indent="0" marL="0">
              <a:buNone/>
            </a:pPr>
            <a:r>
              <a:rPr lang="en-US" sz="3200" b="1" dirty="0">
                <a:solidFill>
                  <a:schemeClr val="accent2"/>
                </a:solidFill>
              </a:rPr>
              <a:t>97.5%</a:t>
            </a:r>
            <a:endParaRPr lang="en-US" sz="3200" dirty="0"/>
          </a:p>
        </p:txBody>
      </p:sp>
      <p:sp>
        <p:nvSpPr>
          <p:cNvPr id="8" name="Text 4"/>
          <p:cNvSpPr txBox="1"/>
          <p:nvPr/>
        </p:nvSpPr>
        <p:spPr>
          <a:xfrm>
            <a:off x="2194560" y="4864608"/>
            <a:ext cx="1920240" cy="1097280"/>
          </a:xfrm>
          <a:prstGeom prst="rect">
            <a:avLst/>
          </a:prstGeom>
          <a:noFill/>
          <a:ln/>
        </p:spPr>
        <p:txBody>
          <a:bodyPr wrap="square" lIns="0" tIns="0" rIns="0" bIns="0" rtlCol="0" anchor="t"/>
          <a:lstStyle/>
          <a:p>
            <a:pPr indent="0" marL="0">
              <a:buNone/>
            </a:pPr>
            <a:r>
              <a:rPr lang="en-US" sz="1400" b="1" dirty="0">
                <a:solidFill>
                  <a:schemeClr val="tx1"/>
                </a:solidFill>
              </a:rPr>
              <a:t>Rules baseline</a:t>
            </a:r>
            <a:endParaRPr lang="en-US" sz="1400" dirty="0"/>
          </a:p>
          <a:p>
            <a:pPr indent="0" marL="0">
              <a:buNone/>
            </a:pPr>
            <a:r>
              <a:rPr lang="en-US" sz="1100" dirty="0">
                <a:solidFill>
                  <a:schemeClr val="tx2"/>
                </a:solidFill>
              </a:rPr>
              <a:t>39 of 40 held-out sentences · macro-F1 0.97</a:t>
            </a:r>
            <a:endParaRPr lang="en-US" sz="1400" dirty="0"/>
          </a:p>
        </p:txBody>
      </p:sp>
      <p:sp>
        <p:nvSpPr>
          <p:cNvPr id="9" name="Text 5"/>
          <p:cNvSpPr txBox="1"/>
          <p:nvPr/>
        </p:nvSpPr>
        <p:spPr>
          <a:xfrm>
            <a:off x="4288536" y="4846320"/>
            <a:ext cx="1554480" cy="685800"/>
          </a:xfrm>
          <a:prstGeom prst="rect">
            <a:avLst/>
          </a:prstGeom>
          <a:noFill/>
          <a:ln/>
        </p:spPr>
        <p:txBody>
          <a:bodyPr wrap="square" lIns="0" tIns="0" rIns="0" bIns="0" rtlCol="0" anchor="ctr"/>
          <a:lstStyle/>
          <a:p>
            <a:pPr indent="0" marL="0">
              <a:buNone/>
            </a:pPr>
            <a:r>
              <a:rPr lang="en-US" sz="3200" b="1" dirty="0">
                <a:solidFill>
                  <a:schemeClr val="accent1"/>
                </a:solidFill>
              </a:rPr>
              <a:t>100%</a:t>
            </a:r>
            <a:endParaRPr lang="en-US" sz="3200" dirty="0"/>
          </a:p>
        </p:txBody>
      </p:sp>
      <p:sp>
        <p:nvSpPr>
          <p:cNvPr id="10" name="Text 6"/>
          <p:cNvSpPr txBox="1"/>
          <p:nvPr/>
        </p:nvSpPr>
        <p:spPr>
          <a:xfrm>
            <a:off x="5980176" y="4864608"/>
            <a:ext cx="1920240" cy="1097280"/>
          </a:xfrm>
          <a:prstGeom prst="rect">
            <a:avLst/>
          </a:prstGeom>
          <a:noFill/>
          <a:ln/>
        </p:spPr>
        <p:txBody>
          <a:bodyPr wrap="square" lIns="0" tIns="0" rIns="0" bIns="0" rtlCol="0" anchor="t"/>
          <a:lstStyle/>
          <a:p>
            <a:pPr indent="0" marL="0">
              <a:buNone/>
            </a:pPr>
            <a:r>
              <a:rPr lang="en-US" sz="1400" b="1" dirty="0">
                <a:solidFill>
                  <a:schemeClr val="tx1"/>
                </a:solidFill>
              </a:rPr>
              <a:t>Trained model</a:t>
            </a:r>
            <a:endParaRPr lang="en-US" sz="1400" dirty="0"/>
          </a:p>
          <a:p>
            <a:pPr indent="0" marL="0">
              <a:buNone/>
            </a:pPr>
            <a:r>
              <a:rPr lang="en-US" sz="1100" dirty="0">
                <a:solidFill>
                  <a:schemeClr val="tx2"/>
                </a:solidFill>
              </a:rPr>
              <a:t>40 of 40 · TF-IDF + logistic regression</a:t>
            </a:r>
            <a:endParaRPr lang="en-US" sz="1400" dirty="0"/>
          </a:p>
        </p:txBody>
      </p:sp>
      <p:sp>
        <p:nvSpPr>
          <p:cNvPr id="11" name="Text 7"/>
          <p:cNvSpPr txBox="1"/>
          <p:nvPr/>
        </p:nvSpPr>
        <p:spPr>
          <a:xfrm>
            <a:off x="8074152" y="4846320"/>
            <a:ext cx="1554480" cy="685800"/>
          </a:xfrm>
          <a:prstGeom prst="rect">
            <a:avLst/>
          </a:prstGeom>
          <a:noFill/>
          <a:ln/>
        </p:spPr>
        <p:txBody>
          <a:bodyPr wrap="square" lIns="0" tIns="0" rIns="0" bIns="0" rtlCol="0" anchor="ctr"/>
          <a:lstStyle/>
          <a:p>
            <a:pPr indent="0" marL="0">
              <a:buNone/>
            </a:pPr>
            <a:r>
              <a:rPr lang="en-US" sz="3200" b="1" dirty="0">
                <a:solidFill>
                  <a:schemeClr val="accent3"/>
                </a:solidFill>
              </a:rPr>
              <a:t>0.88</a:t>
            </a:r>
            <a:endParaRPr lang="en-US" sz="3200" dirty="0"/>
          </a:p>
        </p:txBody>
      </p:sp>
      <p:sp>
        <p:nvSpPr>
          <p:cNvPr id="12" name="Text 8"/>
          <p:cNvSpPr txBox="1"/>
          <p:nvPr/>
        </p:nvSpPr>
        <p:spPr>
          <a:xfrm>
            <a:off x="9765792" y="4864608"/>
            <a:ext cx="1920240" cy="1097280"/>
          </a:xfrm>
          <a:prstGeom prst="rect">
            <a:avLst/>
          </a:prstGeom>
          <a:noFill/>
          <a:ln/>
        </p:spPr>
        <p:txBody>
          <a:bodyPr wrap="square" lIns="0" tIns="0" rIns="0" bIns="0" rtlCol="0" anchor="t"/>
          <a:lstStyle/>
          <a:p>
            <a:pPr indent="0" marL="0">
              <a:buNone/>
            </a:pPr>
            <a:r>
              <a:rPr lang="en-US" sz="1400" b="1" dirty="0">
                <a:solidFill>
                  <a:schemeClr val="tx1"/>
                </a:solidFill>
              </a:rPr>
              <a:t>CV macro-F1</a:t>
            </a:r>
            <a:endParaRPr lang="en-US" sz="1400" dirty="0"/>
          </a:p>
          <a:p>
            <a:pPr indent="0" marL="0">
              <a:buNone/>
            </a:pPr>
            <a:r>
              <a:rPr lang="en-US" sz="1100" dirty="0">
                <a:solidFill>
                  <a:schemeClr val="tx2"/>
                </a:solidFill>
              </a:rPr>
              <a:t>5-fold cross-validation on 220 training sentences</a:t>
            </a:r>
            <a:endParaRPr lang="en-US" sz="14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KNOWLEDGE PAGE</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The documents it answers from</a:t>
            </a:r>
            <a:endParaRPr lang="en-US" sz="3200" dirty="0"/>
          </a:p>
        </p:txBody>
      </p:sp>
      <p:sp>
        <p:nvSpPr>
          <p:cNvPr id="5" name="card-285"/>
          <p:cNvSpPr/>
          <p:nvPr/>
        </p:nvSpPr>
        <p:spPr>
          <a:xfrm>
            <a:off x="502920" y="1371600"/>
            <a:ext cx="1993392" cy="2194560"/>
          </a:xfrm>
          <a:prstGeom prst="roundRect">
            <a:avLst>
              <a:gd name="adj" fmla="val 4587"/>
            </a:avLst>
          </a:prstGeom>
          <a:solidFill>
            <a:schemeClr val="bg2"/>
          </a:solidFill>
          <a:ln w="12700">
            <a:solidFill>
              <a:schemeClr val="accent6"/>
            </a:solidFill>
            <a:prstDash val="solid"/>
          </a:ln>
        </p:spPr>
      </p:sp>
      <p:sp>
        <p:nvSpPr>
          <p:cNvPr id="6" name="iconbg-286"/>
          <p:cNvSpPr/>
          <p:nvPr/>
        </p:nvSpPr>
        <p:spPr>
          <a:xfrm>
            <a:off x="685800" y="1554480"/>
            <a:ext cx="512064" cy="512064"/>
          </a:xfrm>
          <a:prstGeom prst="ellipse">
            <a:avLst/>
          </a:prstGeom>
          <a:solidFill>
            <a:schemeClr val="bg1"/>
          </a:solidFill>
          <a:ln w="15875">
            <a:solidFill>
              <a:schemeClr val="accent3"/>
            </a:solidFill>
            <a:prstDash val="solid"/>
          </a:ln>
        </p:spPr>
      </p:sp>
      <p:pic>
        <p:nvPicPr>
          <p:cNvPr id="7" name="icon-287" descr="preencoded.png">    </p:cNvPr>
          <p:cNvPicPr>
            <a:picLocks noChangeAspect="1"/>
          </p:cNvPicPr>
          <p:nvPr/>
        </p:nvPicPr>
        <p:blipFill>
          <a:blip r:embed="rId1"/>
          <a:stretch>
            <a:fillRect/>
          </a:stretch>
        </p:blipFill>
        <p:spPr>
          <a:xfrm>
            <a:off x="813816" y="1682496"/>
            <a:ext cx="256032" cy="256032"/>
          </a:xfrm>
          <a:prstGeom prst="rect">
            <a:avLst/>
          </a:prstGeom>
        </p:spPr>
      </p:pic>
      <p:sp>
        <p:nvSpPr>
          <p:cNvPr id="8" name="cardkicker-288"/>
          <p:cNvSpPr txBox="1"/>
          <p:nvPr/>
        </p:nvSpPr>
        <p:spPr>
          <a:xfrm>
            <a:off x="685800" y="2194560"/>
            <a:ext cx="1627632" cy="237744"/>
          </a:xfrm>
          <a:prstGeom prst="rect">
            <a:avLst/>
          </a:prstGeom>
          <a:noFill/>
          <a:ln/>
        </p:spPr>
        <p:txBody>
          <a:bodyPr wrap="square" lIns="0" tIns="0" rIns="0" bIns="0" rtlCol="0" anchor="ctr"/>
          <a:lstStyle/>
          <a:p>
            <a:pPr indent="0" marL="0">
              <a:buNone/>
            </a:pPr>
            <a:r>
              <a:rPr lang="en-US" sz="1000" b="1" spc="200" kern="0" dirty="0">
                <a:solidFill>
                  <a:schemeClr val="accent3"/>
                </a:solidFill>
              </a:rPr>
              <a:t>STAGE 1</a:t>
            </a:r>
            <a:endParaRPr lang="en-US" sz="1000" dirty="0"/>
          </a:p>
        </p:txBody>
      </p:sp>
      <p:sp>
        <p:nvSpPr>
          <p:cNvPr id="9" name="cardtitle-289"/>
          <p:cNvSpPr txBox="1"/>
          <p:nvPr/>
        </p:nvSpPr>
        <p:spPr>
          <a:xfrm>
            <a:off x="685800" y="2468880"/>
            <a:ext cx="1627632" cy="329184"/>
          </a:xfrm>
          <a:prstGeom prst="rect">
            <a:avLst/>
          </a:prstGeom>
          <a:noFill/>
          <a:ln/>
        </p:spPr>
        <p:txBody>
          <a:bodyPr wrap="square" lIns="0" tIns="0" rIns="0" bIns="0" rtlCol="0" anchor="t"/>
          <a:lstStyle/>
          <a:p>
            <a:pPr indent="0" marL="0">
              <a:buNone/>
            </a:pPr>
            <a:r>
              <a:rPr lang="en-US" sz="1600" b="1" dirty="0">
                <a:solidFill>
                  <a:schemeClr val="tx1"/>
                </a:solidFill>
              </a:rPr>
              <a:t>Add</a:t>
            </a:r>
            <a:endParaRPr lang="en-US" sz="1600" dirty="0"/>
          </a:p>
        </p:txBody>
      </p:sp>
      <p:sp>
        <p:nvSpPr>
          <p:cNvPr id="10" name="cardbody-290"/>
          <p:cNvSpPr txBox="1"/>
          <p:nvPr/>
        </p:nvSpPr>
        <p:spPr>
          <a:xfrm>
            <a:off x="685800" y="2852928"/>
            <a:ext cx="1627632" cy="576072"/>
          </a:xfrm>
          <a:prstGeom prst="rect">
            <a:avLst/>
          </a:prstGeom>
          <a:noFill/>
          <a:ln/>
        </p:spPr>
        <p:txBody>
          <a:bodyPr wrap="square" lIns="0" tIns="0" rIns="0" bIns="0" rtlCol="0" anchor="t"/>
          <a:lstStyle/>
          <a:p>
            <a:pPr indent="0" marL="0">
              <a:buNone/>
            </a:pPr>
            <a:r>
              <a:rPr lang="en-US" sz="1200" dirty="0">
                <a:solidFill>
                  <a:schemeClr val="tx2"/>
                </a:solidFill>
              </a:rPr>
              <a:t>.txt · .md · .pdf, or the sample CSE circular</a:t>
            </a:r>
            <a:endParaRPr lang="en-US" sz="1200" dirty="0"/>
          </a:p>
        </p:txBody>
      </p:sp>
      <p:sp>
        <p:nvSpPr>
          <p:cNvPr id="11" name="arrow-291"/>
          <p:cNvSpPr/>
          <p:nvPr/>
        </p:nvSpPr>
        <p:spPr>
          <a:xfrm>
            <a:off x="2532888" y="2468880"/>
            <a:ext cx="228600" cy="914"/>
          </a:xfrm>
          <a:prstGeom prst="line">
            <a:avLst/>
          </a:prstGeom>
          <a:noFill/>
          <a:ln w="19050">
            <a:solidFill>
              <a:schemeClr val="tx2"/>
            </a:solidFill>
            <a:prstDash val="solid"/>
            <a:tailEnd type="triangle"/>
          </a:ln>
        </p:spPr>
      </p:sp>
      <p:sp>
        <p:nvSpPr>
          <p:cNvPr id="12" name="card-292"/>
          <p:cNvSpPr/>
          <p:nvPr/>
        </p:nvSpPr>
        <p:spPr>
          <a:xfrm>
            <a:off x="2798064" y="1371600"/>
            <a:ext cx="1993392" cy="2194560"/>
          </a:xfrm>
          <a:prstGeom prst="roundRect">
            <a:avLst>
              <a:gd name="adj" fmla="val 4587"/>
            </a:avLst>
          </a:prstGeom>
          <a:solidFill>
            <a:schemeClr val="bg2"/>
          </a:solidFill>
          <a:ln w="12700">
            <a:solidFill>
              <a:schemeClr val="accent6"/>
            </a:solidFill>
            <a:prstDash val="solid"/>
          </a:ln>
        </p:spPr>
      </p:sp>
      <p:sp>
        <p:nvSpPr>
          <p:cNvPr id="13" name="iconbg-293"/>
          <p:cNvSpPr/>
          <p:nvPr/>
        </p:nvSpPr>
        <p:spPr>
          <a:xfrm>
            <a:off x="2980944" y="1554480"/>
            <a:ext cx="512064" cy="512064"/>
          </a:xfrm>
          <a:prstGeom prst="ellipse">
            <a:avLst/>
          </a:prstGeom>
          <a:solidFill>
            <a:schemeClr val="bg1"/>
          </a:solidFill>
          <a:ln w="15875">
            <a:solidFill>
              <a:schemeClr val="accent3"/>
            </a:solidFill>
            <a:prstDash val="solid"/>
          </a:ln>
        </p:spPr>
      </p:sp>
      <p:pic>
        <p:nvPicPr>
          <p:cNvPr id="14" name="icon-294" descr="preencoded.png">    </p:cNvPr>
          <p:cNvPicPr>
            <a:picLocks noChangeAspect="1"/>
          </p:cNvPicPr>
          <p:nvPr/>
        </p:nvPicPr>
        <p:blipFill>
          <a:blip r:embed="rId2"/>
          <a:stretch>
            <a:fillRect/>
          </a:stretch>
        </p:blipFill>
        <p:spPr>
          <a:xfrm>
            <a:off x="3108960" y="1682496"/>
            <a:ext cx="256032" cy="256032"/>
          </a:xfrm>
          <a:prstGeom prst="rect">
            <a:avLst/>
          </a:prstGeom>
        </p:spPr>
      </p:pic>
      <p:sp>
        <p:nvSpPr>
          <p:cNvPr id="15" name="cardkicker-295"/>
          <p:cNvSpPr txBox="1"/>
          <p:nvPr/>
        </p:nvSpPr>
        <p:spPr>
          <a:xfrm>
            <a:off x="2980944" y="2194560"/>
            <a:ext cx="1627632" cy="237744"/>
          </a:xfrm>
          <a:prstGeom prst="rect">
            <a:avLst/>
          </a:prstGeom>
          <a:noFill/>
          <a:ln/>
        </p:spPr>
        <p:txBody>
          <a:bodyPr wrap="square" lIns="0" tIns="0" rIns="0" bIns="0" rtlCol="0" anchor="ctr"/>
          <a:lstStyle/>
          <a:p>
            <a:pPr indent="0" marL="0">
              <a:buNone/>
            </a:pPr>
            <a:r>
              <a:rPr lang="en-US" sz="1000" b="1" spc="200" kern="0" dirty="0">
                <a:solidFill>
                  <a:schemeClr val="accent3"/>
                </a:solidFill>
              </a:rPr>
              <a:t>STAGE 2</a:t>
            </a:r>
            <a:endParaRPr lang="en-US" sz="1000" dirty="0"/>
          </a:p>
        </p:txBody>
      </p:sp>
      <p:sp>
        <p:nvSpPr>
          <p:cNvPr id="16" name="cardtitle-296"/>
          <p:cNvSpPr txBox="1"/>
          <p:nvPr/>
        </p:nvSpPr>
        <p:spPr>
          <a:xfrm>
            <a:off x="2980944" y="2468880"/>
            <a:ext cx="1627632" cy="329184"/>
          </a:xfrm>
          <a:prstGeom prst="rect">
            <a:avLst/>
          </a:prstGeom>
          <a:noFill/>
          <a:ln/>
        </p:spPr>
        <p:txBody>
          <a:bodyPr wrap="square" lIns="0" tIns="0" rIns="0" bIns="0" rtlCol="0" anchor="t"/>
          <a:lstStyle/>
          <a:p>
            <a:pPr indent="0" marL="0">
              <a:buNone/>
            </a:pPr>
            <a:r>
              <a:rPr lang="en-US" sz="1600" b="1" dirty="0">
                <a:solidFill>
                  <a:schemeClr val="tx1"/>
                </a:solidFill>
              </a:rPr>
              <a:t>Split</a:t>
            </a:r>
            <a:endParaRPr lang="en-US" sz="1600" dirty="0"/>
          </a:p>
        </p:txBody>
      </p:sp>
      <p:sp>
        <p:nvSpPr>
          <p:cNvPr id="17" name="cardbody-297"/>
          <p:cNvSpPr txBox="1"/>
          <p:nvPr/>
        </p:nvSpPr>
        <p:spPr>
          <a:xfrm>
            <a:off x="2980944" y="2852928"/>
            <a:ext cx="1627632" cy="576072"/>
          </a:xfrm>
          <a:prstGeom prst="rect">
            <a:avLst/>
          </a:prstGeom>
          <a:noFill/>
          <a:ln/>
        </p:spPr>
        <p:txBody>
          <a:bodyPr wrap="square" lIns="0" tIns="0" rIns="0" bIns="0" rtlCol="0" anchor="t"/>
          <a:lstStyle/>
          <a:p>
            <a:pPr indent="0" marL="0">
              <a:buNone/>
            </a:pPr>
            <a:r>
              <a:rPr lang="en-US" sz="1200" dirty="0">
                <a:solidFill>
                  <a:schemeClr val="tx2"/>
                </a:solidFill>
              </a:rPr>
              <a:t>Sections → passages of ~110 words; claims extracted</a:t>
            </a:r>
            <a:endParaRPr lang="en-US" sz="1200" dirty="0"/>
          </a:p>
        </p:txBody>
      </p:sp>
      <p:sp>
        <p:nvSpPr>
          <p:cNvPr id="18" name="arrow-298"/>
          <p:cNvSpPr/>
          <p:nvPr/>
        </p:nvSpPr>
        <p:spPr>
          <a:xfrm>
            <a:off x="4828032" y="2468880"/>
            <a:ext cx="228600" cy="914"/>
          </a:xfrm>
          <a:prstGeom prst="line">
            <a:avLst/>
          </a:prstGeom>
          <a:noFill/>
          <a:ln w="19050">
            <a:solidFill>
              <a:schemeClr val="tx2"/>
            </a:solidFill>
            <a:prstDash val="solid"/>
            <a:tailEnd type="triangle"/>
          </a:ln>
        </p:spPr>
      </p:sp>
      <p:sp>
        <p:nvSpPr>
          <p:cNvPr id="19" name="card-299"/>
          <p:cNvSpPr/>
          <p:nvPr/>
        </p:nvSpPr>
        <p:spPr>
          <a:xfrm>
            <a:off x="5093208" y="1371600"/>
            <a:ext cx="1993392" cy="2194560"/>
          </a:xfrm>
          <a:prstGeom prst="roundRect">
            <a:avLst>
              <a:gd name="adj" fmla="val 4587"/>
            </a:avLst>
          </a:prstGeom>
          <a:solidFill>
            <a:schemeClr val="bg2"/>
          </a:solidFill>
          <a:ln w="12700">
            <a:solidFill>
              <a:schemeClr val="accent6"/>
            </a:solidFill>
            <a:prstDash val="solid"/>
          </a:ln>
        </p:spPr>
      </p:sp>
      <p:sp>
        <p:nvSpPr>
          <p:cNvPr id="20" name="iconbg-300"/>
          <p:cNvSpPr/>
          <p:nvPr/>
        </p:nvSpPr>
        <p:spPr>
          <a:xfrm>
            <a:off x="5276088" y="1554480"/>
            <a:ext cx="512064" cy="512064"/>
          </a:xfrm>
          <a:prstGeom prst="ellipse">
            <a:avLst/>
          </a:prstGeom>
          <a:solidFill>
            <a:schemeClr val="bg1"/>
          </a:solidFill>
          <a:ln w="15875">
            <a:solidFill>
              <a:schemeClr val="accent3"/>
            </a:solidFill>
            <a:prstDash val="solid"/>
          </a:ln>
        </p:spPr>
      </p:sp>
      <p:pic>
        <p:nvPicPr>
          <p:cNvPr id="21" name="icon-301" descr="preencoded.png">    </p:cNvPr>
          <p:cNvPicPr>
            <a:picLocks noChangeAspect="1"/>
          </p:cNvPicPr>
          <p:nvPr/>
        </p:nvPicPr>
        <p:blipFill>
          <a:blip r:embed="rId3"/>
          <a:stretch>
            <a:fillRect/>
          </a:stretch>
        </p:blipFill>
        <p:spPr>
          <a:xfrm>
            <a:off x="5404104" y="1682496"/>
            <a:ext cx="256032" cy="256032"/>
          </a:xfrm>
          <a:prstGeom prst="rect">
            <a:avLst/>
          </a:prstGeom>
        </p:spPr>
      </p:pic>
      <p:sp>
        <p:nvSpPr>
          <p:cNvPr id="22" name="cardkicker-302"/>
          <p:cNvSpPr txBox="1"/>
          <p:nvPr/>
        </p:nvSpPr>
        <p:spPr>
          <a:xfrm>
            <a:off x="5276088" y="2194560"/>
            <a:ext cx="1627632" cy="237744"/>
          </a:xfrm>
          <a:prstGeom prst="rect">
            <a:avLst/>
          </a:prstGeom>
          <a:noFill/>
          <a:ln/>
        </p:spPr>
        <p:txBody>
          <a:bodyPr wrap="square" lIns="0" tIns="0" rIns="0" bIns="0" rtlCol="0" anchor="ctr"/>
          <a:lstStyle/>
          <a:p>
            <a:pPr indent="0" marL="0">
              <a:buNone/>
            </a:pPr>
            <a:r>
              <a:rPr lang="en-US" sz="1000" b="1" spc="200" kern="0" dirty="0">
                <a:solidFill>
                  <a:schemeClr val="accent3"/>
                </a:solidFill>
              </a:rPr>
              <a:t>STAGE 3</a:t>
            </a:r>
            <a:endParaRPr lang="en-US" sz="1000" dirty="0"/>
          </a:p>
        </p:txBody>
      </p:sp>
      <p:sp>
        <p:nvSpPr>
          <p:cNvPr id="23" name="cardtitle-303"/>
          <p:cNvSpPr txBox="1"/>
          <p:nvPr/>
        </p:nvSpPr>
        <p:spPr>
          <a:xfrm>
            <a:off x="5276088" y="2468880"/>
            <a:ext cx="1627632" cy="329184"/>
          </a:xfrm>
          <a:prstGeom prst="rect">
            <a:avLst/>
          </a:prstGeom>
          <a:noFill/>
          <a:ln/>
        </p:spPr>
        <p:txBody>
          <a:bodyPr wrap="square" lIns="0" tIns="0" rIns="0" bIns="0" rtlCol="0" anchor="t"/>
          <a:lstStyle/>
          <a:p>
            <a:pPr indent="0" marL="0">
              <a:buNone/>
            </a:pPr>
            <a:r>
              <a:rPr lang="en-US" sz="1600" b="1" dirty="0">
                <a:solidFill>
                  <a:schemeClr val="tx1"/>
                </a:solidFill>
              </a:rPr>
              <a:t>Embed</a:t>
            </a:r>
            <a:endParaRPr lang="en-US" sz="1600" dirty="0"/>
          </a:p>
        </p:txBody>
      </p:sp>
      <p:sp>
        <p:nvSpPr>
          <p:cNvPr id="24" name="cardbody-304"/>
          <p:cNvSpPr txBox="1"/>
          <p:nvPr/>
        </p:nvSpPr>
        <p:spPr>
          <a:xfrm>
            <a:off x="5276088" y="2852928"/>
            <a:ext cx="1627632" cy="576072"/>
          </a:xfrm>
          <a:prstGeom prst="rect">
            <a:avLst/>
          </a:prstGeom>
          <a:noFill/>
          <a:ln/>
        </p:spPr>
        <p:txBody>
          <a:bodyPr wrap="square" lIns="0" tIns="0" rIns="0" bIns="0" rtlCol="0" anchor="t"/>
          <a:lstStyle/>
          <a:p>
            <a:pPr indent="0" marL="0">
              <a:buNone/>
            </a:pPr>
            <a:r>
              <a:rPr lang="en-US" sz="1200" dirty="0">
                <a:solidFill>
                  <a:schemeClr val="tx2"/>
                </a:solidFill>
              </a:rPr>
              <a:t>Each passage → a 384-d vector</a:t>
            </a:r>
            <a:endParaRPr lang="en-US" sz="1200" dirty="0"/>
          </a:p>
        </p:txBody>
      </p:sp>
      <p:sp>
        <p:nvSpPr>
          <p:cNvPr id="25" name="arrow-305"/>
          <p:cNvSpPr/>
          <p:nvPr/>
        </p:nvSpPr>
        <p:spPr>
          <a:xfrm>
            <a:off x="7123176" y="2468880"/>
            <a:ext cx="228600" cy="914"/>
          </a:xfrm>
          <a:prstGeom prst="line">
            <a:avLst/>
          </a:prstGeom>
          <a:noFill/>
          <a:ln w="19050">
            <a:solidFill>
              <a:schemeClr val="tx2"/>
            </a:solidFill>
            <a:prstDash val="solid"/>
            <a:tailEnd type="triangle"/>
          </a:ln>
        </p:spPr>
      </p:sp>
      <p:sp>
        <p:nvSpPr>
          <p:cNvPr id="26" name="card-306"/>
          <p:cNvSpPr/>
          <p:nvPr/>
        </p:nvSpPr>
        <p:spPr>
          <a:xfrm>
            <a:off x="7388352" y="1371600"/>
            <a:ext cx="1993392" cy="2194560"/>
          </a:xfrm>
          <a:prstGeom prst="roundRect">
            <a:avLst>
              <a:gd name="adj" fmla="val 4587"/>
            </a:avLst>
          </a:prstGeom>
          <a:solidFill>
            <a:schemeClr val="bg2"/>
          </a:solidFill>
          <a:ln w="12700">
            <a:solidFill>
              <a:schemeClr val="accent6"/>
            </a:solidFill>
            <a:prstDash val="solid"/>
          </a:ln>
        </p:spPr>
      </p:sp>
      <p:sp>
        <p:nvSpPr>
          <p:cNvPr id="27" name="iconbg-307"/>
          <p:cNvSpPr/>
          <p:nvPr/>
        </p:nvSpPr>
        <p:spPr>
          <a:xfrm>
            <a:off x="7571232" y="1554480"/>
            <a:ext cx="512064" cy="512064"/>
          </a:xfrm>
          <a:prstGeom prst="ellipse">
            <a:avLst/>
          </a:prstGeom>
          <a:solidFill>
            <a:schemeClr val="bg1"/>
          </a:solidFill>
          <a:ln w="15875">
            <a:solidFill>
              <a:schemeClr val="accent3"/>
            </a:solidFill>
            <a:prstDash val="solid"/>
          </a:ln>
        </p:spPr>
      </p:sp>
      <p:pic>
        <p:nvPicPr>
          <p:cNvPr id="28" name="icon-308" descr="preencoded.png">    </p:cNvPr>
          <p:cNvPicPr>
            <a:picLocks noChangeAspect="1"/>
          </p:cNvPicPr>
          <p:nvPr/>
        </p:nvPicPr>
        <p:blipFill>
          <a:blip r:embed="rId4"/>
          <a:stretch>
            <a:fillRect/>
          </a:stretch>
        </p:blipFill>
        <p:spPr>
          <a:xfrm>
            <a:off x="7699248" y="1682496"/>
            <a:ext cx="256032" cy="256032"/>
          </a:xfrm>
          <a:prstGeom prst="rect">
            <a:avLst/>
          </a:prstGeom>
        </p:spPr>
      </p:pic>
      <p:sp>
        <p:nvSpPr>
          <p:cNvPr id="29" name="cardkicker-309"/>
          <p:cNvSpPr txBox="1"/>
          <p:nvPr/>
        </p:nvSpPr>
        <p:spPr>
          <a:xfrm>
            <a:off x="7571232" y="2194560"/>
            <a:ext cx="1627632" cy="237744"/>
          </a:xfrm>
          <a:prstGeom prst="rect">
            <a:avLst/>
          </a:prstGeom>
          <a:noFill/>
          <a:ln/>
        </p:spPr>
        <p:txBody>
          <a:bodyPr wrap="square" lIns="0" tIns="0" rIns="0" bIns="0" rtlCol="0" anchor="ctr"/>
          <a:lstStyle/>
          <a:p>
            <a:pPr indent="0" marL="0">
              <a:buNone/>
            </a:pPr>
            <a:r>
              <a:rPr lang="en-US" sz="1000" b="1" spc="200" kern="0" dirty="0">
                <a:solidFill>
                  <a:schemeClr val="accent3"/>
                </a:solidFill>
              </a:rPr>
              <a:t>STAGE 4</a:t>
            </a:r>
            <a:endParaRPr lang="en-US" sz="1000" dirty="0"/>
          </a:p>
        </p:txBody>
      </p:sp>
      <p:sp>
        <p:nvSpPr>
          <p:cNvPr id="30" name="cardtitle-310"/>
          <p:cNvSpPr txBox="1"/>
          <p:nvPr/>
        </p:nvSpPr>
        <p:spPr>
          <a:xfrm>
            <a:off x="7571232" y="2468880"/>
            <a:ext cx="1627632" cy="329184"/>
          </a:xfrm>
          <a:prstGeom prst="rect">
            <a:avLst/>
          </a:prstGeom>
          <a:noFill/>
          <a:ln/>
        </p:spPr>
        <p:txBody>
          <a:bodyPr wrap="square" lIns="0" tIns="0" rIns="0" bIns="0" rtlCol="0" anchor="t"/>
          <a:lstStyle/>
          <a:p>
            <a:pPr indent="0" marL="0">
              <a:buNone/>
            </a:pPr>
            <a:r>
              <a:rPr lang="en-US" sz="1600" b="1" dirty="0">
                <a:solidFill>
                  <a:schemeClr val="tx1"/>
                </a:solidFill>
              </a:rPr>
              <a:t>Index</a:t>
            </a:r>
            <a:endParaRPr lang="en-US" sz="1600" dirty="0"/>
          </a:p>
        </p:txBody>
      </p:sp>
      <p:sp>
        <p:nvSpPr>
          <p:cNvPr id="31" name="cardbody-311"/>
          <p:cNvSpPr txBox="1"/>
          <p:nvPr/>
        </p:nvSpPr>
        <p:spPr>
          <a:xfrm>
            <a:off x="7571232" y="2852928"/>
            <a:ext cx="1627632" cy="576072"/>
          </a:xfrm>
          <a:prstGeom prst="rect">
            <a:avLst/>
          </a:prstGeom>
          <a:noFill/>
          <a:ln/>
        </p:spPr>
        <p:txBody>
          <a:bodyPr wrap="square" lIns="0" tIns="0" rIns="0" bIns="0" rtlCol="0" anchor="t"/>
          <a:lstStyle/>
          <a:p>
            <a:pPr indent="0" marL="0">
              <a:buNone/>
            </a:pPr>
            <a:r>
              <a:rPr lang="en-US" sz="1200" dirty="0">
                <a:solidFill>
                  <a:schemeClr val="tx2"/>
                </a:solidFill>
              </a:rPr>
              <a:t>Stored in the Chroma vector store</a:t>
            </a:r>
            <a:endParaRPr lang="en-US" sz="1200" dirty="0"/>
          </a:p>
        </p:txBody>
      </p:sp>
      <p:sp>
        <p:nvSpPr>
          <p:cNvPr id="32" name="arrow-312"/>
          <p:cNvSpPr/>
          <p:nvPr/>
        </p:nvSpPr>
        <p:spPr>
          <a:xfrm>
            <a:off x="9418320" y="2468880"/>
            <a:ext cx="228600" cy="914"/>
          </a:xfrm>
          <a:prstGeom prst="line">
            <a:avLst/>
          </a:prstGeom>
          <a:noFill/>
          <a:ln w="19050">
            <a:solidFill>
              <a:schemeClr val="tx2"/>
            </a:solidFill>
            <a:prstDash val="solid"/>
            <a:tailEnd type="triangle"/>
          </a:ln>
        </p:spPr>
      </p:sp>
      <p:sp>
        <p:nvSpPr>
          <p:cNvPr id="33" name="card-313"/>
          <p:cNvSpPr/>
          <p:nvPr/>
        </p:nvSpPr>
        <p:spPr>
          <a:xfrm>
            <a:off x="9683496" y="1371600"/>
            <a:ext cx="1993392" cy="2194560"/>
          </a:xfrm>
          <a:prstGeom prst="roundRect">
            <a:avLst>
              <a:gd name="adj" fmla="val 4587"/>
            </a:avLst>
          </a:prstGeom>
          <a:solidFill>
            <a:schemeClr val="bg2"/>
          </a:solidFill>
          <a:ln w="12700">
            <a:solidFill>
              <a:schemeClr val="accent6"/>
            </a:solidFill>
            <a:prstDash val="solid"/>
          </a:ln>
        </p:spPr>
      </p:sp>
      <p:sp>
        <p:nvSpPr>
          <p:cNvPr id="34" name="iconbg-314"/>
          <p:cNvSpPr/>
          <p:nvPr/>
        </p:nvSpPr>
        <p:spPr>
          <a:xfrm>
            <a:off x="9866376" y="1554480"/>
            <a:ext cx="512064" cy="512064"/>
          </a:xfrm>
          <a:prstGeom prst="ellipse">
            <a:avLst/>
          </a:prstGeom>
          <a:solidFill>
            <a:schemeClr val="bg1"/>
          </a:solidFill>
          <a:ln w="15875">
            <a:solidFill>
              <a:schemeClr val="accent3"/>
            </a:solidFill>
            <a:prstDash val="solid"/>
          </a:ln>
        </p:spPr>
      </p:sp>
      <p:pic>
        <p:nvPicPr>
          <p:cNvPr id="35" name="icon-315" descr="preencoded.png">    </p:cNvPr>
          <p:cNvPicPr>
            <a:picLocks noChangeAspect="1"/>
          </p:cNvPicPr>
          <p:nvPr/>
        </p:nvPicPr>
        <p:blipFill>
          <a:blip r:embed="rId5"/>
          <a:stretch>
            <a:fillRect/>
          </a:stretch>
        </p:blipFill>
        <p:spPr>
          <a:xfrm>
            <a:off x="9994392" y="1682496"/>
            <a:ext cx="256032" cy="256032"/>
          </a:xfrm>
          <a:prstGeom prst="rect">
            <a:avLst/>
          </a:prstGeom>
        </p:spPr>
      </p:pic>
      <p:sp>
        <p:nvSpPr>
          <p:cNvPr id="36" name="cardkicker-316"/>
          <p:cNvSpPr txBox="1"/>
          <p:nvPr/>
        </p:nvSpPr>
        <p:spPr>
          <a:xfrm>
            <a:off x="9866376" y="2194560"/>
            <a:ext cx="1627632" cy="237744"/>
          </a:xfrm>
          <a:prstGeom prst="rect">
            <a:avLst/>
          </a:prstGeom>
          <a:noFill/>
          <a:ln/>
        </p:spPr>
        <p:txBody>
          <a:bodyPr wrap="square" lIns="0" tIns="0" rIns="0" bIns="0" rtlCol="0" anchor="ctr"/>
          <a:lstStyle/>
          <a:p>
            <a:pPr indent="0" marL="0">
              <a:buNone/>
            </a:pPr>
            <a:r>
              <a:rPr lang="en-US" sz="1000" b="1" spc="200" kern="0" dirty="0">
                <a:solidFill>
                  <a:schemeClr val="accent3"/>
                </a:solidFill>
              </a:rPr>
              <a:t>STAGE 5</a:t>
            </a:r>
            <a:endParaRPr lang="en-US" sz="1000" dirty="0"/>
          </a:p>
        </p:txBody>
      </p:sp>
      <p:sp>
        <p:nvSpPr>
          <p:cNvPr id="37" name="cardtitle-317"/>
          <p:cNvSpPr txBox="1"/>
          <p:nvPr/>
        </p:nvSpPr>
        <p:spPr>
          <a:xfrm>
            <a:off x="9866376" y="2468880"/>
            <a:ext cx="1627632" cy="329184"/>
          </a:xfrm>
          <a:prstGeom prst="rect">
            <a:avLst/>
          </a:prstGeom>
          <a:noFill/>
          <a:ln/>
        </p:spPr>
        <p:txBody>
          <a:bodyPr wrap="square" lIns="0" tIns="0" rIns="0" bIns="0" rtlCol="0" anchor="t"/>
          <a:lstStyle/>
          <a:p>
            <a:pPr indent="0" marL="0">
              <a:buNone/>
            </a:pPr>
            <a:r>
              <a:rPr lang="en-US" sz="1600" b="1" dirty="0">
                <a:solidFill>
                  <a:schemeClr val="tx1"/>
                </a:solidFill>
              </a:rPr>
              <a:t>Reconcile</a:t>
            </a:r>
            <a:endParaRPr lang="en-US" sz="1600" dirty="0"/>
          </a:p>
        </p:txBody>
      </p:sp>
      <p:sp>
        <p:nvSpPr>
          <p:cNvPr id="38" name="cardbody-318"/>
          <p:cNvSpPr txBox="1"/>
          <p:nvPr/>
        </p:nvSpPr>
        <p:spPr>
          <a:xfrm>
            <a:off x="9866376" y="2852928"/>
            <a:ext cx="1627632" cy="576072"/>
          </a:xfrm>
          <a:prstGeom prst="rect">
            <a:avLst/>
          </a:prstGeom>
          <a:noFill/>
          <a:ln/>
        </p:spPr>
        <p:txBody>
          <a:bodyPr wrap="square" lIns="0" tIns="0" rIns="0" bIns="0" rtlCol="0" anchor="t"/>
          <a:lstStyle/>
          <a:p>
            <a:pPr indent="0" marL="0">
              <a:buNone/>
            </a:pPr>
            <a:r>
              <a:rPr lang="en-US" sz="1200" dirty="0">
                <a:solidFill>
                  <a:schemeClr val="tx2"/>
                </a:solidFill>
              </a:rPr>
              <a:t>Confirm a memory, or resolve a conflict</a:t>
            </a:r>
            <a:endParaRPr lang="en-US" sz="1200" dirty="0"/>
          </a:p>
        </p:txBody>
      </p:sp>
      <p:sp>
        <p:nvSpPr>
          <p:cNvPr id="39" name="card-319"/>
          <p:cNvSpPr/>
          <p:nvPr/>
        </p:nvSpPr>
        <p:spPr>
          <a:xfrm>
            <a:off x="502920" y="3886200"/>
            <a:ext cx="3611880" cy="2240280"/>
          </a:xfrm>
          <a:prstGeom prst="roundRect">
            <a:avLst>
              <a:gd name="adj" fmla="val 4082"/>
            </a:avLst>
          </a:prstGeom>
          <a:solidFill>
            <a:schemeClr val="bg2"/>
          </a:solidFill>
          <a:ln w="12700">
            <a:solidFill>
              <a:schemeClr val="accent6"/>
            </a:solidFill>
            <a:prstDash val="solid"/>
          </a:ln>
        </p:spPr>
      </p:sp>
      <p:sp>
        <p:nvSpPr>
          <p:cNvPr id="40" name="iconbg-320"/>
          <p:cNvSpPr/>
          <p:nvPr/>
        </p:nvSpPr>
        <p:spPr>
          <a:xfrm>
            <a:off x="685800" y="4069080"/>
            <a:ext cx="512064" cy="512064"/>
          </a:xfrm>
          <a:prstGeom prst="ellipse">
            <a:avLst/>
          </a:prstGeom>
          <a:solidFill>
            <a:schemeClr val="bg1"/>
          </a:solidFill>
          <a:ln w="15875">
            <a:solidFill>
              <a:schemeClr val="accent2"/>
            </a:solidFill>
            <a:prstDash val="solid"/>
          </a:ln>
        </p:spPr>
      </p:sp>
      <p:pic>
        <p:nvPicPr>
          <p:cNvPr id="41" name="icon-321" descr="preencoded.png">    </p:cNvPr>
          <p:cNvPicPr>
            <a:picLocks noChangeAspect="1"/>
          </p:cNvPicPr>
          <p:nvPr/>
        </p:nvPicPr>
        <p:blipFill>
          <a:blip r:embed="rId6"/>
          <a:stretch>
            <a:fillRect/>
          </a:stretch>
        </p:blipFill>
        <p:spPr>
          <a:xfrm>
            <a:off x="813816" y="4197096"/>
            <a:ext cx="256032" cy="256032"/>
          </a:xfrm>
          <a:prstGeom prst="rect">
            <a:avLst/>
          </a:prstGeom>
        </p:spPr>
      </p:pic>
      <p:sp>
        <p:nvSpPr>
          <p:cNvPr id="42" name="cardtitle-322"/>
          <p:cNvSpPr txBox="1"/>
          <p:nvPr/>
        </p:nvSpPr>
        <p:spPr>
          <a:xfrm>
            <a:off x="685800" y="4709160"/>
            <a:ext cx="3246120" cy="329184"/>
          </a:xfrm>
          <a:prstGeom prst="rect">
            <a:avLst/>
          </a:prstGeom>
          <a:noFill/>
          <a:ln/>
        </p:spPr>
        <p:txBody>
          <a:bodyPr wrap="square" lIns="0" tIns="0" rIns="0" bIns="0" rtlCol="0" anchor="t"/>
          <a:lstStyle/>
          <a:p>
            <a:pPr indent="0" marL="0">
              <a:buNone/>
            </a:pPr>
            <a:r>
              <a:rPr lang="en-US" sz="1500" b="1" dirty="0">
                <a:solidFill>
                  <a:schemeClr val="tx1"/>
                </a:solidFill>
              </a:rPr>
              <a:t>Documents</a:t>
            </a:r>
            <a:endParaRPr lang="en-US" sz="1500" dirty="0"/>
          </a:p>
        </p:txBody>
      </p:sp>
      <p:sp>
        <p:nvSpPr>
          <p:cNvPr id="43" name="cardbody-323"/>
          <p:cNvSpPr txBox="1"/>
          <p:nvPr/>
        </p:nvSpPr>
        <p:spPr>
          <a:xfrm>
            <a:off x="685800" y="5093208"/>
            <a:ext cx="3246120" cy="896112"/>
          </a:xfrm>
          <a:prstGeom prst="rect">
            <a:avLst/>
          </a:prstGeom>
          <a:noFill/>
          <a:ln/>
        </p:spPr>
        <p:txBody>
          <a:bodyPr wrap="square" lIns="0" tIns="0" rIns="0" bIns="0" rtlCol="0" anchor="t"/>
          <a:lstStyle/>
          <a:p>
            <a:pPr indent="0" marL="0">
              <a:buNone/>
            </a:pPr>
            <a:r>
              <a:rPr lang="en-US" sz="1200" dirty="0">
                <a:solidFill>
                  <a:schemeClr val="tx2"/>
                </a:solidFill>
              </a:rPr>
              <a:t>Academic Regulations 2024 (14 passages) · Exam Guidelines (6) · Hostel Handbook (5) · CSE Handbook (3)</a:t>
            </a:r>
            <a:endParaRPr lang="en-US" sz="1200" dirty="0"/>
          </a:p>
        </p:txBody>
      </p:sp>
      <p:sp>
        <p:nvSpPr>
          <p:cNvPr id="44" name="card-324"/>
          <p:cNvSpPr/>
          <p:nvPr/>
        </p:nvSpPr>
        <p:spPr>
          <a:xfrm>
            <a:off x="4288536" y="3886200"/>
            <a:ext cx="3611880" cy="2240280"/>
          </a:xfrm>
          <a:prstGeom prst="roundRect">
            <a:avLst>
              <a:gd name="adj" fmla="val 4082"/>
            </a:avLst>
          </a:prstGeom>
          <a:solidFill>
            <a:schemeClr val="bg2"/>
          </a:solidFill>
          <a:ln w="12700">
            <a:solidFill>
              <a:schemeClr val="accent6"/>
            </a:solidFill>
            <a:prstDash val="solid"/>
          </a:ln>
        </p:spPr>
      </p:sp>
      <p:sp>
        <p:nvSpPr>
          <p:cNvPr id="45" name="iconbg-325"/>
          <p:cNvSpPr/>
          <p:nvPr/>
        </p:nvSpPr>
        <p:spPr>
          <a:xfrm>
            <a:off x="4471416" y="4069080"/>
            <a:ext cx="512064" cy="512064"/>
          </a:xfrm>
          <a:prstGeom prst="ellipse">
            <a:avLst/>
          </a:prstGeom>
          <a:solidFill>
            <a:schemeClr val="bg1"/>
          </a:solidFill>
          <a:ln w="15875">
            <a:solidFill>
              <a:schemeClr val="accent2"/>
            </a:solidFill>
            <a:prstDash val="solid"/>
          </a:ln>
        </p:spPr>
      </p:sp>
      <p:pic>
        <p:nvPicPr>
          <p:cNvPr id="46" name="icon-326" descr="preencoded.png">    </p:cNvPr>
          <p:cNvPicPr>
            <a:picLocks noChangeAspect="1"/>
          </p:cNvPicPr>
          <p:nvPr/>
        </p:nvPicPr>
        <p:blipFill>
          <a:blip r:embed="rId7"/>
          <a:stretch>
            <a:fillRect/>
          </a:stretch>
        </p:blipFill>
        <p:spPr>
          <a:xfrm>
            <a:off x="4599432" y="4197096"/>
            <a:ext cx="256032" cy="256032"/>
          </a:xfrm>
          <a:prstGeom prst="rect">
            <a:avLst/>
          </a:prstGeom>
        </p:spPr>
      </p:pic>
      <p:sp>
        <p:nvSpPr>
          <p:cNvPr id="47" name="cardtitle-327"/>
          <p:cNvSpPr txBox="1"/>
          <p:nvPr/>
        </p:nvSpPr>
        <p:spPr>
          <a:xfrm>
            <a:off x="4471416" y="4709160"/>
            <a:ext cx="3246120" cy="329184"/>
          </a:xfrm>
          <a:prstGeom prst="rect">
            <a:avLst/>
          </a:prstGeom>
          <a:noFill/>
          <a:ln/>
        </p:spPr>
        <p:txBody>
          <a:bodyPr wrap="square" lIns="0" tIns="0" rIns="0" bIns="0" rtlCol="0" anchor="t"/>
          <a:lstStyle/>
          <a:p>
            <a:pPr indent="0" marL="0">
              <a:buNone/>
            </a:pPr>
            <a:r>
              <a:rPr lang="en-US" sz="1500" b="1" dirty="0">
                <a:solidFill>
                  <a:schemeClr val="tx1"/>
                </a:solidFill>
              </a:rPr>
              <a:t>Passages</a:t>
            </a:r>
            <a:endParaRPr lang="en-US" sz="1500" dirty="0"/>
          </a:p>
        </p:txBody>
      </p:sp>
      <p:sp>
        <p:nvSpPr>
          <p:cNvPr id="48" name="cardbody-328"/>
          <p:cNvSpPr txBox="1"/>
          <p:nvPr/>
        </p:nvSpPr>
        <p:spPr>
          <a:xfrm>
            <a:off x="4471416" y="5093208"/>
            <a:ext cx="3246120" cy="896112"/>
          </a:xfrm>
          <a:prstGeom prst="rect">
            <a:avLst/>
          </a:prstGeom>
          <a:noFill/>
          <a:ln/>
        </p:spPr>
        <p:txBody>
          <a:bodyPr wrap="square" lIns="0" tIns="0" rIns="0" bIns="0" rtlCol="0" anchor="t"/>
          <a:lstStyle/>
          <a:p>
            <a:pPr indent="0" marL="0">
              <a:buNone/>
            </a:pPr>
            <a:r>
              <a:rPr lang="en-US" sz="1200" dirty="0">
                <a:solidFill>
                  <a:schemeClr val="tx2"/>
                </a:solidFill>
              </a:rPr>
              <a:t>Section, title, tokens, reliability meter, embedding fingerprint strip, and “Overridden for … by …” notes</a:t>
            </a:r>
            <a:endParaRPr lang="en-US" sz="1200" dirty="0"/>
          </a:p>
        </p:txBody>
      </p:sp>
      <p:sp>
        <p:nvSpPr>
          <p:cNvPr id="49" name="card-329"/>
          <p:cNvSpPr/>
          <p:nvPr/>
        </p:nvSpPr>
        <p:spPr>
          <a:xfrm>
            <a:off x="8074152" y="3886200"/>
            <a:ext cx="3611880" cy="2240280"/>
          </a:xfrm>
          <a:prstGeom prst="roundRect">
            <a:avLst>
              <a:gd name="adj" fmla="val 4082"/>
            </a:avLst>
          </a:prstGeom>
          <a:solidFill>
            <a:schemeClr val="bg2"/>
          </a:solidFill>
          <a:ln w="12700">
            <a:solidFill>
              <a:schemeClr val="accent6"/>
            </a:solidFill>
            <a:prstDash val="solid"/>
          </a:ln>
        </p:spPr>
      </p:sp>
      <p:sp>
        <p:nvSpPr>
          <p:cNvPr id="50" name="iconbg-330"/>
          <p:cNvSpPr/>
          <p:nvPr/>
        </p:nvSpPr>
        <p:spPr>
          <a:xfrm>
            <a:off x="8257032" y="4069080"/>
            <a:ext cx="512064" cy="512064"/>
          </a:xfrm>
          <a:prstGeom prst="ellipse">
            <a:avLst/>
          </a:prstGeom>
          <a:solidFill>
            <a:schemeClr val="bg1"/>
          </a:solidFill>
          <a:ln w="15875">
            <a:solidFill>
              <a:schemeClr val="accent2"/>
            </a:solidFill>
            <a:prstDash val="solid"/>
          </a:ln>
        </p:spPr>
      </p:sp>
      <p:pic>
        <p:nvPicPr>
          <p:cNvPr id="51" name="icon-331" descr="preencoded.png">    </p:cNvPr>
          <p:cNvPicPr>
            <a:picLocks noChangeAspect="1"/>
          </p:cNvPicPr>
          <p:nvPr/>
        </p:nvPicPr>
        <p:blipFill>
          <a:blip r:embed="rId8"/>
          <a:stretch>
            <a:fillRect/>
          </a:stretch>
        </p:blipFill>
        <p:spPr>
          <a:xfrm>
            <a:off x="8385048" y="4197096"/>
            <a:ext cx="256032" cy="256032"/>
          </a:xfrm>
          <a:prstGeom prst="rect">
            <a:avLst/>
          </a:prstGeom>
        </p:spPr>
      </p:pic>
      <p:sp>
        <p:nvSpPr>
          <p:cNvPr id="52" name="cardtitle-332"/>
          <p:cNvSpPr txBox="1"/>
          <p:nvPr/>
        </p:nvSpPr>
        <p:spPr>
          <a:xfrm>
            <a:off x="8257032" y="4709160"/>
            <a:ext cx="3246120" cy="329184"/>
          </a:xfrm>
          <a:prstGeom prst="rect">
            <a:avLst/>
          </a:prstGeom>
          <a:noFill/>
          <a:ln/>
        </p:spPr>
        <p:txBody>
          <a:bodyPr wrap="square" lIns="0" tIns="0" rIns="0" bIns="0" rtlCol="0" anchor="t"/>
          <a:lstStyle/>
          <a:p>
            <a:pPr indent="0" marL="0">
              <a:buNone/>
            </a:pPr>
            <a:r>
              <a:rPr lang="en-US" sz="1500" b="1" dirty="0">
                <a:solidFill>
                  <a:schemeClr val="tx1"/>
                </a:solidFill>
              </a:rPr>
              <a:t>Where it sits on the map</a:t>
            </a:r>
            <a:endParaRPr lang="en-US" sz="1500" dirty="0"/>
          </a:p>
        </p:txBody>
      </p:sp>
      <p:sp>
        <p:nvSpPr>
          <p:cNvPr id="53" name="cardbody-333"/>
          <p:cNvSpPr txBox="1"/>
          <p:nvPr/>
        </p:nvSpPr>
        <p:spPr>
          <a:xfrm>
            <a:off x="8257032" y="5093208"/>
            <a:ext cx="3246120" cy="896112"/>
          </a:xfrm>
          <a:prstGeom prst="rect">
            <a:avLst/>
          </a:prstGeom>
          <a:noFill/>
          <a:ln/>
        </p:spPr>
        <p:txBody>
          <a:bodyPr wrap="square" lIns="0" tIns="0" rIns="0" bIns="0" rtlCol="0" anchor="t"/>
          <a:lstStyle/>
          <a:p>
            <a:pPr indent="0" marL="0">
              <a:buNone/>
            </a:pPr>
            <a:r>
              <a:rPr lang="en-US" sz="1200" dirty="0">
                <a:solidFill>
                  <a:schemeClr val="tx2"/>
                </a:solidFill>
              </a:rPr>
              <a:t>The terrain rings the selected document's passages; new hills rise when a file is added</a:t>
            </a:r>
            <a:endParaRPr lang="en-US" sz="12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ARCHITECTURE</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How the pieces fit together</a:t>
            </a:r>
            <a:endParaRPr lang="en-US" sz="3200" dirty="0"/>
          </a:p>
        </p:txBody>
      </p:sp>
      <p:sp>
        <p:nvSpPr>
          <p:cNvPr id="5" name="Shape 2"/>
          <p:cNvSpPr/>
          <p:nvPr/>
        </p:nvSpPr>
        <p:spPr>
          <a:xfrm>
            <a:off x="502920" y="1371600"/>
            <a:ext cx="11185855" cy="777240"/>
          </a:xfrm>
          <a:prstGeom prst="roundRect">
            <a:avLst>
              <a:gd name="adj" fmla="val 11765"/>
            </a:avLst>
          </a:prstGeom>
          <a:solidFill>
            <a:schemeClr val="bg2"/>
          </a:solidFill>
          <a:ln w="15875">
            <a:solidFill>
              <a:schemeClr val="accent3"/>
            </a:solidFill>
            <a:prstDash val="solid"/>
          </a:ln>
        </p:spPr>
      </p:sp>
      <p:sp>
        <p:nvSpPr>
          <p:cNvPr id="6" name="Text 3"/>
          <p:cNvSpPr txBox="1"/>
          <p:nvPr/>
        </p:nvSpPr>
        <p:spPr>
          <a:xfrm>
            <a:off x="640080" y="1444752"/>
            <a:ext cx="10911535" cy="630936"/>
          </a:xfrm>
          <a:prstGeom prst="rect">
            <a:avLst/>
          </a:prstGeom>
          <a:noFill/>
          <a:ln/>
        </p:spPr>
        <p:txBody>
          <a:bodyPr wrap="square" lIns="0" tIns="0" rIns="0" bIns="0" rtlCol="0" anchor="ctr"/>
          <a:lstStyle/>
          <a:p>
            <a:pPr algn="ctr" indent="0" marL="0">
              <a:buNone/>
            </a:pPr>
            <a:r>
              <a:rPr lang="en-US" sz="1400" b="1" dirty="0">
                <a:solidFill>
                  <a:schemeClr val="tx1"/>
                </a:solidFill>
              </a:rPr>
              <a:t>Browser — Next.js 16 · React 19 · three.js terrain · Zustand store</a:t>
            </a:r>
            <a:endParaRPr lang="en-US" sz="1400" dirty="0"/>
          </a:p>
          <a:p>
            <a:pPr algn="ctr" indent="0" marL="0">
              <a:buNone/>
            </a:pPr>
            <a:r>
              <a:rPr lang="en-US" sz="1100" dirty="0">
                <a:solidFill>
                  <a:schemeClr val="tx2"/>
                </a:solidFill>
              </a:rPr>
              <a:t>Landing · Console · Memory · Retrieval lab · Knowledge</a:t>
            </a:r>
            <a:endParaRPr lang="en-US" sz="1400" dirty="0"/>
          </a:p>
        </p:txBody>
      </p:sp>
      <p:sp>
        <p:nvSpPr>
          <p:cNvPr id="7" name="arrow-334"/>
          <p:cNvSpPr/>
          <p:nvPr/>
        </p:nvSpPr>
        <p:spPr>
          <a:xfrm>
            <a:off x="6095848" y="2176272"/>
            <a:ext cx="914" cy="384048"/>
          </a:xfrm>
          <a:prstGeom prst="line">
            <a:avLst/>
          </a:prstGeom>
          <a:noFill/>
          <a:ln w="19050">
            <a:solidFill>
              <a:schemeClr val="tx2"/>
            </a:solidFill>
            <a:prstDash val="solid"/>
            <a:tailEnd type="triangle"/>
          </a:ln>
        </p:spPr>
      </p:sp>
      <p:sp>
        <p:nvSpPr>
          <p:cNvPr id="8" name="caption-335"/>
          <p:cNvSpPr txBox="1"/>
          <p:nvPr/>
        </p:nvSpPr>
        <p:spPr>
          <a:xfrm>
            <a:off x="6233008" y="2240280"/>
            <a:ext cx="4572000" cy="274320"/>
          </a:xfrm>
          <a:prstGeom prst="rect">
            <a:avLst/>
          </a:prstGeom>
          <a:noFill/>
          <a:ln/>
        </p:spPr>
        <p:txBody>
          <a:bodyPr wrap="square" lIns="0" tIns="0" rIns="0" bIns="0" rtlCol="0" anchor="t"/>
          <a:lstStyle/>
          <a:p>
            <a:pPr algn="l" indent="0" marL="0">
              <a:buNone/>
            </a:pPr>
            <a:r>
              <a:rPr lang="en-US" sz="1100" dirty="0">
                <a:solidFill>
                  <a:schemeClr val="tx2"/>
                </a:solidFill>
              </a:rPr>
              <a:t>REST + Server-Sent Events (chat streams each stage)</a:t>
            </a:r>
            <a:endParaRPr lang="en-US" sz="1100" dirty="0"/>
          </a:p>
        </p:txBody>
      </p:sp>
      <p:sp>
        <p:nvSpPr>
          <p:cNvPr id="9" name="Shape 6"/>
          <p:cNvSpPr/>
          <p:nvPr/>
        </p:nvSpPr>
        <p:spPr>
          <a:xfrm>
            <a:off x="502920" y="2606040"/>
            <a:ext cx="11185855" cy="1828800"/>
          </a:xfrm>
          <a:prstGeom prst="roundRect">
            <a:avLst>
              <a:gd name="adj" fmla="val 5000"/>
            </a:avLst>
          </a:prstGeom>
          <a:solidFill>
            <a:schemeClr val="bg1"/>
          </a:solidFill>
          <a:ln w="15875">
            <a:solidFill>
              <a:schemeClr val="accent1"/>
            </a:solidFill>
            <a:prstDash val="solid"/>
          </a:ln>
        </p:spPr>
      </p:sp>
      <p:sp>
        <p:nvSpPr>
          <p:cNvPr id="10" name="caption-336"/>
          <p:cNvSpPr txBox="1"/>
          <p:nvPr/>
        </p:nvSpPr>
        <p:spPr>
          <a:xfrm>
            <a:off x="685800" y="2697480"/>
            <a:ext cx="7315200" cy="274320"/>
          </a:xfrm>
          <a:prstGeom prst="rect">
            <a:avLst/>
          </a:prstGeom>
          <a:noFill/>
          <a:ln/>
        </p:spPr>
        <p:txBody>
          <a:bodyPr wrap="square" lIns="0" tIns="0" rIns="0" bIns="0" rtlCol="0" anchor="t"/>
          <a:lstStyle/>
          <a:p>
            <a:pPr algn="l" indent="0" marL="0">
              <a:buNone/>
            </a:pPr>
            <a:r>
              <a:rPr lang="en-US" sz="1100" b="1" dirty="0">
                <a:solidFill>
                  <a:schemeClr val="accent1"/>
                </a:solidFill>
              </a:rPr>
              <a:t>FASTAPI BACKEND · engine.py runs the five steps</a:t>
            </a:r>
            <a:endParaRPr lang="en-US" sz="1100" dirty="0"/>
          </a:p>
        </p:txBody>
      </p:sp>
      <p:sp>
        <p:nvSpPr>
          <p:cNvPr id="11" name="Shape 8"/>
          <p:cNvSpPr/>
          <p:nvPr/>
        </p:nvSpPr>
        <p:spPr>
          <a:xfrm>
            <a:off x="685800" y="3063240"/>
            <a:ext cx="2057400" cy="1143000"/>
          </a:xfrm>
          <a:prstGeom prst="roundRect">
            <a:avLst>
              <a:gd name="adj" fmla="val 8000"/>
            </a:avLst>
          </a:prstGeom>
          <a:solidFill>
            <a:schemeClr val="bg2"/>
          </a:solidFill>
          <a:ln w="15875">
            <a:solidFill>
              <a:schemeClr val="accent6"/>
            </a:solidFill>
            <a:prstDash val="solid"/>
          </a:ln>
        </p:spPr>
      </p:sp>
      <p:sp>
        <p:nvSpPr>
          <p:cNvPr id="12" name="Text 9"/>
          <p:cNvSpPr txBox="1"/>
          <p:nvPr/>
        </p:nvSpPr>
        <p:spPr>
          <a:xfrm>
            <a:off x="822960" y="3136392"/>
            <a:ext cx="1783080" cy="996696"/>
          </a:xfrm>
          <a:prstGeom prst="rect">
            <a:avLst/>
          </a:prstGeom>
          <a:noFill/>
          <a:ln/>
        </p:spPr>
        <p:txBody>
          <a:bodyPr wrap="square" lIns="0" tIns="0" rIns="0" bIns="0" rtlCol="0" anchor="ctr"/>
          <a:lstStyle/>
          <a:p>
            <a:pPr algn="ctr" indent="0" marL="0">
              <a:buNone/>
            </a:pPr>
            <a:r>
              <a:rPr lang="en-US" sz="1400" b="1" dirty="0">
                <a:solidFill>
                  <a:schemeClr val="tx1"/>
                </a:solidFill>
              </a:rPr>
              <a:t>Classifier</a:t>
            </a:r>
            <a:endParaRPr lang="en-US" sz="1400" dirty="0"/>
          </a:p>
          <a:p>
            <a:pPr algn="ctr" indent="0" marL="0">
              <a:buNone/>
            </a:pPr>
            <a:r>
              <a:rPr lang="en-US" sz="1100" dirty="0">
                <a:solidFill>
                  <a:schemeClr val="tx2"/>
                </a:solidFill>
              </a:rPr>
              <a:t>rules · ML · LLM</a:t>
            </a:r>
            <a:endParaRPr lang="en-US" sz="1400" dirty="0"/>
          </a:p>
        </p:txBody>
      </p:sp>
      <p:sp>
        <p:nvSpPr>
          <p:cNvPr id="13" name="Shape 10"/>
          <p:cNvSpPr/>
          <p:nvPr/>
        </p:nvSpPr>
        <p:spPr>
          <a:xfrm>
            <a:off x="2898648" y="3063240"/>
            <a:ext cx="2057400" cy="1143000"/>
          </a:xfrm>
          <a:prstGeom prst="roundRect">
            <a:avLst>
              <a:gd name="adj" fmla="val 8000"/>
            </a:avLst>
          </a:prstGeom>
          <a:solidFill>
            <a:schemeClr val="bg2"/>
          </a:solidFill>
          <a:ln w="15875">
            <a:solidFill>
              <a:schemeClr val="accent6"/>
            </a:solidFill>
            <a:prstDash val="solid"/>
          </a:ln>
        </p:spPr>
      </p:sp>
      <p:sp>
        <p:nvSpPr>
          <p:cNvPr id="14" name="Text 11"/>
          <p:cNvSpPr txBox="1"/>
          <p:nvPr/>
        </p:nvSpPr>
        <p:spPr>
          <a:xfrm>
            <a:off x="3035808" y="3136392"/>
            <a:ext cx="1783080" cy="996696"/>
          </a:xfrm>
          <a:prstGeom prst="rect">
            <a:avLst/>
          </a:prstGeom>
          <a:noFill/>
          <a:ln/>
        </p:spPr>
        <p:txBody>
          <a:bodyPr wrap="square" lIns="0" tIns="0" rIns="0" bIns="0" rtlCol="0" anchor="ctr"/>
          <a:lstStyle/>
          <a:p>
            <a:pPr algn="ctr" indent="0" marL="0">
              <a:buNone/>
            </a:pPr>
            <a:r>
              <a:rPr lang="en-US" sz="1400" b="1" dirty="0">
                <a:solidFill>
                  <a:schemeClr val="tx1"/>
                </a:solidFill>
              </a:rPr>
              <a:t>Memory manager</a:t>
            </a:r>
            <a:endParaRPr lang="en-US" sz="1400" dirty="0"/>
          </a:p>
          <a:p>
            <a:pPr algn="ctr" indent="0" marL="0">
              <a:buNone/>
            </a:pPr>
            <a:r>
              <a:rPr lang="en-US" sz="1100" dirty="0">
                <a:solidFill>
                  <a:schemeClr val="tx2"/>
                </a:solidFill>
              </a:rPr>
              <a:t>add · replace · expire</a:t>
            </a:r>
            <a:endParaRPr lang="en-US" sz="1400" dirty="0"/>
          </a:p>
        </p:txBody>
      </p:sp>
      <p:sp>
        <p:nvSpPr>
          <p:cNvPr id="15" name="Shape 12"/>
          <p:cNvSpPr/>
          <p:nvPr/>
        </p:nvSpPr>
        <p:spPr>
          <a:xfrm>
            <a:off x="5111496" y="3063240"/>
            <a:ext cx="2057400" cy="1143000"/>
          </a:xfrm>
          <a:prstGeom prst="roundRect">
            <a:avLst>
              <a:gd name="adj" fmla="val 8000"/>
            </a:avLst>
          </a:prstGeom>
          <a:solidFill>
            <a:schemeClr val="bg2"/>
          </a:solidFill>
          <a:ln w="15875">
            <a:solidFill>
              <a:schemeClr val="accent6"/>
            </a:solidFill>
            <a:prstDash val="solid"/>
          </a:ln>
        </p:spPr>
      </p:sp>
      <p:sp>
        <p:nvSpPr>
          <p:cNvPr id="16" name="Text 13"/>
          <p:cNvSpPr txBox="1"/>
          <p:nvPr/>
        </p:nvSpPr>
        <p:spPr>
          <a:xfrm>
            <a:off x="5248656" y="3136392"/>
            <a:ext cx="1783080" cy="996696"/>
          </a:xfrm>
          <a:prstGeom prst="rect">
            <a:avLst/>
          </a:prstGeom>
          <a:noFill/>
          <a:ln/>
        </p:spPr>
        <p:txBody>
          <a:bodyPr wrap="square" lIns="0" tIns="0" rIns="0" bIns="0" rtlCol="0" anchor="ctr"/>
          <a:lstStyle/>
          <a:p>
            <a:pPr algn="ctr" indent="0" marL="0">
              <a:buNone/>
            </a:pPr>
            <a:r>
              <a:rPr lang="en-US" sz="1400" b="1" dirty="0">
                <a:solidFill>
                  <a:schemeClr val="tx1"/>
                </a:solidFill>
              </a:rPr>
              <a:t>Retriever</a:t>
            </a:r>
            <a:endParaRPr lang="en-US" sz="1400" dirty="0"/>
          </a:p>
          <a:p>
            <a:pPr algn="ctr" indent="0" marL="0">
              <a:buNone/>
            </a:pPr>
            <a:r>
              <a:rPr lang="en-US" sz="1100" dirty="0">
                <a:solidFill>
                  <a:schemeClr val="tx2"/>
                </a:solidFill>
              </a:rPr>
              <a:t>search 12 → top 5</a:t>
            </a:r>
            <a:endParaRPr lang="en-US" sz="1400" dirty="0"/>
          </a:p>
        </p:txBody>
      </p:sp>
      <p:sp>
        <p:nvSpPr>
          <p:cNvPr id="17" name="Shape 14"/>
          <p:cNvSpPr/>
          <p:nvPr/>
        </p:nvSpPr>
        <p:spPr>
          <a:xfrm>
            <a:off x="7324344" y="3063240"/>
            <a:ext cx="2057400" cy="1143000"/>
          </a:xfrm>
          <a:prstGeom prst="roundRect">
            <a:avLst>
              <a:gd name="adj" fmla="val 8000"/>
            </a:avLst>
          </a:prstGeom>
          <a:solidFill>
            <a:schemeClr val="bg2"/>
          </a:solidFill>
          <a:ln w="15875">
            <a:solidFill>
              <a:schemeClr val="accent6"/>
            </a:solidFill>
            <a:prstDash val="solid"/>
          </a:ln>
        </p:spPr>
      </p:sp>
      <p:sp>
        <p:nvSpPr>
          <p:cNvPr id="18" name="Text 15"/>
          <p:cNvSpPr txBox="1"/>
          <p:nvPr/>
        </p:nvSpPr>
        <p:spPr>
          <a:xfrm>
            <a:off x="7461504" y="3136392"/>
            <a:ext cx="1783080" cy="996696"/>
          </a:xfrm>
          <a:prstGeom prst="rect">
            <a:avLst/>
          </a:prstGeom>
          <a:noFill/>
          <a:ln/>
        </p:spPr>
        <p:txBody>
          <a:bodyPr wrap="square" lIns="0" tIns="0" rIns="0" bIns="0" rtlCol="0" anchor="ctr"/>
          <a:lstStyle/>
          <a:p>
            <a:pPr algn="ctr" indent="0" marL="0">
              <a:buNone/>
            </a:pPr>
            <a:r>
              <a:rPr lang="en-US" sz="1400" b="1" dirty="0">
                <a:solidFill>
                  <a:schemeClr val="tx1"/>
                </a:solidFill>
              </a:rPr>
              <a:t>Generator</a:t>
            </a:r>
            <a:endParaRPr lang="en-US" sz="1400" dirty="0"/>
          </a:p>
          <a:p>
            <a:pPr algn="ctr" indent="0" marL="0">
              <a:buNone/>
            </a:pPr>
            <a:r>
              <a:rPr lang="en-US" sz="1100" dirty="0">
                <a:solidFill>
                  <a:schemeClr val="tx2"/>
                </a:solidFill>
              </a:rPr>
              <a:t>LLM or template</a:t>
            </a:r>
            <a:endParaRPr lang="en-US" sz="1400" dirty="0"/>
          </a:p>
        </p:txBody>
      </p:sp>
      <p:sp>
        <p:nvSpPr>
          <p:cNvPr id="19" name="Shape 16"/>
          <p:cNvSpPr/>
          <p:nvPr/>
        </p:nvSpPr>
        <p:spPr>
          <a:xfrm>
            <a:off x="9537192" y="3063240"/>
            <a:ext cx="2057400" cy="1143000"/>
          </a:xfrm>
          <a:prstGeom prst="roundRect">
            <a:avLst>
              <a:gd name="adj" fmla="val 8000"/>
            </a:avLst>
          </a:prstGeom>
          <a:solidFill>
            <a:schemeClr val="bg2"/>
          </a:solidFill>
          <a:ln w="15875">
            <a:solidFill>
              <a:schemeClr val="accent6"/>
            </a:solidFill>
            <a:prstDash val="solid"/>
          </a:ln>
        </p:spPr>
      </p:sp>
      <p:sp>
        <p:nvSpPr>
          <p:cNvPr id="20" name="Text 17"/>
          <p:cNvSpPr txBox="1"/>
          <p:nvPr/>
        </p:nvSpPr>
        <p:spPr>
          <a:xfrm>
            <a:off x="9674352" y="3136392"/>
            <a:ext cx="1783080" cy="996696"/>
          </a:xfrm>
          <a:prstGeom prst="rect">
            <a:avLst/>
          </a:prstGeom>
          <a:noFill/>
          <a:ln/>
        </p:spPr>
        <p:txBody>
          <a:bodyPr wrap="square" lIns="0" tIns="0" rIns="0" bIns="0" rtlCol="0" anchor="ctr"/>
          <a:lstStyle/>
          <a:p>
            <a:pPr algn="ctr" indent="0" marL="0">
              <a:buNone/>
            </a:pPr>
            <a:r>
              <a:rPr lang="en-US" sz="1400" b="1" dirty="0">
                <a:solidFill>
                  <a:schemeClr val="tx1"/>
                </a:solidFill>
              </a:rPr>
              <a:t>Learning</a:t>
            </a:r>
            <a:endParaRPr lang="en-US" sz="1400" dirty="0"/>
          </a:p>
          <a:p>
            <a:pPr algn="ctr" indent="0" marL="0">
              <a:buNone/>
            </a:pPr>
            <a:r>
              <a:rPr lang="en-US" sz="1100" dirty="0">
                <a:solidFill>
                  <a:schemeClr val="tx2"/>
                </a:solidFill>
              </a:rPr>
              <a:t>weights + reliability</a:t>
            </a:r>
            <a:endParaRPr lang="en-US" sz="1400" dirty="0"/>
          </a:p>
        </p:txBody>
      </p:sp>
      <p:sp>
        <p:nvSpPr>
          <p:cNvPr id="21" name="arrow-337"/>
          <p:cNvSpPr/>
          <p:nvPr/>
        </p:nvSpPr>
        <p:spPr>
          <a:xfrm>
            <a:off x="1828800" y="4462272"/>
            <a:ext cx="914" cy="393192"/>
          </a:xfrm>
          <a:prstGeom prst="line">
            <a:avLst/>
          </a:prstGeom>
          <a:noFill/>
          <a:ln w="19050">
            <a:solidFill>
              <a:schemeClr val="tx2"/>
            </a:solidFill>
            <a:prstDash val="solid"/>
            <a:tailEnd type="triangle"/>
          </a:ln>
        </p:spPr>
      </p:sp>
      <p:sp>
        <p:nvSpPr>
          <p:cNvPr id="22" name="arrow-338"/>
          <p:cNvSpPr/>
          <p:nvPr/>
        </p:nvSpPr>
        <p:spPr>
          <a:xfrm>
            <a:off x="4672584" y="4462272"/>
            <a:ext cx="914" cy="393192"/>
          </a:xfrm>
          <a:prstGeom prst="line">
            <a:avLst/>
          </a:prstGeom>
          <a:noFill/>
          <a:ln w="19050">
            <a:solidFill>
              <a:schemeClr val="tx2"/>
            </a:solidFill>
            <a:prstDash val="solid"/>
            <a:tailEnd type="triangle"/>
          </a:ln>
        </p:spPr>
      </p:sp>
      <p:sp>
        <p:nvSpPr>
          <p:cNvPr id="23" name="arrow-339"/>
          <p:cNvSpPr/>
          <p:nvPr/>
        </p:nvSpPr>
        <p:spPr>
          <a:xfrm>
            <a:off x="7516368" y="4462272"/>
            <a:ext cx="914" cy="393192"/>
          </a:xfrm>
          <a:prstGeom prst="line">
            <a:avLst/>
          </a:prstGeom>
          <a:noFill/>
          <a:ln w="19050">
            <a:solidFill>
              <a:schemeClr val="tx2"/>
            </a:solidFill>
            <a:prstDash val="solid"/>
            <a:tailEnd type="triangle"/>
          </a:ln>
        </p:spPr>
      </p:sp>
      <p:sp>
        <p:nvSpPr>
          <p:cNvPr id="24" name="arrow-340"/>
          <p:cNvSpPr/>
          <p:nvPr/>
        </p:nvSpPr>
        <p:spPr>
          <a:xfrm>
            <a:off x="10360152" y="4462272"/>
            <a:ext cx="914" cy="393192"/>
          </a:xfrm>
          <a:prstGeom prst="line">
            <a:avLst/>
          </a:prstGeom>
          <a:noFill/>
          <a:ln w="19050">
            <a:solidFill>
              <a:schemeClr val="tx2"/>
            </a:solidFill>
            <a:prstDash val="solid"/>
            <a:tailEnd type="triangle"/>
          </a:ln>
        </p:spPr>
      </p:sp>
      <p:sp>
        <p:nvSpPr>
          <p:cNvPr id="25" name="Shape 22"/>
          <p:cNvSpPr/>
          <p:nvPr/>
        </p:nvSpPr>
        <p:spPr>
          <a:xfrm>
            <a:off x="502920" y="4892040"/>
            <a:ext cx="2651760" cy="960120"/>
          </a:xfrm>
          <a:prstGeom prst="roundRect">
            <a:avLst>
              <a:gd name="adj" fmla="val 9524"/>
            </a:avLst>
          </a:prstGeom>
          <a:solidFill>
            <a:schemeClr val="bg2"/>
          </a:solidFill>
          <a:ln w="15875">
            <a:solidFill>
              <a:schemeClr val="accent2"/>
            </a:solidFill>
            <a:prstDash val="solid"/>
          </a:ln>
        </p:spPr>
      </p:sp>
      <p:sp>
        <p:nvSpPr>
          <p:cNvPr id="26" name="Text 23"/>
          <p:cNvSpPr txBox="1"/>
          <p:nvPr/>
        </p:nvSpPr>
        <p:spPr>
          <a:xfrm>
            <a:off x="640080" y="4965192"/>
            <a:ext cx="2377440" cy="813816"/>
          </a:xfrm>
          <a:prstGeom prst="rect">
            <a:avLst/>
          </a:prstGeom>
          <a:noFill/>
          <a:ln/>
        </p:spPr>
        <p:txBody>
          <a:bodyPr wrap="square" lIns="0" tIns="0" rIns="0" bIns="0" rtlCol="0" anchor="ctr"/>
          <a:lstStyle/>
          <a:p>
            <a:pPr algn="ctr" indent="0" marL="0">
              <a:buNone/>
            </a:pPr>
            <a:r>
              <a:rPr lang="en-US" sz="1400" b="1" dirty="0">
                <a:solidFill>
                  <a:schemeClr val="tx1"/>
                </a:solidFill>
              </a:rPr>
              <a:t>SQLite</a:t>
            </a:r>
            <a:endParaRPr lang="en-US" sz="1400" dirty="0"/>
          </a:p>
          <a:p>
            <a:pPr algn="ctr" indent="0" marL="0">
              <a:buNone/>
            </a:pPr>
            <a:r>
              <a:rPr lang="en-US" sz="1100" dirty="0">
                <a:solidFill>
                  <a:schemeClr val="tx2"/>
                </a:solidFill>
              </a:rPr>
              <a:t>memories · turns · feedback</a:t>
            </a:r>
            <a:endParaRPr lang="en-US" sz="1400" dirty="0"/>
          </a:p>
        </p:txBody>
      </p:sp>
      <p:sp>
        <p:nvSpPr>
          <p:cNvPr id="27" name="Shape 24"/>
          <p:cNvSpPr/>
          <p:nvPr/>
        </p:nvSpPr>
        <p:spPr>
          <a:xfrm>
            <a:off x="3346704" y="4892040"/>
            <a:ext cx="2651760" cy="960120"/>
          </a:xfrm>
          <a:prstGeom prst="roundRect">
            <a:avLst>
              <a:gd name="adj" fmla="val 9524"/>
            </a:avLst>
          </a:prstGeom>
          <a:solidFill>
            <a:schemeClr val="bg2"/>
          </a:solidFill>
          <a:ln w="15875">
            <a:solidFill>
              <a:schemeClr val="accent2"/>
            </a:solidFill>
            <a:prstDash val="solid"/>
          </a:ln>
        </p:spPr>
      </p:sp>
      <p:sp>
        <p:nvSpPr>
          <p:cNvPr id="28" name="Text 25"/>
          <p:cNvSpPr txBox="1"/>
          <p:nvPr/>
        </p:nvSpPr>
        <p:spPr>
          <a:xfrm>
            <a:off x="3483864" y="4965192"/>
            <a:ext cx="2377440" cy="813816"/>
          </a:xfrm>
          <a:prstGeom prst="rect">
            <a:avLst/>
          </a:prstGeom>
          <a:noFill/>
          <a:ln/>
        </p:spPr>
        <p:txBody>
          <a:bodyPr wrap="square" lIns="0" tIns="0" rIns="0" bIns="0" rtlCol="0" anchor="ctr"/>
          <a:lstStyle/>
          <a:p>
            <a:pPr algn="ctr" indent="0" marL="0">
              <a:buNone/>
            </a:pPr>
            <a:r>
              <a:rPr lang="en-US" sz="1400" b="1" dirty="0">
                <a:solidFill>
                  <a:schemeClr val="tx1"/>
                </a:solidFill>
              </a:rPr>
              <a:t>Chroma</a:t>
            </a:r>
            <a:endParaRPr lang="en-US" sz="1400" dirty="0"/>
          </a:p>
          <a:p>
            <a:pPr algn="ctr" indent="0" marL="0">
              <a:buNone/>
            </a:pPr>
            <a:r>
              <a:rPr lang="en-US" sz="1100" dirty="0">
                <a:solidFill>
                  <a:schemeClr val="tx2"/>
                </a:solidFill>
              </a:rPr>
              <a:t>vector store (cosine)</a:t>
            </a:r>
            <a:endParaRPr lang="en-US" sz="1400" dirty="0"/>
          </a:p>
        </p:txBody>
      </p:sp>
      <p:sp>
        <p:nvSpPr>
          <p:cNvPr id="29" name="Shape 26"/>
          <p:cNvSpPr/>
          <p:nvPr/>
        </p:nvSpPr>
        <p:spPr>
          <a:xfrm>
            <a:off x="6190488" y="4892040"/>
            <a:ext cx="2651760" cy="960120"/>
          </a:xfrm>
          <a:prstGeom prst="roundRect">
            <a:avLst>
              <a:gd name="adj" fmla="val 9524"/>
            </a:avLst>
          </a:prstGeom>
          <a:solidFill>
            <a:schemeClr val="bg2"/>
          </a:solidFill>
          <a:ln w="15875">
            <a:solidFill>
              <a:schemeClr val="accent4"/>
            </a:solidFill>
            <a:prstDash val="solid"/>
          </a:ln>
        </p:spPr>
      </p:sp>
      <p:sp>
        <p:nvSpPr>
          <p:cNvPr id="30" name="Text 27"/>
          <p:cNvSpPr txBox="1"/>
          <p:nvPr/>
        </p:nvSpPr>
        <p:spPr>
          <a:xfrm>
            <a:off x="6327648" y="4965192"/>
            <a:ext cx="2377440" cy="813816"/>
          </a:xfrm>
          <a:prstGeom prst="rect">
            <a:avLst/>
          </a:prstGeom>
          <a:noFill/>
          <a:ln/>
        </p:spPr>
        <p:txBody>
          <a:bodyPr wrap="square" lIns="0" tIns="0" rIns="0" bIns="0" rtlCol="0" anchor="ctr"/>
          <a:lstStyle/>
          <a:p>
            <a:pPr algn="ctr" indent="0" marL="0">
              <a:buNone/>
            </a:pPr>
            <a:r>
              <a:rPr lang="en-US" sz="1400" b="1" dirty="0">
                <a:solidFill>
                  <a:schemeClr val="tx1"/>
                </a:solidFill>
              </a:rPr>
              <a:t>MiniLM embeddings</a:t>
            </a:r>
            <a:endParaRPr lang="en-US" sz="1400" dirty="0"/>
          </a:p>
          <a:p>
            <a:pPr algn="ctr" indent="0" marL="0">
              <a:buNone/>
            </a:pPr>
            <a:r>
              <a:rPr lang="en-US" sz="1100" dirty="0">
                <a:solidFill>
                  <a:schemeClr val="tx2"/>
                </a:solidFill>
              </a:rPr>
              <a:t>all-MiniLM-L6-v2 · 384-d</a:t>
            </a:r>
            <a:endParaRPr lang="en-US" sz="1400" dirty="0"/>
          </a:p>
        </p:txBody>
      </p:sp>
      <p:sp>
        <p:nvSpPr>
          <p:cNvPr id="31" name="Shape 28"/>
          <p:cNvSpPr/>
          <p:nvPr/>
        </p:nvSpPr>
        <p:spPr>
          <a:xfrm>
            <a:off x="9034272" y="4892040"/>
            <a:ext cx="2651760" cy="960120"/>
          </a:xfrm>
          <a:prstGeom prst="roundRect">
            <a:avLst>
              <a:gd name="adj" fmla="val 9524"/>
            </a:avLst>
          </a:prstGeom>
          <a:solidFill>
            <a:schemeClr val="bg2"/>
          </a:solidFill>
          <a:ln w="15875">
            <a:solidFill>
              <a:schemeClr val="accent1"/>
            </a:solidFill>
            <a:prstDash val="solid"/>
          </a:ln>
        </p:spPr>
      </p:sp>
      <p:sp>
        <p:nvSpPr>
          <p:cNvPr id="32" name="Text 29"/>
          <p:cNvSpPr txBox="1"/>
          <p:nvPr/>
        </p:nvSpPr>
        <p:spPr>
          <a:xfrm>
            <a:off x="9171432" y="4965192"/>
            <a:ext cx="2377440" cy="813816"/>
          </a:xfrm>
          <a:prstGeom prst="rect">
            <a:avLst/>
          </a:prstGeom>
          <a:noFill/>
          <a:ln/>
        </p:spPr>
        <p:txBody>
          <a:bodyPr wrap="square" lIns="0" tIns="0" rIns="0" bIns="0" rtlCol="0" anchor="ctr"/>
          <a:lstStyle/>
          <a:p>
            <a:pPr algn="ctr" indent="0" marL="0">
              <a:buNone/>
            </a:pPr>
            <a:r>
              <a:rPr lang="en-US" sz="1400" b="1" dirty="0">
                <a:solidFill>
                  <a:schemeClr val="tx1"/>
                </a:solidFill>
              </a:rPr>
              <a:t>LLM (pluggable)</a:t>
            </a:r>
            <a:endParaRPr lang="en-US" sz="1400" dirty="0"/>
          </a:p>
          <a:p>
            <a:pPr algn="ctr" indent="0" marL="0">
              <a:buNone/>
            </a:pPr>
            <a:r>
              <a:rPr lang="en-US" sz="1100" dirty="0">
                <a:solidFill>
                  <a:schemeClr val="tx2"/>
                </a:solidFill>
              </a:rPr>
              <a:t>Claude · Gemini · Ollama · none</a:t>
            </a:r>
            <a:endParaRPr lang="en-US" sz="1400" dirty="0"/>
          </a:p>
        </p:txBody>
      </p:sp>
      <p:sp>
        <p:nvSpPr>
          <p:cNvPr id="33" name="caption-341"/>
          <p:cNvSpPr txBox="1"/>
          <p:nvPr/>
        </p:nvSpPr>
        <p:spPr>
          <a:xfrm>
            <a:off x="502920" y="5989320"/>
            <a:ext cx="11185855" cy="274320"/>
          </a:xfrm>
          <a:prstGeom prst="rect">
            <a:avLst/>
          </a:prstGeom>
          <a:noFill/>
          <a:ln/>
        </p:spPr>
        <p:txBody>
          <a:bodyPr wrap="square" lIns="0" tIns="0" rIns="0" bIns="0" rtlCol="0" anchor="t"/>
          <a:lstStyle/>
          <a:p>
            <a:pPr algn="l" indent="0" marL="0">
              <a:buNone/>
            </a:pPr>
            <a:r>
              <a:rPr lang="en-US" sz="1200" i="1" dirty="0">
                <a:solidFill>
                  <a:schemeClr val="tx2"/>
                </a:solidFill>
              </a:rPr>
              <a:t>Storage and models — the LLM is pluggable (Claude · Gemini · Ollama · none) and is never trained.</a:t>
            </a:r>
            <a:endParaRPr lang="en-US" sz="12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BACKEND API</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15 endpoints, documented automatically</a:t>
            </a:r>
            <a:endParaRPr lang="en-US" sz="3200" dirty="0"/>
          </a:p>
        </p:txBody>
      </p:sp>
      <p:sp>
        <p:nvSpPr>
          <p:cNvPr id="5" name="frame-342"/>
          <p:cNvSpPr/>
          <p:nvPr/>
        </p:nvSpPr>
        <p:spPr>
          <a:xfrm>
            <a:off x="457200" y="1325880"/>
            <a:ext cx="6709459" cy="4937760"/>
          </a:xfrm>
          <a:prstGeom prst="roundRect">
            <a:avLst>
              <a:gd name="adj" fmla="val 1296"/>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343" descr="FastAPI Swagger docs listing 15 endpoints">    </p:cNvPr>
          <p:cNvPicPr>
            <a:picLocks noChangeAspect="1"/>
          </p:cNvPicPr>
          <p:nvPr/>
        </p:nvPicPr>
        <p:blipFill>
          <a:blip r:embed="rId1"/>
          <a:stretch>
            <a:fillRect/>
          </a:stretch>
        </p:blipFill>
        <p:spPr>
          <a:xfrm>
            <a:off x="502920" y="1371600"/>
            <a:ext cx="6618019" cy="4846320"/>
          </a:xfrm>
          <a:prstGeom prst="rect">
            <a:avLst/>
          </a:prstGeom>
        </p:spPr>
      </p:pic>
      <p:sp>
        <p:nvSpPr>
          <p:cNvPr id="7" name="marker-344"/>
          <p:cNvSpPr/>
          <p:nvPr/>
        </p:nvSpPr>
        <p:spPr>
          <a:xfrm>
            <a:off x="2729959" y="1385773"/>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caption-345"/>
          <p:cNvSpPr txBox="1"/>
          <p:nvPr/>
        </p:nvSpPr>
        <p:spPr>
          <a:xfrm>
            <a:off x="7761019" y="1371600"/>
            <a:ext cx="3927756" cy="274320"/>
          </a:xfrm>
          <a:prstGeom prst="rect">
            <a:avLst/>
          </a:prstGeom>
          <a:noFill/>
          <a:ln/>
        </p:spPr>
        <p:txBody>
          <a:bodyPr wrap="square" lIns="0" tIns="0" rIns="0" bIns="0" rtlCol="0" anchor="t"/>
          <a:lstStyle/>
          <a:p>
            <a:pPr algn="l" indent="0" marL="0">
              <a:buNone/>
            </a:pPr>
            <a:r>
              <a:rPr lang="en-US" sz="1100" b="1" dirty="0">
                <a:solidFill>
                  <a:schemeClr val="accent1"/>
                </a:solidFill>
              </a:rPr>
              <a:t>POST /api/chat STREAMS, IN ORDER</a:t>
            </a:r>
            <a:endParaRPr lang="en-US" sz="1100" dirty="0"/>
          </a:p>
        </p:txBody>
      </p:sp>
      <p:sp>
        <p:nvSpPr>
          <p:cNvPr id="9" name="marker-346"/>
          <p:cNvSpPr/>
          <p:nvPr/>
        </p:nvSpPr>
        <p:spPr>
          <a:xfrm>
            <a:off x="7376971" y="1737360"/>
            <a:ext cx="310896" cy="31089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pill-347"/>
          <p:cNvSpPr/>
          <p:nvPr/>
        </p:nvSpPr>
        <p:spPr>
          <a:xfrm>
            <a:off x="7761019" y="1755648"/>
            <a:ext cx="3291840" cy="274320"/>
          </a:xfrm>
          <a:prstGeom prst="roundRect">
            <a:avLst>
              <a:gd name="adj" fmla="val 46667"/>
            </a:avLst>
          </a:prstGeom>
          <a:solidFill>
            <a:schemeClr val="bg1"/>
          </a:solidFill>
          <a:ln w="12700">
            <a:solidFill>
              <a:schemeClr val="accent6"/>
            </a:solidFill>
          </a:ln>
        </p:spPr>
        <p:txBody>
          <a:bodyPr wrap="square" lIns="0" tIns="0" rIns="0" bIns="0" rtlCol="0" anchor="ctr"/>
          <a:lstStyle/>
          <a:p>
            <a:pPr algn="ctr" indent="0" marL="0">
              <a:buNone/>
            </a:pPr>
            <a:r>
              <a:rPr lang="en-US" sz="1100" dirty="0">
                <a:solidFill>
                  <a:schemeClr val="tx1"/>
                </a:solidFill>
              </a:rPr>
              <a:t>user</a:t>
            </a:r>
            <a:endParaRPr lang="en-US" sz="1100" dirty="0"/>
          </a:p>
        </p:txBody>
      </p:sp>
      <p:sp>
        <p:nvSpPr>
          <p:cNvPr id="11" name="arrow-348"/>
          <p:cNvSpPr/>
          <p:nvPr/>
        </p:nvSpPr>
        <p:spPr>
          <a:xfrm>
            <a:off x="7989619" y="2039112"/>
            <a:ext cx="914" cy="146304"/>
          </a:xfrm>
          <a:prstGeom prst="line">
            <a:avLst/>
          </a:prstGeom>
          <a:noFill/>
          <a:ln w="19050">
            <a:solidFill>
              <a:schemeClr val="tx2"/>
            </a:solidFill>
            <a:prstDash val="solid"/>
            <a:tailEnd type="triangle"/>
          </a:ln>
        </p:spPr>
      </p:sp>
      <p:sp>
        <p:nvSpPr>
          <p:cNvPr id="12" name="pill-349"/>
          <p:cNvSpPr/>
          <p:nvPr/>
        </p:nvSpPr>
        <p:spPr>
          <a:xfrm>
            <a:off x="7761019" y="2212848"/>
            <a:ext cx="3291840" cy="274320"/>
          </a:xfrm>
          <a:prstGeom prst="roundRect">
            <a:avLst>
              <a:gd name="adj" fmla="val 46667"/>
            </a:avLst>
          </a:prstGeom>
          <a:solidFill>
            <a:schemeClr val="bg1"/>
          </a:solidFill>
          <a:ln w="12700">
            <a:solidFill>
              <a:schemeClr val="accent6"/>
            </a:solidFill>
          </a:ln>
        </p:spPr>
        <p:txBody>
          <a:bodyPr wrap="square" lIns="0" tIns="0" rIns="0" bIns="0" rtlCol="0" anchor="ctr"/>
          <a:lstStyle/>
          <a:p>
            <a:pPr algn="ctr" indent="0" marL="0">
              <a:buNone/>
            </a:pPr>
            <a:r>
              <a:rPr lang="en-US" sz="1100" dirty="0">
                <a:solidFill>
                  <a:schemeClr val="tx1"/>
                </a:solidFill>
              </a:rPr>
              <a:t>classification</a:t>
            </a:r>
            <a:endParaRPr lang="en-US" sz="1100" dirty="0"/>
          </a:p>
        </p:txBody>
      </p:sp>
      <p:sp>
        <p:nvSpPr>
          <p:cNvPr id="13" name="arrow-350"/>
          <p:cNvSpPr/>
          <p:nvPr/>
        </p:nvSpPr>
        <p:spPr>
          <a:xfrm>
            <a:off x="7989619" y="2496312"/>
            <a:ext cx="914" cy="146304"/>
          </a:xfrm>
          <a:prstGeom prst="line">
            <a:avLst/>
          </a:prstGeom>
          <a:noFill/>
          <a:ln w="19050">
            <a:solidFill>
              <a:schemeClr val="tx2"/>
            </a:solidFill>
            <a:prstDash val="solid"/>
            <a:tailEnd type="triangle"/>
          </a:ln>
        </p:spPr>
      </p:sp>
      <p:sp>
        <p:nvSpPr>
          <p:cNvPr id="14" name="pill-351"/>
          <p:cNvSpPr/>
          <p:nvPr/>
        </p:nvSpPr>
        <p:spPr>
          <a:xfrm>
            <a:off x="7761019" y="2670048"/>
            <a:ext cx="3291840" cy="274320"/>
          </a:xfrm>
          <a:prstGeom prst="roundRect">
            <a:avLst>
              <a:gd name="adj" fmla="val 46667"/>
            </a:avLst>
          </a:prstGeom>
          <a:solidFill>
            <a:schemeClr val="bg1"/>
          </a:solidFill>
          <a:ln w="12700">
            <a:solidFill>
              <a:schemeClr val="accent6"/>
            </a:solidFill>
          </a:ln>
        </p:spPr>
        <p:txBody>
          <a:bodyPr wrap="square" lIns="0" tIns="0" rIns="0" bIns="0" rtlCol="0" anchor="ctr"/>
          <a:lstStyle/>
          <a:p>
            <a:pPr algn="ctr" indent="0" marL="0">
              <a:buNone/>
            </a:pPr>
            <a:r>
              <a:rPr lang="en-US" sz="1100" dirty="0">
                <a:solidFill>
                  <a:schemeClr val="tx1"/>
                </a:solidFill>
              </a:rPr>
              <a:t>memory_ops</a:t>
            </a:r>
            <a:endParaRPr lang="en-US" sz="1100" dirty="0"/>
          </a:p>
        </p:txBody>
      </p:sp>
      <p:sp>
        <p:nvSpPr>
          <p:cNvPr id="15" name="arrow-352"/>
          <p:cNvSpPr/>
          <p:nvPr/>
        </p:nvSpPr>
        <p:spPr>
          <a:xfrm>
            <a:off x="7989619" y="2953512"/>
            <a:ext cx="914" cy="146304"/>
          </a:xfrm>
          <a:prstGeom prst="line">
            <a:avLst/>
          </a:prstGeom>
          <a:noFill/>
          <a:ln w="19050">
            <a:solidFill>
              <a:schemeClr val="tx2"/>
            </a:solidFill>
            <a:prstDash val="solid"/>
            <a:tailEnd type="triangle"/>
          </a:ln>
        </p:spPr>
      </p:sp>
      <p:sp>
        <p:nvSpPr>
          <p:cNvPr id="16" name="pill-353"/>
          <p:cNvSpPr/>
          <p:nvPr/>
        </p:nvSpPr>
        <p:spPr>
          <a:xfrm>
            <a:off x="7761019" y="3127248"/>
            <a:ext cx="3291840" cy="274320"/>
          </a:xfrm>
          <a:prstGeom prst="roundRect">
            <a:avLst>
              <a:gd name="adj" fmla="val 46667"/>
            </a:avLst>
          </a:prstGeom>
          <a:solidFill>
            <a:schemeClr val="bg1"/>
          </a:solidFill>
          <a:ln w="12700">
            <a:solidFill>
              <a:schemeClr val="accent2"/>
            </a:solidFill>
          </a:ln>
        </p:spPr>
        <p:txBody>
          <a:bodyPr wrap="square" lIns="0" tIns="0" rIns="0" bIns="0" rtlCol="0" anchor="ctr"/>
          <a:lstStyle/>
          <a:p>
            <a:pPr algn="ctr" indent="0" marL="0">
              <a:buNone/>
            </a:pPr>
            <a:r>
              <a:rPr lang="en-US" sz="1100" dirty="0">
                <a:solidFill>
                  <a:schemeClr val="tx1"/>
                </a:solidFill>
              </a:rPr>
              <a:t>patch (memories, map positions)</a:t>
            </a:r>
            <a:endParaRPr lang="en-US" sz="1100" dirty="0"/>
          </a:p>
        </p:txBody>
      </p:sp>
      <p:sp>
        <p:nvSpPr>
          <p:cNvPr id="17" name="arrow-354"/>
          <p:cNvSpPr/>
          <p:nvPr/>
        </p:nvSpPr>
        <p:spPr>
          <a:xfrm>
            <a:off x="7989619" y="3410712"/>
            <a:ext cx="914" cy="146304"/>
          </a:xfrm>
          <a:prstGeom prst="line">
            <a:avLst/>
          </a:prstGeom>
          <a:noFill/>
          <a:ln w="19050">
            <a:solidFill>
              <a:schemeClr val="tx2"/>
            </a:solidFill>
            <a:prstDash val="solid"/>
            <a:tailEnd type="triangle"/>
          </a:ln>
        </p:spPr>
      </p:sp>
      <p:sp>
        <p:nvSpPr>
          <p:cNvPr id="18" name="pill-355"/>
          <p:cNvSpPr/>
          <p:nvPr/>
        </p:nvSpPr>
        <p:spPr>
          <a:xfrm>
            <a:off x="7761019" y="3584448"/>
            <a:ext cx="3291840" cy="274320"/>
          </a:xfrm>
          <a:prstGeom prst="roundRect">
            <a:avLst>
              <a:gd name="adj" fmla="val 46667"/>
            </a:avLst>
          </a:prstGeom>
          <a:solidFill>
            <a:schemeClr val="bg1"/>
          </a:solidFill>
          <a:ln w="12700">
            <a:solidFill>
              <a:schemeClr val="accent6"/>
            </a:solidFill>
          </a:ln>
        </p:spPr>
        <p:txBody>
          <a:bodyPr wrap="square" lIns="0" tIns="0" rIns="0" bIns="0" rtlCol="0" anchor="ctr"/>
          <a:lstStyle/>
          <a:p>
            <a:pPr algn="ctr" indent="0" marL="0">
              <a:buNone/>
            </a:pPr>
            <a:r>
              <a:rPr lang="en-US" sz="1100" dirty="0">
                <a:solidFill>
                  <a:schemeClr val="tx1"/>
                </a:solidFill>
              </a:rPr>
              <a:t>retrieval</a:t>
            </a:r>
            <a:endParaRPr lang="en-US" sz="1100" dirty="0"/>
          </a:p>
        </p:txBody>
      </p:sp>
      <p:sp>
        <p:nvSpPr>
          <p:cNvPr id="19" name="arrow-356"/>
          <p:cNvSpPr/>
          <p:nvPr/>
        </p:nvSpPr>
        <p:spPr>
          <a:xfrm>
            <a:off x="7989619" y="3867912"/>
            <a:ext cx="914" cy="146304"/>
          </a:xfrm>
          <a:prstGeom prst="line">
            <a:avLst/>
          </a:prstGeom>
          <a:noFill/>
          <a:ln w="19050">
            <a:solidFill>
              <a:schemeClr val="tx2"/>
            </a:solidFill>
            <a:prstDash val="solid"/>
            <a:tailEnd type="triangle"/>
          </a:ln>
        </p:spPr>
      </p:sp>
      <p:sp>
        <p:nvSpPr>
          <p:cNvPr id="20" name="pill-357"/>
          <p:cNvSpPr/>
          <p:nvPr/>
        </p:nvSpPr>
        <p:spPr>
          <a:xfrm>
            <a:off x="7761019" y="4041648"/>
            <a:ext cx="3291840" cy="274320"/>
          </a:xfrm>
          <a:prstGeom prst="roundRect">
            <a:avLst>
              <a:gd name="adj" fmla="val 46667"/>
            </a:avLst>
          </a:prstGeom>
          <a:solidFill>
            <a:schemeClr val="bg1"/>
          </a:solidFill>
          <a:ln w="12700">
            <a:solidFill>
              <a:schemeClr val="accent6"/>
            </a:solidFill>
          </a:ln>
        </p:spPr>
        <p:txBody>
          <a:bodyPr wrap="square" lIns="0" tIns="0" rIns="0" bIns="0" rtlCol="0" anchor="ctr"/>
          <a:lstStyle/>
          <a:p>
            <a:pPr algn="ctr" indent="0" marL="0">
              <a:buNone/>
            </a:pPr>
            <a:r>
              <a:rPr lang="en-US" sz="1100" dirty="0">
                <a:solidFill>
                  <a:schemeClr val="tx1"/>
                </a:solidFill>
              </a:rPr>
              <a:t>token … token</a:t>
            </a:r>
            <a:endParaRPr lang="en-US" sz="1100" dirty="0"/>
          </a:p>
        </p:txBody>
      </p:sp>
      <p:sp>
        <p:nvSpPr>
          <p:cNvPr id="21" name="arrow-358"/>
          <p:cNvSpPr/>
          <p:nvPr/>
        </p:nvSpPr>
        <p:spPr>
          <a:xfrm>
            <a:off x="7989619" y="4325112"/>
            <a:ext cx="914" cy="146304"/>
          </a:xfrm>
          <a:prstGeom prst="line">
            <a:avLst/>
          </a:prstGeom>
          <a:noFill/>
          <a:ln w="19050">
            <a:solidFill>
              <a:schemeClr val="tx2"/>
            </a:solidFill>
            <a:prstDash val="solid"/>
            <a:tailEnd type="triangle"/>
          </a:ln>
        </p:spPr>
      </p:sp>
      <p:sp>
        <p:nvSpPr>
          <p:cNvPr id="22" name="pill-359"/>
          <p:cNvSpPr/>
          <p:nvPr/>
        </p:nvSpPr>
        <p:spPr>
          <a:xfrm>
            <a:off x="7761019" y="4498848"/>
            <a:ext cx="3291840" cy="274320"/>
          </a:xfrm>
          <a:prstGeom prst="roundRect">
            <a:avLst>
              <a:gd name="adj" fmla="val 46667"/>
            </a:avLst>
          </a:prstGeom>
          <a:solidFill>
            <a:schemeClr val="bg1"/>
          </a:solidFill>
          <a:ln w="12700">
            <a:solidFill>
              <a:schemeClr val="accent6"/>
            </a:solidFill>
          </a:ln>
        </p:spPr>
        <p:txBody>
          <a:bodyPr wrap="square" lIns="0" tIns="0" rIns="0" bIns="0" rtlCol="0" anchor="ctr"/>
          <a:lstStyle/>
          <a:p>
            <a:pPr algn="ctr" indent="0" marL="0">
              <a:buNone/>
            </a:pPr>
            <a:r>
              <a:rPr lang="en-US" sz="1100" dirty="0">
                <a:solidFill>
                  <a:schemeClr val="tx1"/>
                </a:solidFill>
              </a:rPr>
              <a:t>done</a:t>
            </a:r>
            <a:endParaRPr lang="en-US" sz="1100" dirty="0"/>
          </a:p>
        </p:txBody>
      </p:sp>
      <p:sp>
        <p:nvSpPr>
          <p:cNvPr id="23" name="badge-360"/>
          <p:cNvSpPr/>
          <p:nvPr/>
        </p:nvSpPr>
        <p:spPr>
          <a:xfrm>
            <a:off x="7761019" y="5148072"/>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4" name="callout-361"/>
          <p:cNvSpPr txBox="1"/>
          <p:nvPr/>
        </p:nvSpPr>
        <p:spPr>
          <a:xfrm>
            <a:off x="8181643" y="5138928"/>
            <a:ext cx="3507132" cy="66778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Interactive docs at /docs</a:t>
            </a:r>
            <a:endParaRPr lang="en-US" sz="1300" dirty="0"/>
          </a:p>
          <a:p>
            <a:pPr indent="0" marL="0">
              <a:spcAft>
                <a:spcPts val="200"/>
              </a:spcAft>
              <a:buNone/>
            </a:pPr>
            <a:r>
              <a:rPr lang="en-US" sz="1200" dirty="0">
                <a:solidFill>
                  <a:schemeClr val="tx2"/>
                </a:solidFill>
              </a:rPr>
              <a:t>Generated from the route definitions in main.py.</a:t>
            </a:r>
            <a:endParaRPr lang="en-US" sz="1300" dirty="0"/>
          </a:p>
        </p:txBody>
      </p:sp>
      <p:sp>
        <p:nvSpPr>
          <p:cNvPr id="25" name="badge-362"/>
          <p:cNvSpPr/>
          <p:nvPr/>
        </p:nvSpPr>
        <p:spPr>
          <a:xfrm>
            <a:off x="7761019" y="5925586"/>
            <a:ext cx="274320" cy="2743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6" name="callout-363"/>
          <p:cNvSpPr txBox="1"/>
          <p:nvPr/>
        </p:nvSpPr>
        <p:spPr>
          <a:xfrm>
            <a:off x="8181643" y="5916442"/>
            <a:ext cx="3507132" cy="66778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One streamed request per turn</a:t>
            </a:r>
            <a:endParaRPr lang="en-US" sz="1300" dirty="0"/>
          </a:p>
          <a:p>
            <a:pPr indent="0" marL="0">
              <a:spcAft>
                <a:spcPts val="200"/>
              </a:spcAft>
              <a:buNone/>
            </a:pPr>
            <a:r>
              <a:rPr lang="en-US" sz="1200" dirty="0">
                <a:solidFill>
                  <a:schemeClr val="tx2"/>
                </a:solidFill>
              </a:rPr>
              <a:t>The browser renders each event as it arrives.</a:t>
            </a:r>
            <a:endParaRPr lang="en-US" sz="13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CONNECTING A LANGUAGE MODEL</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The LLM writes the answer — it is never trained</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85855" cy="914400"/>
        </p:xfrm>
        <a:graphic>
          <a:graphicData uri="http://schemas.openxmlformats.org/drawingml/2006/table">
            <a:tbl>
              <a:tblPr/>
              <a:tblGrid>
                <a:gridCol w="1737360"/>
                <a:gridCol w="4023360"/>
                <a:gridCol w="5422392"/>
              </a:tblGrid>
              <a:tr h="384048">
                <a:tc>
                  <a:txBody>
                    <a:bodyPr/>
                    <a:lstStyle/>
                    <a:p>
                      <a:pPr indent="0" marL="0">
                        <a:buNone/>
                      </a:pPr>
                      <a:r>
                        <a:rPr lang="en-US" sz="1100" b="1" spc="200" kern="0" dirty="0">
                          <a:solidFill>
                            <a:schemeClr val="accent1"/>
                          </a:solidFill>
                        </a:rPr>
                        <a:t>Provider</a:t>
                      </a:r>
                      <a:endParaRPr lang="en-US" sz="11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b="1" spc="200" kern="0" dirty="0">
                          <a:solidFill>
                            <a:schemeClr val="accent1"/>
                          </a:solidFill>
                        </a:rPr>
                        <a:t>Set in backend/.env</a:t>
                      </a:r>
                      <a:endParaRPr lang="en-US" sz="11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100" b="1" spc="200" kern="0" dirty="0">
                          <a:solidFill>
                            <a:schemeClr val="accent1"/>
                          </a:solidFill>
                        </a:rPr>
                        <a:t>Notes</a:t>
                      </a:r>
                      <a:endParaRPr lang="en-US" sz="11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658368">
                <a:tc>
                  <a:txBody>
                    <a:bodyPr/>
                    <a:lstStyle/>
                    <a:p>
                      <a:pPr indent="0" marL="0">
                        <a:buNone/>
                      </a:pPr>
                      <a:r>
                        <a:rPr lang="en-US" sz="1200" b="1" dirty="0">
                          <a:solidFill>
                            <a:schemeClr val="tx1"/>
                          </a:solidFill>
                        </a:rPr>
                        <a:t>Claude</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ANTHROPIC_API_KEY</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claude-opus-5-5 · official anthropic SDK · cached system prompt · refusal fallbacks</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777240">
                <a:tc>
                  <a:txBody>
                    <a:bodyPr/>
                    <a:lstStyle/>
                    <a:p>
                      <a:pPr indent="0" marL="0">
                        <a:buNone/>
                      </a:pPr>
                      <a:r>
                        <a:rPr lang="en-US" sz="1200" b="1" dirty="0">
                          <a:solidFill>
                            <a:schemeClr val="tx1"/>
                          </a:solidFill>
                        </a:rPr>
                        <a:t>Gemini</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LLM_PROVIDER=openai</a:t>
                      </a:r>
                      <a:endParaRPr lang="en-US" sz="1200" dirty="0"/>
                    </a:p>
                    <a:p>
                      <a:pPr indent="0" marL="0">
                        <a:buNone/>
                      </a:pPr>
                      <a:r>
                        <a:rPr lang="en-US" sz="1200" dirty="0">
                          <a:solidFill>
                            <a:schemeClr val="tx2"/>
                          </a:solidFill>
                        </a:rPr>
                        <a:t>OPENAI_BASE_URL=…/v1beta/openai/</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gemini-3.8-flash · tested live · free tier ≈ 20 requests / model / day</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658368">
                <a:tc>
                  <a:txBody>
                    <a:bodyPr/>
                    <a:lstStyle/>
                    <a:p>
                      <a:pPr indent="0" marL="0">
                        <a:buNone/>
                      </a:pPr>
                      <a:r>
                        <a:rPr lang="en-US" sz="1200" b="1" dirty="0">
                          <a:solidFill>
                            <a:schemeClr val="tx1"/>
                          </a:solidFill>
                        </a:rPr>
                        <a:t>Ollama (local)</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OPENAI_BASE_URL=http://localhost:11434/v1</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Any local model, free, offline</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r h="658368">
                <a:tc>
                  <a:txBody>
                    <a:bodyPr/>
                    <a:lstStyle/>
                    <a:p>
                      <a:pPr indent="0" marL="0">
                        <a:buNone/>
                      </a:pPr>
                      <a:r>
                        <a:rPr lang="en-US" sz="1200" b="1" dirty="0">
                          <a:solidFill>
                            <a:schemeClr val="tx1"/>
                          </a:solidFill>
                        </a:rPr>
                        <a:t>None</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200" dirty="0">
                          <a:solidFill>
                            <a:schemeClr val="tx2"/>
                          </a:solidFill>
                        </a:rPr>
                        <a:t>Template answers from the same retrieved context — the demo still works</a:t>
                      </a:r>
                      <a:endParaRPr lang="en-US" sz="1200" dirty="0"/>
                    </a:p>
                  </a:txBody>
                  <a:tcPr marL="91440" marR="91440" marT="91440" marB="9144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r>
            </a:tbl>
          </a:graphicData>
        </a:graphic>
      </p:graphicFrame>
      <p:sp>
        <p:nvSpPr>
          <p:cNvPr id="6" name="Shape 2"/>
          <p:cNvSpPr/>
          <p:nvPr/>
        </p:nvSpPr>
        <p:spPr>
          <a:xfrm>
            <a:off x="502920" y="4892040"/>
            <a:ext cx="11185855" cy="1234440"/>
          </a:xfrm>
          <a:prstGeom prst="roundRect">
            <a:avLst>
              <a:gd name="adj" fmla="val 7407"/>
            </a:avLst>
          </a:prstGeom>
          <a:solidFill>
            <a:schemeClr val="bg2"/>
          </a:solidFill>
          <a:ln w="12700">
            <a:solidFill>
              <a:schemeClr val="accent1"/>
            </a:solidFill>
            <a:prstDash val="solid"/>
          </a:ln>
        </p:spPr>
      </p:sp>
      <p:pic>
        <p:nvPicPr>
          <p:cNvPr id="7" name="Image 0" descr="preencoded.png">    </p:cNvPr>
          <p:cNvPicPr>
            <a:picLocks noChangeAspect="1"/>
          </p:cNvPicPr>
          <p:nvPr/>
        </p:nvPicPr>
        <p:blipFill>
          <a:blip r:embed="rId1"/>
          <a:stretch>
            <a:fillRect/>
          </a:stretch>
        </p:blipFill>
        <p:spPr>
          <a:xfrm>
            <a:off x="777240" y="5276088"/>
            <a:ext cx="457200" cy="457200"/>
          </a:xfrm>
          <a:prstGeom prst="rect">
            <a:avLst/>
          </a:prstGeom>
        </p:spPr>
      </p:pic>
      <p:sp>
        <p:nvSpPr>
          <p:cNvPr id="8" name="Text 3"/>
          <p:cNvSpPr txBox="1"/>
          <p:nvPr/>
        </p:nvSpPr>
        <p:spPr>
          <a:xfrm>
            <a:off x="1463040" y="5001768"/>
            <a:ext cx="9997135" cy="1005840"/>
          </a:xfrm>
          <a:prstGeom prst="rect">
            <a:avLst/>
          </a:prstGeom>
          <a:noFill/>
          <a:ln/>
        </p:spPr>
        <p:txBody>
          <a:bodyPr wrap="square" lIns="0" tIns="0" rIns="0" bIns="0" rtlCol="0" anchor="ctr"/>
          <a:lstStyle/>
          <a:p>
            <a:pPr indent="0" marL="0">
              <a:buNone/>
            </a:pPr>
            <a:r>
              <a:rPr lang="en-US" sz="1300" b="1" dirty="0">
                <a:solidFill>
                  <a:schemeClr val="tx1"/>
                </a:solidFill>
              </a:rPr>
              <a:t>What the model sees: </a:t>
            </a:r>
            <a:pPr indent="0" marL="0">
              <a:buNone/>
            </a:pPr>
            <a:r>
              <a:rPr lang="en-US" sz="1300" dirty="0">
                <a:solidFill>
                  <a:schemeClr val="tx2"/>
                </a:solidFill>
              </a:rPr>
              <a:t>a fixed system prompt, the last few turns, the student's facts and style, and a numbered CONTEXT block — each item with its source, trust and any override. It must cite [n] and use only that context. If it fails, the turn falls back to the template answer.</a:t>
            </a:r>
            <a:endParaRPr lang="en-US" sz="13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TESTING</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Tested end to end</a:t>
            </a:r>
            <a:endParaRPr lang="en-US" sz="3200" dirty="0"/>
          </a:p>
        </p:txBody>
      </p:sp>
      <p:sp>
        <p:nvSpPr>
          <p:cNvPr id="5" name="Shape 2"/>
          <p:cNvSpPr/>
          <p:nvPr/>
        </p:nvSpPr>
        <p:spPr>
          <a:xfrm>
            <a:off x="502920" y="1371600"/>
            <a:ext cx="5440680" cy="2240280"/>
          </a:xfrm>
          <a:prstGeom prst="roundRect">
            <a:avLst>
              <a:gd name="adj" fmla="val 4082"/>
            </a:avLst>
          </a:prstGeom>
          <a:solidFill>
            <a:schemeClr val="bg2"/>
          </a:solidFill>
          <a:ln w="12700">
            <a:solidFill>
              <a:schemeClr val="accent6"/>
            </a:solidFill>
            <a:prstDash val="solid"/>
          </a:ln>
        </p:spPr>
      </p:sp>
      <p:pic>
        <p:nvPicPr>
          <p:cNvPr id="6" name="Image 0" descr="preencoded.png">    </p:cNvPr>
          <p:cNvPicPr>
            <a:picLocks noChangeAspect="1"/>
          </p:cNvPicPr>
          <p:nvPr/>
        </p:nvPicPr>
        <p:blipFill>
          <a:blip r:embed="rId1"/>
          <a:stretch>
            <a:fillRect/>
          </a:stretch>
        </p:blipFill>
        <p:spPr>
          <a:xfrm>
            <a:off x="777240" y="1664208"/>
            <a:ext cx="411480" cy="411480"/>
          </a:xfrm>
          <a:prstGeom prst="rect">
            <a:avLst/>
          </a:prstGeom>
        </p:spPr>
      </p:pic>
      <p:sp>
        <p:nvSpPr>
          <p:cNvPr id="7" name="Text 3"/>
          <p:cNvSpPr txBox="1"/>
          <p:nvPr/>
        </p:nvSpPr>
        <p:spPr>
          <a:xfrm>
            <a:off x="777240" y="2148840"/>
            <a:ext cx="4892040" cy="777240"/>
          </a:xfrm>
          <a:prstGeom prst="rect">
            <a:avLst/>
          </a:prstGeom>
          <a:noFill/>
          <a:ln/>
        </p:spPr>
        <p:txBody>
          <a:bodyPr wrap="square" lIns="0" tIns="0" rIns="0" bIns="0" rtlCol="0" anchor="ctr"/>
          <a:lstStyle/>
          <a:p>
            <a:pPr indent="0" marL="0">
              <a:buNone/>
            </a:pPr>
            <a:r>
              <a:rPr lang="en-US" sz="4400" b="1" dirty="0">
                <a:solidFill>
                  <a:schemeClr val="accent1"/>
                </a:solidFill>
              </a:rPr>
              <a:t>44</a:t>
            </a:r>
            <a:endParaRPr lang="en-US" sz="4400" dirty="0"/>
          </a:p>
        </p:txBody>
      </p:sp>
      <p:sp>
        <p:nvSpPr>
          <p:cNvPr id="8" name="Text 4"/>
          <p:cNvSpPr txBox="1"/>
          <p:nvPr/>
        </p:nvSpPr>
        <p:spPr>
          <a:xfrm>
            <a:off x="777240" y="2926080"/>
            <a:ext cx="4892040" cy="640080"/>
          </a:xfrm>
          <a:prstGeom prst="rect">
            <a:avLst/>
          </a:prstGeom>
          <a:noFill/>
          <a:ln/>
        </p:spPr>
        <p:txBody>
          <a:bodyPr wrap="square" lIns="0" tIns="0" rIns="0" bIns="0" rtlCol="0" anchor="t"/>
          <a:lstStyle/>
          <a:p>
            <a:pPr indent="0" marL="0">
              <a:buNone/>
            </a:pPr>
            <a:r>
              <a:rPr lang="en-US" sz="1500" b="1" dirty="0">
                <a:solidFill>
                  <a:schemeClr val="tx1"/>
                </a:solidFill>
              </a:rPr>
              <a:t>backend tests pass</a:t>
            </a:r>
            <a:endParaRPr lang="en-US" sz="1500" dirty="0"/>
          </a:p>
          <a:p>
            <a:pPr indent="0" marL="0">
              <a:buNone/>
            </a:pPr>
            <a:r>
              <a:rPr lang="en-US" sz="1200" dirty="0">
                <a:solidFill>
                  <a:schemeClr val="tx2"/>
                </a:solidFill>
              </a:rPr>
              <a:t>pytest · memory manager, API routes, LLM path</a:t>
            </a:r>
            <a:endParaRPr lang="en-US" sz="1500" dirty="0"/>
          </a:p>
        </p:txBody>
      </p:sp>
      <p:sp>
        <p:nvSpPr>
          <p:cNvPr id="9" name="Shape 5"/>
          <p:cNvSpPr/>
          <p:nvPr/>
        </p:nvSpPr>
        <p:spPr>
          <a:xfrm>
            <a:off x="6245352" y="1371600"/>
            <a:ext cx="5440680" cy="2240280"/>
          </a:xfrm>
          <a:prstGeom prst="roundRect">
            <a:avLst>
              <a:gd name="adj" fmla="val 4082"/>
            </a:avLst>
          </a:prstGeom>
          <a:solidFill>
            <a:schemeClr val="bg2"/>
          </a:solidFill>
          <a:ln w="12700">
            <a:solidFill>
              <a:schemeClr val="accent6"/>
            </a:solidFill>
            <a:prstDash val="solid"/>
          </a:ln>
        </p:spPr>
      </p:sp>
      <p:pic>
        <p:nvPicPr>
          <p:cNvPr id="10" name="Image 1" descr="preencoded.png">    </p:cNvPr>
          <p:cNvPicPr>
            <a:picLocks noChangeAspect="1"/>
          </p:cNvPicPr>
          <p:nvPr/>
        </p:nvPicPr>
        <p:blipFill>
          <a:blip r:embed="rId2"/>
          <a:stretch>
            <a:fillRect/>
          </a:stretch>
        </p:blipFill>
        <p:spPr>
          <a:xfrm>
            <a:off x="6519672" y="1664208"/>
            <a:ext cx="411480" cy="411480"/>
          </a:xfrm>
          <a:prstGeom prst="rect">
            <a:avLst/>
          </a:prstGeom>
        </p:spPr>
      </p:pic>
      <p:sp>
        <p:nvSpPr>
          <p:cNvPr id="11" name="Text 6"/>
          <p:cNvSpPr txBox="1"/>
          <p:nvPr/>
        </p:nvSpPr>
        <p:spPr>
          <a:xfrm>
            <a:off x="6519672" y="2148840"/>
            <a:ext cx="4892040" cy="777240"/>
          </a:xfrm>
          <a:prstGeom prst="rect">
            <a:avLst/>
          </a:prstGeom>
          <a:noFill/>
          <a:ln/>
        </p:spPr>
        <p:txBody>
          <a:bodyPr wrap="square" lIns="0" tIns="0" rIns="0" bIns="0" rtlCol="0" anchor="ctr"/>
          <a:lstStyle/>
          <a:p>
            <a:pPr indent="0" marL="0">
              <a:buNone/>
            </a:pPr>
            <a:r>
              <a:rPr lang="en-US" sz="4400" b="1" dirty="0">
                <a:solidFill>
                  <a:schemeClr val="accent2"/>
                </a:solidFill>
              </a:rPr>
              <a:t>1 = 1</a:t>
            </a:r>
            <a:endParaRPr lang="en-US" sz="4400" dirty="0"/>
          </a:p>
        </p:txBody>
      </p:sp>
      <p:sp>
        <p:nvSpPr>
          <p:cNvPr id="12" name="Text 7"/>
          <p:cNvSpPr txBox="1"/>
          <p:nvPr/>
        </p:nvSpPr>
        <p:spPr>
          <a:xfrm>
            <a:off x="6519672" y="2926080"/>
            <a:ext cx="4892040" cy="640080"/>
          </a:xfrm>
          <a:prstGeom prst="rect">
            <a:avLst/>
          </a:prstGeom>
          <a:noFill/>
          <a:ln/>
        </p:spPr>
        <p:txBody>
          <a:bodyPr wrap="square" lIns="0" tIns="0" rIns="0" bIns="0" rtlCol="0" anchor="t"/>
          <a:lstStyle/>
          <a:p>
            <a:pPr indent="0" marL="0">
              <a:buNone/>
            </a:pPr>
            <a:r>
              <a:rPr lang="en-US" sz="1500" b="1" dirty="0">
                <a:solidFill>
                  <a:schemeClr val="tx1"/>
                </a:solidFill>
              </a:rPr>
              <a:t>parity test</a:t>
            </a:r>
            <a:endParaRPr lang="en-US" sz="1500" dirty="0"/>
          </a:p>
          <a:p>
            <a:pPr indent="0" marL="0">
              <a:buNone/>
            </a:pPr>
            <a:r>
              <a:rPr lang="en-US" sz="1200" dirty="0">
                <a:solidFill>
                  <a:schemeClr val="tx2"/>
                </a:solidFill>
              </a:rPr>
              <a:t>Python and TypeScript engines agree on a 14-message script</a:t>
            </a:r>
            <a:endParaRPr lang="en-US" sz="1500" dirty="0"/>
          </a:p>
        </p:txBody>
      </p:sp>
      <p:sp>
        <p:nvSpPr>
          <p:cNvPr id="13" name="Shape 8"/>
          <p:cNvSpPr/>
          <p:nvPr/>
        </p:nvSpPr>
        <p:spPr>
          <a:xfrm>
            <a:off x="502920" y="3840480"/>
            <a:ext cx="5440680" cy="2240280"/>
          </a:xfrm>
          <a:prstGeom prst="roundRect">
            <a:avLst>
              <a:gd name="adj" fmla="val 4082"/>
            </a:avLst>
          </a:prstGeom>
          <a:solidFill>
            <a:schemeClr val="bg2"/>
          </a:solidFill>
          <a:ln w="12700">
            <a:solidFill>
              <a:schemeClr val="accent6"/>
            </a:solidFill>
            <a:prstDash val="solid"/>
          </a:ln>
        </p:spPr>
      </p:sp>
      <p:pic>
        <p:nvPicPr>
          <p:cNvPr id="14" name="Image 2" descr="preencoded.png">    </p:cNvPr>
          <p:cNvPicPr>
            <a:picLocks noChangeAspect="1"/>
          </p:cNvPicPr>
          <p:nvPr/>
        </p:nvPicPr>
        <p:blipFill>
          <a:blip r:embed="rId3"/>
          <a:stretch>
            <a:fillRect/>
          </a:stretch>
        </p:blipFill>
        <p:spPr>
          <a:xfrm>
            <a:off x="777240" y="4133088"/>
            <a:ext cx="411480" cy="411480"/>
          </a:xfrm>
          <a:prstGeom prst="rect">
            <a:avLst/>
          </a:prstGeom>
        </p:spPr>
      </p:pic>
      <p:sp>
        <p:nvSpPr>
          <p:cNvPr id="15" name="Text 9"/>
          <p:cNvSpPr txBox="1"/>
          <p:nvPr/>
        </p:nvSpPr>
        <p:spPr>
          <a:xfrm>
            <a:off x="777240" y="4617720"/>
            <a:ext cx="4892040" cy="777240"/>
          </a:xfrm>
          <a:prstGeom prst="rect">
            <a:avLst/>
          </a:prstGeom>
          <a:noFill/>
          <a:ln/>
        </p:spPr>
        <p:txBody>
          <a:bodyPr wrap="square" lIns="0" tIns="0" rIns="0" bIns="0" rtlCol="0" anchor="ctr"/>
          <a:lstStyle/>
          <a:p>
            <a:pPr indent="0" marL="0">
              <a:buNone/>
            </a:pPr>
            <a:r>
              <a:rPr lang="en-US" sz="4400" b="1" dirty="0">
                <a:solidFill>
                  <a:schemeClr val="accent3"/>
                </a:solidFill>
              </a:rPr>
              <a:t>25 / 25</a:t>
            </a:r>
            <a:endParaRPr lang="en-US" sz="4400" dirty="0"/>
          </a:p>
        </p:txBody>
      </p:sp>
      <p:sp>
        <p:nvSpPr>
          <p:cNvPr id="16" name="Text 10"/>
          <p:cNvSpPr txBox="1"/>
          <p:nvPr/>
        </p:nvSpPr>
        <p:spPr>
          <a:xfrm>
            <a:off x="777240" y="5394960"/>
            <a:ext cx="4892040" cy="640080"/>
          </a:xfrm>
          <a:prstGeom prst="rect">
            <a:avLst/>
          </a:prstGeom>
          <a:noFill/>
          <a:ln/>
        </p:spPr>
        <p:txBody>
          <a:bodyPr wrap="square" lIns="0" tIns="0" rIns="0" bIns="0" rtlCol="0" anchor="t"/>
          <a:lstStyle/>
          <a:p>
            <a:pPr indent="0" marL="0">
              <a:buNone/>
            </a:pPr>
            <a:r>
              <a:rPr lang="en-US" sz="1500" b="1" dirty="0">
                <a:solidFill>
                  <a:schemeClr val="tx1"/>
                </a:solidFill>
              </a:rPr>
              <a:t>end-to-end checks</a:t>
            </a:r>
            <a:endParaRPr lang="en-US" sz="1500" dirty="0"/>
          </a:p>
          <a:p>
            <a:pPr indent="0" marL="0">
              <a:buNone/>
            </a:pPr>
            <a:r>
              <a:rPr lang="en-US" sz="1200" dirty="0">
                <a:solidFill>
                  <a:schemeClr val="tx2"/>
                </a:solidFill>
              </a:rPr>
              <a:t>Headless browser runs the 9-step demo · 0 console errors</a:t>
            </a:r>
            <a:endParaRPr lang="en-US" sz="1500" dirty="0"/>
          </a:p>
        </p:txBody>
      </p:sp>
      <p:sp>
        <p:nvSpPr>
          <p:cNvPr id="17" name="Shape 11"/>
          <p:cNvSpPr/>
          <p:nvPr/>
        </p:nvSpPr>
        <p:spPr>
          <a:xfrm>
            <a:off x="6245352" y="3840480"/>
            <a:ext cx="5440680" cy="2240280"/>
          </a:xfrm>
          <a:prstGeom prst="roundRect">
            <a:avLst>
              <a:gd name="adj" fmla="val 4082"/>
            </a:avLst>
          </a:prstGeom>
          <a:solidFill>
            <a:schemeClr val="bg2"/>
          </a:solidFill>
          <a:ln w="12700">
            <a:solidFill>
              <a:schemeClr val="accent6"/>
            </a:solidFill>
            <a:prstDash val="solid"/>
          </a:ln>
        </p:spPr>
      </p:sp>
      <p:pic>
        <p:nvPicPr>
          <p:cNvPr id="18" name="Image 3" descr="preencoded.png">    </p:cNvPr>
          <p:cNvPicPr>
            <a:picLocks noChangeAspect="1"/>
          </p:cNvPicPr>
          <p:nvPr/>
        </p:nvPicPr>
        <p:blipFill>
          <a:blip r:embed="rId4"/>
          <a:stretch>
            <a:fillRect/>
          </a:stretch>
        </p:blipFill>
        <p:spPr>
          <a:xfrm>
            <a:off x="6519672" y="4133088"/>
            <a:ext cx="411480" cy="411480"/>
          </a:xfrm>
          <a:prstGeom prst="rect">
            <a:avLst/>
          </a:prstGeom>
        </p:spPr>
      </p:pic>
      <p:sp>
        <p:nvSpPr>
          <p:cNvPr id="19" name="Text 12"/>
          <p:cNvSpPr txBox="1"/>
          <p:nvPr/>
        </p:nvSpPr>
        <p:spPr>
          <a:xfrm>
            <a:off x="6519672" y="4617720"/>
            <a:ext cx="4892040" cy="777240"/>
          </a:xfrm>
          <a:prstGeom prst="rect">
            <a:avLst/>
          </a:prstGeom>
          <a:noFill/>
          <a:ln/>
        </p:spPr>
        <p:txBody>
          <a:bodyPr wrap="square" lIns="0" tIns="0" rIns="0" bIns="0" rtlCol="0" anchor="ctr"/>
          <a:lstStyle/>
          <a:p>
            <a:pPr indent="0" marL="0">
              <a:buNone/>
            </a:pPr>
            <a:r>
              <a:rPr lang="en-US" sz="4400" b="1" dirty="0">
                <a:solidFill>
                  <a:schemeClr val="accent4"/>
                </a:solidFill>
              </a:rPr>
              <a:t>40 / 40</a:t>
            </a:r>
            <a:endParaRPr lang="en-US" sz="4400" dirty="0"/>
          </a:p>
        </p:txBody>
      </p:sp>
      <p:sp>
        <p:nvSpPr>
          <p:cNvPr id="20" name="Text 13"/>
          <p:cNvSpPr txBox="1"/>
          <p:nvPr/>
        </p:nvSpPr>
        <p:spPr>
          <a:xfrm>
            <a:off x="6519672" y="5394960"/>
            <a:ext cx="4892040" cy="640080"/>
          </a:xfrm>
          <a:prstGeom prst="rect">
            <a:avLst/>
          </a:prstGeom>
          <a:noFill/>
          <a:ln/>
        </p:spPr>
        <p:txBody>
          <a:bodyPr wrap="square" lIns="0" tIns="0" rIns="0" bIns="0" rtlCol="0" anchor="t"/>
          <a:lstStyle/>
          <a:p>
            <a:pPr indent="0" marL="0">
              <a:buNone/>
            </a:pPr>
            <a:r>
              <a:rPr lang="en-US" sz="1500" b="1" dirty="0">
                <a:solidFill>
                  <a:schemeClr val="tx1"/>
                </a:solidFill>
              </a:rPr>
              <a:t>held-out sentences</a:t>
            </a:r>
            <a:endParaRPr lang="en-US" sz="1500" dirty="0"/>
          </a:p>
          <a:p>
            <a:pPr indent="0" marL="0">
              <a:buNone/>
            </a:pPr>
            <a:r>
              <a:rPr lang="en-US" sz="1200" dirty="0">
                <a:solidFill>
                  <a:schemeClr val="tx2"/>
                </a:solidFill>
              </a:rPr>
              <a:t>Trained classifier (CV macro-F1 0.88)</a:t>
            </a:r>
            <a:endParaRPr lang="en-US" sz="15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9144000" cy="274320"/>
          </a:xfrm>
          <a:prstGeom prst="rect">
            <a:avLst/>
          </a:prstGeom>
          <a:noFill/>
          <a:ln/>
        </p:spPr>
        <p:txBody>
          <a:bodyPr wrap="square" lIns="0" tIns="0" rIns="0" bIns="0" rtlCol="0"/>
          <a:lstStyle/>
          <a:p>
            <a:pPr indent="0" marL="0">
              <a:buNone/>
            </a:pPr>
            <a:r>
              <a:rPr lang="en-US" sz="1100" b="1" spc="300" kern="0" dirty="0">
                <a:solidFill>
                  <a:schemeClr val="accent1"/>
                </a:solidFill>
              </a:rPr>
              <a:t>HONEST LIMITS</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algn="l" indent="0" marL="0">
              <a:buNone/>
            </a:pPr>
            <a:r>
              <a:rPr lang="en-US" sz="3200" b="1" dirty="0">
                <a:solidFill>
                  <a:schemeClr val="tx1"/>
                </a:solidFill>
              </a:rPr>
              <a:t>Limitations and next steps</a:t>
            </a:r>
            <a:endParaRPr lang="en-US" sz="3200" dirty="0"/>
          </a:p>
        </p:txBody>
      </p:sp>
      <p:sp>
        <p:nvSpPr>
          <p:cNvPr id="5" name="Shape 2"/>
          <p:cNvSpPr/>
          <p:nvPr/>
        </p:nvSpPr>
        <p:spPr>
          <a:xfrm>
            <a:off x="502920" y="1371600"/>
            <a:ext cx="5440680" cy="3931920"/>
          </a:xfrm>
          <a:prstGeom prst="roundRect">
            <a:avLst>
              <a:gd name="adj" fmla="val 2326"/>
            </a:avLst>
          </a:prstGeom>
          <a:solidFill>
            <a:schemeClr val="bg2"/>
          </a:solidFill>
          <a:ln w="15875">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777240" y="1645920"/>
            <a:ext cx="411480" cy="411480"/>
          </a:xfrm>
          <a:prstGeom prst="rect">
            <a:avLst/>
          </a:prstGeom>
        </p:spPr>
      </p:pic>
      <p:sp>
        <p:nvSpPr>
          <p:cNvPr id="7" name="Text 3"/>
          <p:cNvSpPr txBox="1"/>
          <p:nvPr/>
        </p:nvSpPr>
        <p:spPr>
          <a:xfrm>
            <a:off x="1325880" y="1627632"/>
            <a:ext cx="4389120" cy="457200"/>
          </a:xfrm>
          <a:prstGeom prst="rect">
            <a:avLst/>
          </a:prstGeom>
          <a:noFill/>
          <a:ln/>
        </p:spPr>
        <p:txBody>
          <a:bodyPr wrap="square" lIns="0" tIns="0" rIns="0" bIns="0" rtlCol="0" anchor="ctr"/>
          <a:lstStyle/>
          <a:p>
            <a:pPr indent="0" marL="0">
              <a:buNone/>
            </a:pPr>
            <a:r>
              <a:rPr lang="en-US" sz="1800" b="1" dirty="0">
                <a:solidFill>
                  <a:schemeClr val="tx1"/>
                </a:solidFill>
              </a:rPr>
              <a:t>Limitations</a:t>
            </a:r>
            <a:endParaRPr lang="en-US" sz="1800" dirty="0"/>
          </a:p>
        </p:txBody>
      </p:sp>
      <p:sp>
        <p:nvSpPr>
          <p:cNvPr id="8" name="Text 4"/>
          <p:cNvSpPr txBox="1"/>
          <p:nvPr/>
        </p:nvSpPr>
        <p:spPr>
          <a:xfrm>
            <a:off x="777240" y="2286000"/>
            <a:ext cx="4892040" cy="28346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2"/>
                </a:solidFill>
              </a:rPr>
              <a:t>Classifier tested on only 40 held-out sentences; training data is synthetic</a:t>
            </a:r>
            <a:endParaRPr lang="en-US" sz="1600" dirty="0"/>
          </a:p>
          <a:p>
            <a:pPr marL="342900" indent="-342900">
              <a:spcAft>
                <a:spcPts val="1400"/>
              </a:spcAft>
              <a:buSzPct val="100000"/>
              <a:buChar char="•"/>
            </a:pPr>
            <a:r>
              <a:rPr lang="en-US" sz="1600" dirty="0">
                <a:solidFill>
                  <a:schemeClr val="tx2"/>
                </a:solidFill>
              </a:rPr>
              <a:t>One user, no login or per-user memory</a:t>
            </a:r>
            <a:endParaRPr lang="en-US" sz="1600" dirty="0"/>
          </a:p>
          <a:p>
            <a:pPr marL="342900" indent="-342900">
              <a:spcAft>
                <a:spcPts val="1400"/>
              </a:spcAft>
              <a:buSzPct val="100000"/>
              <a:buChar char="•"/>
            </a:pPr>
            <a:r>
              <a:rPr lang="en-US" sz="1600" dirty="0">
                <a:solidFill>
                  <a:schemeClr val="tx2"/>
                </a:solidFill>
              </a:rPr>
              <a:t>Free Gemini tier: about 20 live answers per model per day</a:t>
            </a:r>
            <a:endParaRPr lang="en-US" sz="1600" dirty="0"/>
          </a:p>
          <a:p>
            <a:pPr marL="342900" indent="-342900">
              <a:spcAft>
                <a:spcPts val="1400"/>
              </a:spcAft>
              <a:buSzPct val="100000"/>
              <a:buChar char="•"/>
            </a:pPr>
            <a:r>
              <a:rPr lang="en-US" sz="1600" dirty="0">
                <a:solidFill>
                  <a:schemeClr val="tx2"/>
                </a:solidFill>
              </a:rPr>
              <a:t>Trust only changes through feedback — no automatic fact-checking</a:t>
            </a:r>
            <a:endParaRPr lang="en-US" sz="1600" dirty="0"/>
          </a:p>
        </p:txBody>
      </p:sp>
      <p:sp>
        <p:nvSpPr>
          <p:cNvPr id="9" name="Shape 5"/>
          <p:cNvSpPr/>
          <p:nvPr/>
        </p:nvSpPr>
        <p:spPr>
          <a:xfrm>
            <a:off x="6245352" y="1371600"/>
            <a:ext cx="5440680" cy="3931920"/>
          </a:xfrm>
          <a:prstGeom prst="roundRect">
            <a:avLst>
              <a:gd name="adj" fmla="val 2326"/>
            </a:avLst>
          </a:prstGeom>
          <a:solidFill>
            <a:schemeClr val="bg2"/>
          </a:solidFill>
          <a:ln w="15875">
            <a:solidFill>
              <a:schemeClr val="accent4"/>
            </a:solidFill>
            <a:prstDash val="solid"/>
          </a:ln>
        </p:spPr>
      </p:sp>
      <p:pic>
        <p:nvPicPr>
          <p:cNvPr id="10" name="Image 1" descr="preencoded.png">    </p:cNvPr>
          <p:cNvPicPr>
            <a:picLocks noChangeAspect="1"/>
          </p:cNvPicPr>
          <p:nvPr/>
        </p:nvPicPr>
        <p:blipFill>
          <a:blip r:embed="rId2"/>
          <a:stretch>
            <a:fillRect/>
          </a:stretch>
        </p:blipFill>
        <p:spPr>
          <a:xfrm>
            <a:off x="6519672" y="1645920"/>
            <a:ext cx="411480" cy="411480"/>
          </a:xfrm>
          <a:prstGeom prst="rect">
            <a:avLst/>
          </a:prstGeom>
        </p:spPr>
      </p:pic>
      <p:sp>
        <p:nvSpPr>
          <p:cNvPr id="11" name="Text 6"/>
          <p:cNvSpPr txBox="1"/>
          <p:nvPr/>
        </p:nvSpPr>
        <p:spPr>
          <a:xfrm>
            <a:off x="7068312" y="1627632"/>
            <a:ext cx="4389120" cy="457200"/>
          </a:xfrm>
          <a:prstGeom prst="rect">
            <a:avLst/>
          </a:prstGeom>
          <a:noFill/>
          <a:ln/>
        </p:spPr>
        <p:txBody>
          <a:bodyPr wrap="square" lIns="0" tIns="0" rIns="0" bIns="0" rtlCol="0" anchor="ctr"/>
          <a:lstStyle/>
          <a:p>
            <a:pPr indent="0" marL="0">
              <a:buNone/>
            </a:pPr>
            <a:r>
              <a:rPr lang="en-US" sz="1800" b="1" dirty="0">
                <a:solidFill>
                  <a:schemeClr val="tx1"/>
                </a:solidFill>
              </a:rPr>
              <a:t>Next steps</a:t>
            </a:r>
            <a:endParaRPr lang="en-US" sz="1800" dirty="0"/>
          </a:p>
        </p:txBody>
      </p:sp>
      <p:sp>
        <p:nvSpPr>
          <p:cNvPr id="12" name="Text 7"/>
          <p:cNvSpPr txBox="1"/>
          <p:nvPr/>
        </p:nvSpPr>
        <p:spPr>
          <a:xfrm>
            <a:off x="6519672" y="2286000"/>
            <a:ext cx="4892040" cy="28346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2"/>
                </a:solidFill>
              </a:rPr>
              <a:t>Evaluate on real student messages</a:t>
            </a:r>
            <a:endParaRPr lang="en-US" sz="1600" dirty="0"/>
          </a:p>
          <a:p>
            <a:pPr marL="342900" indent="-342900">
              <a:spcAft>
                <a:spcPts val="1400"/>
              </a:spcAft>
              <a:buSzPct val="100000"/>
              <a:buChar char="•"/>
            </a:pPr>
            <a:r>
              <a:rPr lang="en-US" sz="1600" dirty="0">
                <a:solidFill>
                  <a:schemeClr val="tx2"/>
                </a:solidFill>
              </a:rPr>
              <a:t>Multiple users with authentication and private memory</a:t>
            </a:r>
            <a:endParaRPr lang="en-US" sz="1600" dirty="0"/>
          </a:p>
          <a:p>
            <a:pPr marL="342900" indent="-342900">
              <a:spcAft>
                <a:spcPts val="1400"/>
              </a:spcAft>
              <a:buSzPct val="100000"/>
              <a:buChar char="•"/>
            </a:pPr>
            <a:r>
              <a:rPr lang="en-US" sz="1600" dirty="0">
                <a:solidFill>
                  <a:schemeClr val="tx2"/>
                </a:solidFill>
              </a:rPr>
              <a:t>Combine the trained and LLM classifiers (voting)</a:t>
            </a:r>
            <a:endParaRPr lang="en-US" sz="1600" dirty="0"/>
          </a:p>
          <a:p>
            <a:pPr marL="342900" indent="-342900">
              <a:spcAft>
                <a:spcPts val="1400"/>
              </a:spcAft>
              <a:buSzPct val="100000"/>
              <a:buChar char="•"/>
            </a:pPr>
            <a:r>
              <a:rPr lang="en-US" sz="1600" dirty="0">
                <a:solidFill>
                  <a:schemeClr val="tx2"/>
                </a:solidFill>
              </a:rPr>
              <a:t>Measure answer quality end to end, not just ranking</a:t>
            </a:r>
            <a:endParaRPr lang="en-US" sz="1600" dirty="0"/>
          </a:p>
        </p:txBody>
      </p:sp>
      <p:sp>
        <p:nvSpPr>
          <p:cNvPr id="25" name="Slide Number Placeholder 0"/>
          <p:cNvSpPr>
            <a:spLocks noGrp="1"/>
          </p:cNvSpPr>
          <p:nvPr>
            <p:ph type="sldNum" sz="quarter" idx="4294967295"/>
          </p:nvPr>
        </p:nvSpPr>
        <p:spPr>
          <a:xfrm>
            <a:off x="10957255" y="6446520"/>
            <a:ext cx="73152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02920" y="1143000"/>
            <a:ext cx="5669280" cy="320040"/>
          </a:xfrm>
          <a:prstGeom prst="rect">
            <a:avLst/>
          </a:prstGeom>
          <a:noFill/>
          <a:ln/>
        </p:spPr>
        <p:txBody>
          <a:bodyPr wrap="square" lIns="0" tIns="0" rIns="0" bIns="0" rtlCol="0"/>
          <a:lstStyle/>
          <a:p>
            <a:pPr indent="0" marL="0">
              <a:buNone/>
            </a:pPr>
            <a:r>
              <a:rPr lang="en-US" sz="1200" b="1" spc="300" kern="0" dirty="0">
                <a:solidFill>
                  <a:schemeClr val="accent1"/>
                </a:solidFill>
              </a:rPr>
              <a:t>THANK YOU</a:t>
            </a:r>
            <a:endParaRPr lang="en-US" sz="1200" dirty="0"/>
          </a:p>
        </p:txBody>
      </p:sp>
      <p:sp>
        <p:nvSpPr>
          <p:cNvPr id="3" name="Text 0"/>
          <p:cNvSpPr/>
          <p:nvPr>
            <p:ph idx="101" type="title" hasCustomPrompt="1"/>
          </p:nvPr>
        </p:nvSpPr>
        <p:spPr>
          <a:xfrm>
            <a:off x="502920" y="1508760"/>
            <a:ext cx="5760720" cy="1554480"/>
          </a:xfrm>
          <a:prstGeom prst="rect">
            <a:avLst/>
          </a:prstGeom>
          <a:noFill/>
          <a:ln/>
        </p:spPr>
        <p:txBody>
          <a:bodyPr wrap="square" lIns="0" tIns="0" rIns="0" bIns="0" rtlCol="0" anchor="b"/>
          <a:lstStyle/>
          <a:p>
            <a:pPr algn="l" indent="0" marL="0">
              <a:buNone/>
            </a:pPr>
            <a:r>
              <a:rPr lang="en-US" sz="4800" b="1" dirty="0">
                <a:solidFill>
                  <a:schemeClr val="tx1"/>
                </a:solidFill>
              </a:rPr>
              <a:t>Correct it once.</a:t>
            </a:r>
            <a:endParaRPr lang="en-US" sz="4800" dirty="0"/>
          </a:p>
          <a:p>
            <a:pPr algn="l" indent="0" marL="0">
              <a:buNone/>
            </a:pPr>
            <a:r>
              <a:rPr lang="en-US" sz="4800" b="1" dirty="0">
                <a:solidFill>
                  <a:schemeClr val="tx1"/>
                </a:solidFill>
              </a:rPr>
              <a:t>It remembers.</a:t>
            </a:r>
            <a:endParaRPr lang="en-US" sz="4800" dirty="0"/>
          </a:p>
        </p:txBody>
      </p:sp>
      <p:sp>
        <p:nvSpPr>
          <p:cNvPr id="4" name="Text 0"/>
          <p:cNvSpPr/>
          <p:nvPr>
            <p:ph idx="102" type="body" hasCustomPrompt="1"/>
          </p:nvPr>
        </p:nvSpPr>
        <p:spPr>
          <a:xfrm>
            <a:off x="502920" y="3200400"/>
            <a:ext cx="5577840" cy="2926080"/>
          </a:xfrm>
          <a:prstGeom prst="rect">
            <a:avLst/>
          </a:prstGeom>
          <a:noFill/>
          <a:ln/>
        </p:spPr>
        <p:txBody>
          <a:bodyPr wrap="square" lIns="0" tIns="0" rIns="0" bIns="0" rtlCol="0" anchor="t"/>
          <a:lstStyle/>
          <a:p>
            <a:pPr marL="342900" indent="-342900">
              <a:buSzPct val="100000"/>
              <a:buChar char="•"/>
            </a:pPr>
            <a:r>
              <a:rPr lang="en-US" sz="1800" dirty="0">
                <a:solidFill>
                  <a:schemeClr val="tx1"/>
                </a:solidFill>
              </a:rPr>
              <a:t>Corrections replace old facts — they don't pile up.</a:t>
            </a:r>
            <a:endParaRPr lang="en-US" sz="1800" dirty="0"/>
          </a:p>
          <a:p>
            <a:pPr marL="342900" indent="-342900">
              <a:buSzPct val="100000"/>
              <a:buChar char="•"/>
            </a:pPr>
            <a:r>
              <a:rPr lang="en-US" sz="1800" dirty="0">
                <a:solidFill>
                  <a:schemeClr val="tx1"/>
                </a:solidFill>
              </a:rPr>
              <a:t>Retrieval ranks on four signals the system learns from feedback.</a:t>
            </a:r>
            <a:endParaRPr lang="en-US" sz="1800" dirty="0"/>
          </a:p>
          <a:p>
            <a:pPr marL="342900" indent="-342900">
              <a:buSzPct val="100000"/>
              <a:buChar char="•"/>
            </a:pPr>
            <a:r>
              <a:rPr lang="en-US" sz="1800" dirty="0">
                <a:solidFill>
                  <a:schemeClr val="tx1"/>
                </a:solidFill>
              </a:rPr>
              <a:t>The language model never changes — everything around it learns.</a:t>
            </a:r>
            <a:endParaRPr lang="en-US" sz="1800" dirty="0"/>
          </a:p>
          <a:p>
            <a:pPr indent="0" marL="0">
              <a:buNone/>
            </a:pPr>
            <a:r>
              <a:rPr lang="en-US" sz="1000" dirty="0">
                <a:solidFill>
                  <a:schemeClr val="tx2"/>
                </a:solidFill>
              </a:rPr>
              <a:t> </a:t>
            </a:r>
            <a:endParaRPr lang="en-US" sz="1800" dirty="0"/>
          </a:p>
          <a:p>
            <a:pPr indent="0" marL="0">
              <a:buNone/>
            </a:pPr>
            <a:r>
              <a:rPr lang="en-US" sz="2400" b="1" dirty="0">
                <a:solidFill>
                  <a:schemeClr val="accent1"/>
                </a:solidFill>
              </a:rPr>
              <a:t>Questions?</a:t>
            </a:r>
            <a:endParaRPr lang="en-US" sz="1800" dirty="0"/>
          </a:p>
        </p:txBody>
      </p:sp>
      <p:sp>
        <p:nvSpPr>
          <p:cNvPr id="5" name="frame-364"/>
          <p:cNvSpPr/>
          <p:nvPr/>
        </p:nvSpPr>
        <p:spPr>
          <a:xfrm>
            <a:off x="6492240" y="2000462"/>
            <a:ext cx="5257800" cy="2857075"/>
          </a:xfrm>
          <a:prstGeom prst="roundRect">
            <a:avLst>
              <a:gd name="adj" fmla="val 2240"/>
            </a:avLst>
          </a:prstGeom>
          <a:solidFill>
            <a:schemeClr val="bg2"/>
          </a:solidFill>
          <a:ln w="12700">
            <a:solidFill>
              <a:schemeClr val="accent6"/>
            </a:solidFill>
            <a:prstDash val="solid"/>
          </a:ln>
          <a:effectLst>
            <a:outerShdw sx="100000" sy="100000" kx="0" ky="0" algn="bl" rotWithShape="0" blurRad="127000" dist="38100" dir="5400000">
              <a:srgbClr val="000000">
                <a:alpha val="35000"/>
              </a:srgbClr>
            </a:outerShdw>
          </a:effectLst>
        </p:spPr>
      </p:sp>
      <p:pic>
        <p:nvPicPr>
          <p:cNvPr id="6" name="shot-365" descr="The knowledge terrain">    </p:cNvPr>
          <p:cNvPicPr>
            <a:picLocks noChangeAspect="1"/>
          </p:cNvPicPr>
          <p:nvPr/>
        </p:nvPicPr>
        <p:blipFill>
          <a:blip r:embed="rId1"/>
          <a:stretch>
            <a:fillRect/>
          </a:stretch>
        </p:blipFill>
        <p:spPr>
          <a:xfrm>
            <a:off x="6537960" y="2046182"/>
            <a:ext cx="5166360" cy="2765635"/>
          </a:xfrm>
          <a:prstGeom prst="rect">
            <a:avLst/>
          </a:prstGeom>
        </p:spPr>
      </p:pic>
    </p:spTree>
  </p:cSld>
  <p:clrMapOvr>
    <a:masterClrMapping/>
  </p:clrMapOvr>
</p:sld>
</file>

<file path=ppt/theme/theme1.xml><?xml version="1.0" encoding="utf-8"?>
<a:theme xmlns:a="http://schemas.openxmlformats.org/drawingml/2006/main" name="Adaptive RAG — Sounding">
  <a:themeElements>
    <a:clrScheme name="Adaptive RAG — Sounding">
      <a:dk1>
        <a:srgbClr val="E6F2EE"/>
      </a:dk1>
      <a:lt1>
        <a:srgbClr val="0A2327"/>
      </a:lt1>
      <a:dk2>
        <a:srgbClr val="86A9A4"/>
      </a:dk2>
      <a:lt2>
        <a:srgbClr val="0F2E33"/>
      </a:lt2>
      <a:accent1>
        <a:srgbClr val="FF6B93"/>
      </a:accent1>
      <a:accent2>
        <a:srgbClr val="FFC14D"/>
      </a:accent2>
      <a:accent3>
        <a:srgbClr val="8FCBFF"/>
      </a:accent3>
      <a:accent4>
        <a:srgbClr val="2FA284"/>
      </a:accent4>
      <a:accent5>
        <a:srgbClr val="3A80C8"/>
      </a:accent5>
      <a:accent6>
        <a:srgbClr val="1F4B51"/>
      </a:accent6>
      <a:hlink>
        <a:srgbClr val="8FCBFF"/>
      </a:hlink>
      <a:folHlink>
        <a:srgbClr val="86A9A4"/>
      </a:folHlink>
    </a:clrScheme>
    <a:fontScheme name="Adaptive RAG — Sound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RAG — feature tour</dc:title>
  <dc:subject>Every feature of the Adaptive RAG website, with screenshots</dc:subject>
  <dc:creator>Adaptive RAG project</dc:creator>
  <cp:lastModifiedBy>Adaptive RAG project</cp:lastModifiedBy>
  <cp:revision>1</cp:revision>
  <dcterms:created xsi:type="dcterms:W3CDTF">2026-10-12T10:08:31Z</dcterms:created>
  <dcterms:modified xsi:type="dcterms:W3CDTF">2026-10-12T10:08:31Z</dcterms:modified>
</cp:coreProperties>
</file>